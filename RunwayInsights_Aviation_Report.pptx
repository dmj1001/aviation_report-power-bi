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0" y="73152"/>
            <a:ext cx="5760720" cy="4818888"/>
          </a:xfrm>
          <a:prstGeom prst="rect">
            <a:avLst/>
          </a:prstGeom>
          <a:solidFill>
            <a:srgbClr val="0A1628"/>
          </a:solidFill>
          <a:ln w="12700">
            <a:solidFill>
              <a:srgbClr val="0A1628"/>
            </a:solidFill>
            <a:prstDash val="solid"/>
          </a:ln>
        </p:spPr>
      </p:sp>
      <p:sp>
        <p:nvSpPr>
          <p:cNvPr id="4" name="Text 2"/>
          <p:cNvSpPr/>
          <p:nvPr/>
        </p:nvSpPr>
        <p:spPr>
          <a:xfrm>
            <a:off x="457200" y="457200"/>
            <a:ext cx="5120640" cy="502920"/>
          </a:xfrm>
          <a:prstGeom prst="rect">
            <a:avLst/>
          </a:prstGeom>
          <a:noFill/>
          <a:ln/>
        </p:spPr>
        <p:txBody>
          <a:bodyPr wrap="square" rtlCol="0" anchor="ctr"/>
          <a:lstStyle/>
          <a:p>
            <a:pPr indent="0" marL="0">
              <a:buNone/>
            </a:pPr>
            <a:r>
              <a:rPr lang="en-US" sz="1300" b="1" spc="300" kern="0" dirty="0">
                <a:solidFill>
                  <a:srgbClr val="00C9A7"/>
                </a:solidFill>
                <a:latin typeface="Calibri" pitchFamily="34" charset="0"/>
                <a:ea typeface="Calibri" pitchFamily="34" charset="-122"/>
                <a:cs typeface="Calibri" pitchFamily="34" charset="-120"/>
              </a:rPr>
              <a:t>RunwayInsights</a:t>
            </a:r>
            <a:endParaRPr lang="en-US" sz="1300" dirty="0"/>
          </a:p>
        </p:txBody>
      </p:sp>
      <p:sp>
        <p:nvSpPr>
          <p:cNvPr id="5" name="Text 3"/>
          <p:cNvSpPr/>
          <p:nvPr/>
        </p:nvSpPr>
        <p:spPr>
          <a:xfrm>
            <a:off x="457200" y="868680"/>
            <a:ext cx="5120640" cy="13716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Aviation Data</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Report</a:t>
            </a:r>
            <a:endParaRPr lang="en-US" sz="4400" dirty="0"/>
          </a:p>
        </p:txBody>
      </p:sp>
      <p:sp>
        <p:nvSpPr>
          <p:cNvPr id="6" name="Text 4"/>
          <p:cNvSpPr/>
          <p:nvPr/>
        </p:nvSpPr>
        <p:spPr>
          <a:xfrm>
            <a:off x="457200" y="2331720"/>
            <a:ext cx="5029200" cy="685800"/>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A comprehensive analytics platform tracking flight</a:t>
            </a:r>
            <a:endParaRPr lang="en-US" sz="1200" dirty="0"/>
          </a:p>
          <a:p>
            <a:pPr indent="0" marL="0">
              <a:buNone/>
            </a:pPr>
            <a:r>
              <a:rPr lang="en-US" sz="1200" dirty="0">
                <a:solidFill>
                  <a:srgbClr val="8EADC7"/>
                </a:solidFill>
                <a:latin typeface="Calibri" pitchFamily="34" charset="0"/>
                <a:ea typeface="Calibri" pitchFamily="34" charset="-122"/>
                <a:cs typeface="Calibri" pitchFamily="34" charset="-120"/>
              </a:rPr>
              <a:t>performance, delay intelligence, airline efficiency &amp;</a:t>
            </a:r>
            <a:endParaRPr lang="en-US" sz="1200" dirty="0"/>
          </a:p>
          <a:p>
            <a:pPr indent="0" marL="0">
              <a:buNone/>
            </a:pPr>
            <a:r>
              <a:rPr lang="en-US" sz="1200" dirty="0">
                <a:solidFill>
                  <a:srgbClr val="8EADC7"/>
                </a:solidFill>
                <a:latin typeface="Calibri" pitchFamily="34" charset="0"/>
                <a:ea typeface="Calibri" pitchFamily="34" charset="-122"/>
                <a:cs typeface="Calibri" pitchFamily="34" charset="-120"/>
              </a:rPr>
              <a:t>weather disruption across Indian airports.</a:t>
            </a:r>
            <a:endParaRPr lang="en-US" sz="1200" dirty="0"/>
          </a:p>
        </p:txBody>
      </p:sp>
      <p:sp>
        <p:nvSpPr>
          <p:cNvPr id="7" name="Shape 5"/>
          <p:cNvSpPr/>
          <p:nvPr/>
        </p:nvSpPr>
        <p:spPr>
          <a:xfrm>
            <a:off x="457200" y="3246120"/>
            <a:ext cx="1143000" cy="731520"/>
          </a:xfrm>
          <a:prstGeom prst="rect">
            <a:avLst/>
          </a:prstGeom>
          <a:solidFill>
            <a:srgbClr val="0D1A35"/>
          </a:solidFill>
          <a:ln w="12700">
            <a:solidFill>
              <a:srgbClr val="00C9A7"/>
            </a:solidFill>
            <a:prstDash val="solid"/>
          </a:ln>
        </p:spPr>
      </p:sp>
      <p:sp>
        <p:nvSpPr>
          <p:cNvPr id="8" name="Text 6"/>
          <p:cNvSpPr/>
          <p:nvPr/>
        </p:nvSpPr>
        <p:spPr>
          <a:xfrm>
            <a:off x="457200" y="3273552"/>
            <a:ext cx="1143000" cy="365760"/>
          </a:xfrm>
          <a:prstGeom prst="rect">
            <a:avLst/>
          </a:prstGeom>
          <a:noFill/>
          <a:ln/>
        </p:spPr>
        <p:txBody>
          <a:bodyPr wrap="square" rtlCol="0" anchor="ctr"/>
          <a:lstStyle/>
          <a:p>
            <a:pPr algn="ctr" indent="0" marL="0">
              <a:buNone/>
            </a:pPr>
            <a:r>
              <a:rPr lang="en-US" sz="2000" b="1" dirty="0">
                <a:solidFill>
                  <a:srgbClr val="00C9A7"/>
                </a:solidFill>
                <a:latin typeface="Calibri" pitchFamily="34" charset="0"/>
                <a:ea typeface="Calibri" pitchFamily="34" charset="-122"/>
                <a:cs typeface="Calibri" pitchFamily="34" charset="-120"/>
              </a:rPr>
              <a:t>2,000</a:t>
            </a:r>
            <a:endParaRPr lang="en-US" sz="2000" dirty="0"/>
          </a:p>
        </p:txBody>
      </p:sp>
      <p:sp>
        <p:nvSpPr>
          <p:cNvPr id="9" name="Text 7"/>
          <p:cNvSpPr/>
          <p:nvPr/>
        </p:nvSpPr>
        <p:spPr>
          <a:xfrm>
            <a:off x="457200" y="3639312"/>
            <a:ext cx="1143000" cy="256032"/>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Flights</a:t>
            </a:r>
            <a:endParaRPr lang="en-US" sz="900" dirty="0"/>
          </a:p>
        </p:txBody>
      </p:sp>
      <p:sp>
        <p:nvSpPr>
          <p:cNvPr id="10" name="Shape 8"/>
          <p:cNvSpPr/>
          <p:nvPr/>
        </p:nvSpPr>
        <p:spPr>
          <a:xfrm>
            <a:off x="1737360" y="3246120"/>
            <a:ext cx="1143000" cy="731520"/>
          </a:xfrm>
          <a:prstGeom prst="rect">
            <a:avLst/>
          </a:prstGeom>
          <a:solidFill>
            <a:srgbClr val="0D1A35"/>
          </a:solidFill>
          <a:ln w="12700">
            <a:solidFill>
              <a:srgbClr val="00C9A7"/>
            </a:solidFill>
            <a:prstDash val="solid"/>
          </a:ln>
        </p:spPr>
      </p:sp>
      <p:sp>
        <p:nvSpPr>
          <p:cNvPr id="11" name="Text 9"/>
          <p:cNvSpPr/>
          <p:nvPr/>
        </p:nvSpPr>
        <p:spPr>
          <a:xfrm>
            <a:off x="1737360" y="3273552"/>
            <a:ext cx="1143000" cy="365760"/>
          </a:xfrm>
          <a:prstGeom prst="rect">
            <a:avLst/>
          </a:prstGeom>
          <a:noFill/>
          <a:ln/>
        </p:spPr>
        <p:txBody>
          <a:bodyPr wrap="square" rtlCol="0" anchor="ctr"/>
          <a:lstStyle/>
          <a:p>
            <a:pPr algn="ctr" indent="0" marL="0">
              <a:buNone/>
            </a:pPr>
            <a:r>
              <a:rPr lang="en-US" sz="2000" b="1" dirty="0">
                <a:solidFill>
                  <a:srgbClr val="00C9A7"/>
                </a:solidFill>
                <a:latin typeface="Calibri" pitchFamily="34" charset="0"/>
                <a:ea typeface="Calibri" pitchFamily="34" charset="-122"/>
                <a:cs typeface="Calibri" pitchFamily="34" charset="-120"/>
              </a:rPr>
              <a:t>10</a:t>
            </a:r>
            <a:endParaRPr lang="en-US" sz="2000" dirty="0"/>
          </a:p>
        </p:txBody>
      </p:sp>
      <p:sp>
        <p:nvSpPr>
          <p:cNvPr id="12" name="Text 10"/>
          <p:cNvSpPr/>
          <p:nvPr/>
        </p:nvSpPr>
        <p:spPr>
          <a:xfrm>
            <a:off x="1737360" y="3639312"/>
            <a:ext cx="1143000" cy="256032"/>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Airports</a:t>
            </a:r>
            <a:endParaRPr lang="en-US" sz="900" dirty="0"/>
          </a:p>
        </p:txBody>
      </p:sp>
      <p:sp>
        <p:nvSpPr>
          <p:cNvPr id="13" name="Shape 11"/>
          <p:cNvSpPr/>
          <p:nvPr/>
        </p:nvSpPr>
        <p:spPr>
          <a:xfrm>
            <a:off x="3017520" y="3246120"/>
            <a:ext cx="1143000" cy="731520"/>
          </a:xfrm>
          <a:prstGeom prst="rect">
            <a:avLst/>
          </a:prstGeom>
          <a:solidFill>
            <a:srgbClr val="0D1A35"/>
          </a:solidFill>
          <a:ln w="12700">
            <a:solidFill>
              <a:srgbClr val="00C9A7"/>
            </a:solidFill>
            <a:prstDash val="solid"/>
          </a:ln>
        </p:spPr>
      </p:sp>
      <p:sp>
        <p:nvSpPr>
          <p:cNvPr id="14" name="Text 12"/>
          <p:cNvSpPr/>
          <p:nvPr/>
        </p:nvSpPr>
        <p:spPr>
          <a:xfrm>
            <a:off x="3017520" y="3273552"/>
            <a:ext cx="1143000" cy="365760"/>
          </a:xfrm>
          <a:prstGeom prst="rect">
            <a:avLst/>
          </a:prstGeom>
          <a:noFill/>
          <a:ln/>
        </p:spPr>
        <p:txBody>
          <a:bodyPr wrap="square" rtlCol="0" anchor="ctr"/>
          <a:lstStyle/>
          <a:p>
            <a:pPr algn="ctr" indent="0" marL="0">
              <a:buNone/>
            </a:pPr>
            <a:r>
              <a:rPr lang="en-US" sz="2000" b="1" dirty="0">
                <a:solidFill>
                  <a:srgbClr val="00C9A7"/>
                </a:solidFill>
                <a:latin typeface="Calibri" pitchFamily="34" charset="0"/>
                <a:ea typeface="Calibri" pitchFamily="34" charset="-122"/>
                <a:cs typeface="Calibri" pitchFamily="34" charset="-120"/>
              </a:rPr>
              <a:t>80</a:t>
            </a:r>
            <a:endParaRPr lang="en-US" sz="2000" dirty="0"/>
          </a:p>
        </p:txBody>
      </p:sp>
      <p:sp>
        <p:nvSpPr>
          <p:cNvPr id="15" name="Text 13"/>
          <p:cNvSpPr/>
          <p:nvPr/>
        </p:nvSpPr>
        <p:spPr>
          <a:xfrm>
            <a:off x="3017520" y="3639312"/>
            <a:ext cx="1143000" cy="256032"/>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Pilots</a:t>
            </a:r>
            <a:endParaRPr lang="en-US" sz="900" dirty="0"/>
          </a:p>
        </p:txBody>
      </p:sp>
      <p:sp>
        <p:nvSpPr>
          <p:cNvPr id="16" name="Shape 14"/>
          <p:cNvSpPr/>
          <p:nvPr/>
        </p:nvSpPr>
        <p:spPr>
          <a:xfrm>
            <a:off x="4297680" y="3246120"/>
            <a:ext cx="1143000" cy="731520"/>
          </a:xfrm>
          <a:prstGeom prst="rect">
            <a:avLst/>
          </a:prstGeom>
          <a:solidFill>
            <a:srgbClr val="0D1A35"/>
          </a:solidFill>
          <a:ln w="12700">
            <a:solidFill>
              <a:srgbClr val="00C9A7"/>
            </a:solidFill>
            <a:prstDash val="solid"/>
          </a:ln>
        </p:spPr>
      </p:sp>
      <p:sp>
        <p:nvSpPr>
          <p:cNvPr id="17" name="Text 15"/>
          <p:cNvSpPr/>
          <p:nvPr/>
        </p:nvSpPr>
        <p:spPr>
          <a:xfrm>
            <a:off x="4297680" y="3273552"/>
            <a:ext cx="1143000" cy="365760"/>
          </a:xfrm>
          <a:prstGeom prst="rect">
            <a:avLst/>
          </a:prstGeom>
          <a:noFill/>
          <a:ln/>
        </p:spPr>
        <p:txBody>
          <a:bodyPr wrap="square" rtlCol="0" anchor="ctr"/>
          <a:lstStyle/>
          <a:p>
            <a:pPr algn="ctr" indent="0" marL="0">
              <a:buNone/>
            </a:pPr>
            <a:r>
              <a:rPr lang="en-US" sz="2000" b="1" dirty="0">
                <a:solidFill>
                  <a:srgbClr val="00C9A7"/>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4297680" y="3639312"/>
            <a:ext cx="1143000" cy="256032"/>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Report Pages</a:t>
            </a:r>
            <a:endParaRPr lang="en-US" sz="900" dirty="0"/>
          </a:p>
        </p:txBody>
      </p:sp>
      <p:sp>
        <p:nvSpPr>
          <p:cNvPr id="19" name="Shape 17"/>
          <p:cNvSpPr/>
          <p:nvPr/>
        </p:nvSpPr>
        <p:spPr>
          <a:xfrm>
            <a:off x="5760720" y="73152"/>
            <a:ext cx="3383280" cy="4818888"/>
          </a:xfrm>
          <a:prstGeom prst="rect">
            <a:avLst/>
          </a:prstGeom>
          <a:solidFill>
            <a:srgbClr val="0D1A35"/>
          </a:solidFill>
          <a:ln w="12700">
            <a:solidFill>
              <a:srgbClr val="0D1A35"/>
            </a:solidFill>
            <a:prstDash val="solid"/>
          </a:ln>
        </p:spPr>
      </p:sp>
      <p:sp>
        <p:nvSpPr>
          <p:cNvPr id="20" name="Shape 18"/>
          <p:cNvSpPr/>
          <p:nvPr/>
        </p:nvSpPr>
        <p:spPr>
          <a:xfrm>
            <a:off x="5760720" y="73152"/>
            <a:ext cx="54864" cy="4818888"/>
          </a:xfrm>
          <a:prstGeom prst="rect">
            <a:avLst/>
          </a:prstGeom>
          <a:solidFill>
            <a:srgbClr val="00C9A7"/>
          </a:solidFill>
          <a:ln w="12700">
            <a:solidFill>
              <a:srgbClr val="00C9A7"/>
            </a:solidFill>
            <a:prstDash val="solid"/>
          </a:ln>
        </p:spPr>
      </p:sp>
      <p:sp>
        <p:nvSpPr>
          <p:cNvPr id="21" name="Text 19"/>
          <p:cNvSpPr/>
          <p:nvPr/>
        </p:nvSpPr>
        <p:spPr>
          <a:xfrm>
            <a:off x="5989320" y="256032"/>
            <a:ext cx="2926080" cy="201168"/>
          </a:xfrm>
          <a:prstGeom prst="rect">
            <a:avLst/>
          </a:prstGeom>
          <a:noFill/>
          <a:ln/>
        </p:spPr>
        <p:txBody>
          <a:bodyPr wrap="square" rtlCol="0" anchor="ctr"/>
          <a:lstStyle/>
          <a:p>
            <a:pPr indent="0" marL="0">
              <a:buNone/>
            </a:pPr>
            <a:r>
              <a:rPr lang="en-US" sz="800" b="1" spc="200" kern="0" dirty="0">
                <a:solidFill>
                  <a:srgbClr val="00C9A7"/>
                </a:solidFill>
                <a:latin typeface="Calibri" pitchFamily="34" charset="0"/>
                <a:ea typeface="Calibri" pitchFamily="34" charset="-122"/>
                <a:cs typeface="Calibri" pitchFamily="34" charset="-120"/>
              </a:rPr>
              <a:t>PREPARED BY</a:t>
            </a:r>
            <a:endParaRPr lang="en-US" sz="800" dirty="0"/>
          </a:p>
        </p:txBody>
      </p:sp>
      <p:sp>
        <p:nvSpPr>
          <p:cNvPr id="22" name="Text 20"/>
          <p:cNvSpPr/>
          <p:nvPr/>
        </p:nvSpPr>
        <p:spPr>
          <a:xfrm>
            <a:off x="5989320" y="411480"/>
            <a:ext cx="292608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YOUR NAME</a:t>
            </a:r>
            <a:endParaRPr lang="en-US" sz="2200" dirty="0"/>
          </a:p>
        </p:txBody>
      </p:sp>
      <p:sp>
        <p:nvSpPr>
          <p:cNvPr id="23" name="Shape 21"/>
          <p:cNvSpPr/>
          <p:nvPr/>
        </p:nvSpPr>
        <p:spPr>
          <a:xfrm>
            <a:off x="5989320" y="1097280"/>
            <a:ext cx="2880360" cy="512064"/>
          </a:xfrm>
          <a:prstGeom prst="rect">
            <a:avLst/>
          </a:prstGeom>
          <a:solidFill>
            <a:srgbClr val="0F2040"/>
          </a:solidFill>
          <a:ln w="6350">
            <a:solidFill>
              <a:srgbClr val="4A6080"/>
            </a:solidFill>
            <a:prstDash val="solid"/>
          </a:ln>
        </p:spPr>
      </p:sp>
      <p:sp>
        <p:nvSpPr>
          <p:cNvPr id="24" name="Text 22"/>
          <p:cNvSpPr/>
          <p:nvPr/>
        </p:nvSpPr>
        <p:spPr>
          <a:xfrm>
            <a:off x="6080760" y="1133856"/>
            <a:ext cx="2743200" cy="182880"/>
          </a:xfrm>
          <a:prstGeom prst="rect">
            <a:avLst/>
          </a:prstGeom>
          <a:noFill/>
          <a:ln/>
        </p:spPr>
        <p:txBody>
          <a:bodyPr wrap="square" rtlCol="0" anchor="ctr"/>
          <a:lstStyle/>
          <a:p>
            <a:pPr indent="0" marL="0">
              <a:buNone/>
            </a:pPr>
            <a:r>
              <a:rPr lang="en-US" sz="800" b="1" dirty="0">
                <a:solidFill>
                  <a:srgbClr val="00C9A7"/>
                </a:solidFill>
                <a:latin typeface="Calibri" pitchFamily="34" charset="0"/>
                <a:ea typeface="Calibri" pitchFamily="34" charset="-122"/>
                <a:cs typeface="Calibri" pitchFamily="34" charset="-120"/>
              </a:rPr>
              <a:t>Dataset</a:t>
            </a:r>
            <a:endParaRPr lang="en-US" sz="800" dirty="0"/>
          </a:p>
        </p:txBody>
      </p:sp>
      <p:sp>
        <p:nvSpPr>
          <p:cNvPr id="25" name="Text 23"/>
          <p:cNvSpPr/>
          <p:nvPr/>
        </p:nvSpPr>
        <p:spPr>
          <a:xfrm>
            <a:off x="6080760" y="1316736"/>
            <a:ext cx="2743200" cy="2011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Excel — 5 Sheets</a:t>
            </a:r>
            <a:endParaRPr lang="en-US" sz="1100" dirty="0"/>
          </a:p>
        </p:txBody>
      </p:sp>
      <p:sp>
        <p:nvSpPr>
          <p:cNvPr id="26" name="Shape 24"/>
          <p:cNvSpPr/>
          <p:nvPr/>
        </p:nvSpPr>
        <p:spPr>
          <a:xfrm>
            <a:off x="5989320" y="1691640"/>
            <a:ext cx="2880360" cy="512064"/>
          </a:xfrm>
          <a:prstGeom prst="rect">
            <a:avLst/>
          </a:prstGeom>
          <a:solidFill>
            <a:srgbClr val="0F2040"/>
          </a:solidFill>
          <a:ln w="6350">
            <a:solidFill>
              <a:srgbClr val="4A6080"/>
            </a:solidFill>
            <a:prstDash val="solid"/>
          </a:ln>
        </p:spPr>
      </p:sp>
      <p:sp>
        <p:nvSpPr>
          <p:cNvPr id="27" name="Text 25"/>
          <p:cNvSpPr/>
          <p:nvPr/>
        </p:nvSpPr>
        <p:spPr>
          <a:xfrm>
            <a:off x="6080760" y="1728216"/>
            <a:ext cx="2743200" cy="182880"/>
          </a:xfrm>
          <a:prstGeom prst="rect">
            <a:avLst/>
          </a:prstGeom>
          <a:noFill/>
          <a:ln/>
        </p:spPr>
        <p:txBody>
          <a:bodyPr wrap="square" rtlCol="0" anchor="ctr"/>
          <a:lstStyle/>
          <a:p>
            <a:pPr indent="0" marL="0">
              <a:buNone/>
            </a:pPr>
            <a:r>
              <a:rPr lang="en-US" sz="800" b="1" dirty="0">
                <a:solidFill>
                  <a:srgbClr val="00C9A7"/>
                </a:solidFill>
                <a:latin typeface="Calibri" pitchFamily="34" charset="0"/>
                <a:ea typeface="Calibri" pitchFamily="34" charset="-122"/>
                <a:cs typeface="Calibri" pitchFamily="34" charset="-120"/>
              </a:rPr>
              <a:t>Records</a:t>
            </a:r>
            <a:endParaRPr lang="en-US" sz="800" dirty="0"/>
          </a:p>
        </p:txBody>
      </p:sp>
      <p:sp>
        <p:nvSpPr>
          <p:cNvPr id="28" name="Text 26"/>
          <p:cNvSpPr/>
          <p:nvPr/>
        </p:nvSpPr>
        <p:spPr>
          <a:xfrm>
            <a:off x="6080760" y="1911096"/>
            <a:ext cx="2743200" cy="2011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2,000 Flights</a:t>
            </a:r>
            <a:endParaRPr lang="en-US" sz="1100" dirty="0"/>
          </a:p>
        </p:txBody>
      </p:sp>
      <p:sp>
        <p:nvSpPr>
          <p:cNvPr id="29" name="Shape 27"/>
          <p:cNvSpPr/>
          <p:nvPr/>
        </p:nvSpPr>
        <p:spPr>
          <a:xfrm>
            <a:off x="5989320" y="2286000"/>
            <a:ext cx="2880360" cy="512064"/>
          </a:xfrm>
          <a:prstGeom prst="rect">
            <a:avLst/>
          </a:prstGeom>
          <a:solidFill>
            <a:srgbClr val="0F2040"/>
          </a:solidFill>
          <a:ln w="6350">
            <a:solidFill>
              <a:srgbClr val="4A6080"/>
            </a:solidFill>
            <a:prstDash val="solid"/>
          </a:ln>
        </p:spPr>
      </p:sp>
      <p:sp>
        <p:nvSpPr>
          <p:cNvPr id="30" name="Text 28"/>
          <p:cNvSpPr/>
          <p:nvPr/>
        </p:nvSpPr>
        <p:spPr>
          <a:xfrm>
            <a:off x="6080760" y="2322576"/>
            <a:ext cx="2743200" cy="182880"/>
          </a:xfrm>
          <a:prstGeom prst="rect">
            <a:avLst/>
          </a:prstGeom>
          <a:noFill/>
          <a:ln/>
        </p:spPr>
        <p:txBody>
          <a:bodyPr wrap="square" rtlCol="0" anchor="ctr"/>
          <a:lstStyle/>
          <a:p>
            <a:pPr indent="0" marL="0">
              <a:buNone/>
            </a:pPr>
            <a:r>
              <a:rPr lang="en-US" sz="800" b="1" dirty="0">
                <a:solidFill>
                  <a:srgbClr val="00C9A7"/>
                </a:solidFill>
                <a:latin typeface="Calibri" pitchFamily="34" charset="0"/>
                <a:ea typeface="Calibri" pitchFamily="34" charset="-122"/>
                <a:cs typeface="Calibri" pitchFamily="34" charset="-120"/>
              </a:rPr>
              <a:t>Airports</a:t>
            </a:r>
            <a:endParaRPr lang="en-US" sz="800" dirty="0"/>
          </a:p>
        </p:txBody>
      </p:sp>
      <p:sp>
        <p:nvSpPr>
          <p:cNvPr id="31" name="Text 29"/>
          <p:cNvSpPr/>
          <p:nvPr/>
        </p:nvSpPr>
        <p:spPr>
          <a:xfrm>
            <a:off x="6080760" y="2505456"/>
            <a:ext cx="2743200" cy="2011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10 Indian Airports</a:t>
            </a:r>
            <a:endParaRPr lang="en-US" sz="1100" dirty="0"/>
          </a:p>
        </p:txBody>
      </p:sp>
      <p:sp>
        <p:nvSpPr>
          <p:cNvPr id="32" name="Shape 30"/>
          <p:cNvSpPr/>
          <p:nvPr/>
        </p:nvSpPr>
        <p:spPr>
          <a:xfrm>
            <a:off x="5989320" y="2880360"/>
            <a:ext cx="2880360" cy="512064"/>
          </a:xfrm>
          <a:prstGeom prst="rect">
            <a:avLst/>
          </a:prstGeom>
          <a:solidFill>
            <a:srgbClr val="0F2040"/>
          </a:solidFill>
          <a:ln w="6350">
            <a:solidFill>
              <a:srgbClr val="4A6080"/>
            </a:solidFill>
            <a:prstDash val="solid"/>
          </a:ln>
        </p:spPr>
      </p:sp>
      <p:sp>
        <p:nvSpPr>
          <p:cNvPr id="33" name="Text 31"/>
          <p:cNvSpPr/>
          <p:nvPr/>
        </p:nvSpPr>
        <p:spPr>
          <a:xfrm>
            <a:off x="6080760" y="2916936"/>
            <a:ext cx="2743200" cy="182880"/>
          </a:xfrm>
          <a:prstGeom prst="rect">
            <a:avLst/>
          </a:prstGeom>
          <a:noFill/>
          <a:ln/>
        </p:spPr>
        <p:txBody>
          <a:bodyPr wrap="square" rtlCol="0" anchor="ctr"/>
          <a:lstStyle/>
          <a:p>
            <a:pPr indent="0" marL="0">
              <a:buNone/>
            </a:pPr>
            <a:r>
              <a:rPr lang="en-US" sz="800" b="1" dirty="0">
                <a:solidFill>
                  <a:srgbClr val="00C9A7"/>
                </a:solidFill>
                <a:latin typeface="Calibri" pitchFamily="34" charset="0"/>
                <a:ea typeface="Calibri" pitchFamily="34" charset="-122"/>
                <a:cs typeface="Calibri" pitchFamily="34" charset="-120"/>
              </a:rPr>
              <a:t>Pilots</a:t>
            </a:r>
            <a:endParaRPr lang="en-US" sz="800" dirty="0"/>
          </a:p>
        </p:txBody>
      </p:sp>
      <p:sp>
        <p:nvSpPr>
          <p:cNvPr id="34" name="Text 32"/>
          <p:cNvSpPr/>
          <p:nvPr/>
        </p:nvSpPr>
        <p:spPr>
          <a:xfrm>
            <a:off x="6080760" y="3099816"/>
            <a:ext cx="2743200" cy="2011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80 Crew Members</a:t>
            </a:r>
            <a:endParaRPr lang="en-US" sz="1100" dirty="0"/>
          </a:p>
        </p:txBody>
      </p:sp>
      <p:sp>
        <p:nvSpPr>
          <p:cNvPr id="35" name="Shape 33"/>
          <p:cNvSpPr/>
          <p:nvPr/>
        </p:nvSpPr>
        <p:spPr>
          <a:xfrm>
            <a:off x="5989320" y="3474720"/>
            <a:ext cx="2880360" cy="512064"/>
          </a:xfrm>
          <a:prstGeom prst="rect">
            <a:avLst/>
          </a:prstGeom>
          <a:solidFill>
            <a:srgbClr val="0F2040"/>
          </a:solidFill>
          <a:ln w="6350">
            <a:solidFill>
              <a:srgbClr val="4A6080"/>
            </a:solidFill>
            <a:prstDash val="solid"/>
          </a:ln>
        </p:spPr>
      </p:sp>
      <p:sp>
        <p:nvSpPr>
          <p:cNvPr id="36" name="Text 34"/>
          <p:cNvSpPr/>
          <p:nvPr/>
        </p:nvSpPr>
        <p:spPr>
          <a:xfrm>
            <a:off x="6080760" y="3511296"/>
            <a:ext cx="2743200" cy="182880"/>
          </a:xfrm>
          <a:prstGeom prst="rect">
            <a:avLst/>
          </a:prstGeom>
          <a:noFill/>
          <a:ln/>
        </p:spPr>
        <p:txBody>
          <a:bodyPr wrap="square" rtlCol="0" anchor="ctr"/>
          <a:lstStyle/>
          <a:p>
            <a:pPr indent="0" marL="0">
              <a:buNone/>
            </a:pPr>
            <a:r>
              <a:rPr lang="en-US" sz="800" b="1" dirty="0">
                <a:solidFill>
                  <a:srgbClr val="00C9A7"/>
                </a:solidFill>
                <a:latin typeface="Calibri" pitchFamily="34" charset="0"/>
                <a:ea typeface="Calibri" pitchFamily="34" charset="-122"/>
                <a:cs typeface="Calibri" pitchFamily="34" charset="-120"/>
              </a:rPr>
              <a:t>Period</a:t>
            </a:r>
            <a:endParaRPr lang="en-US" sz="800" dirty="0"/>
          </a:p>
        </p:txBody>
      </p:sp>
      <p:sp>
        <p:nvSpPr>
          <p:cNvPr id="37" name="Text 35"/>
          <p:cNvSpPr/>
          <p:nvPr/>
        </p:nvSpPr>
        <p:spPr>
          <a:xfrm>
            <a:off x="6080760" y="3694176"/>
            <a:ext cx="2743200" cy="2011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2023 – 2024</a:t>
            </a:r>
            <a:endParaRPr lang="en-US" sz="1100" dirty="0"/>
          </a:p>
        </p:txBody>
      </p:sp>
      <p:sp>
        <p:nvSpPr>
          <p:cNvPr id="38" name="Shape 36"/>
          <p:cNvSpPr/>
          <p:nvPr/>
        </p:nvSpPr>
        <p:spPr>
          <a:xfrm>
            <a:off x="5989320" y="4069080"/>
            <a:ext cx="2880360" cy="512064"/>
          </a:xfrm>
          <a:prstGeom prst="rect">
            <a:avLst/>
          </a:prstGeom>
          <a:solidFill>
            <a:srgbClr val="0F2040"/>
          </a:solidFill>
          <a:ln w="6350">
            <a:solidFill>
              <a:srgbClr val="4A6080"/>
            </a:solidFill>
            <a:prstDash val="solid"/>
          </a:ln>
        </p:spPr>
      </p:sp>
      <p:sp>
        <p:nvSpPr>
          <p:cNvPr id="39" name="Text 37"/>
          <p:cNvSpPr/>
          <p:nvPr/>
        </p:nvSpPr>
        <p:spPr>
          <a:xfrm>
            <a:off x="6080760" y="4105656"/>
            <a:ext cx="2743200" cy="182880"/>
          </a:xfrm>
          <a:prstGeom prst="rect">
            <a:avLst/>
          </a:prstGeom>
          <a:noFill/>
          <a:ln/>
        </p:spPr>
        <p:txBody>
          <a:bodyPr wrap="square" rtlCol="0" anchor="ctr"/>
          <a:lstStyle/>
          <a:p>
            <a:pPr indent="0" marL="0">
              <a:buNone/>
            </a:pPr>
            <a:r>
              <a:rPr lang="en-US" sz="800" b="1" dirty="0">
                <a:solidFill>
                  <a:srgbClr val="00C9A7"/>
                </a:solidFill>
                <a:latin typeface="Calibri" pitchFamily="34" charset="0"/>
                <a:ea typeface="Calibri" pitchFamily="34" charset="-122"/>
                <a:cs typeface="Calibri" pitchFamily="34" charset="-120"/>
              </a:rPr>
              <a:t>Pages</a:t>
            </a:r>
            <a:endParaRPr lang="en-US" sz="800" dirty="0"/>
          </a:p>
        </p:txBody>
      </p:sp>
      <p:sp>
        <p:nvSpPr>
          <p:cNvPr id="40" name="Text 38"/>
          <p:cNvSpPr/>
          <p:nvPr/>
        </p:nvSpPr>
        <p:spPr>
          <a:xfrm>
            <a:off x="6080760" y="4288536"/>
            <a:ext cx="2743200" cy="201168"/>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4 Dashboard Pages</a:t>
            </a:r>
            <a:endParaRPr lang="en-US" sz="1100" dirty="0"/>
          </a:p>
        </p:txBody>
      </p:sp>
      <p:sp>
        <p:nvSpPr>
          <p:cNvPr id="41" name="Shape 39"/>
          <p:cNvSpPr/>
          <p:nvPr/>
        </p:nvSpPr>
        <p:spPr>
          <a:xfrm>
            <a:off x="0" y="4892040"/>
            <a:ext cx="9144000" cy="251460"/>
          </a:xfrm>
          <a:prstGeom prst="rect">
            <a:avLst/>
          </a:prstGeom>
          <a:solidFill>
            <a:srgbClr val="051020"/>
          </a:solidFill>
          <a:ln w="12700">
            <a:solidFill>
              <a:srgbClr val="051020"/>
            </a:solidFill>
            <a:prstDash val="solid"/>
          </a:ln>
        </p:spPr>
      </p:sp>
      <p:sp>
        <p:nvSpPr>
          <p:cNvPr id="42" name="Text 40"/>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01  ·  INTRODUCTION</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Project Background &amp; Objective</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Analytical approach and aviation context</a:t>
            </a:r>
            <a:endParaRPr lang="en-US" sz="1200" dirty="0"/>
          </a:p>
        </p:txBody>
      </p:sp>
      <p:sp>
        <p:nvSpPr>
          <p:cNvPr id="7" name="Shape 5"/>
          <p:cNvSpPr/>
          <p:nvPr/>
        </p:nvSpPr>
        <p:spPr>
          <a:xfrm>
            <a:off x="365760" y="1463040"/>
            <a:ext cx="4206240" cy="1508760"/>
          </a:xfrm>
          <a:prstGeom prst="rect">
            <a:avLst/>
          </a:prstGeom>
          <a:solidFill>
            <a:srgbClr val="0F2040"/>
          </a:solidFill>
          <a:ln w="12700">
            <a:solidFill>
              <a:srgbClr val="00C9A7"/>
            </a:solidFill>
            <a:prstDash val="solid"/>
          </a:ln>
        </p:spPr>
      </p:sp>
      <p:sp>
        <p:nvSpPr>
          <p:cNvPr id="8" name="Text 6"/>
          <p:cNvSpPr/>
          <p:nvPr/>
        </p:nvSpPr>
        <p:spPr>
          <a:xfrm>
            <a:off x="502920" y="1536192"/>
            <a:ext cx="3931920" cy="256032"/>
          </a:xfrm>
          <a:prstGeom prst="rect">
            <a:avLst/>
          </a:prstGeom>
          <a:noFill/>
          <a:ln/>
        </p:spPr>
        <p:txBody>
          <a:bodyPr wrap="square"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About This Study</a:t>
            </a:r>
            <a:endParaRPr lang="en-US" sz="1200" dirty="0"/>
          </a:p>
        </p:txBody>
      </p:sp>
      <p:sp>
        <p:nvSpPr>
          <p:cNvPr id="9" name="Text 7"/>
          <p:cNvSpPr/>
          <p:nvPr/>
        </p:nvSpPr>
        <p:spPr>
          <a:xfrm>
            <a:off x="502920" y="1810512"/>
            <a:ext cx="3931920" cy="1051560"/>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RunwayInsights delivers a comprehensive view of Indian aviation performance across 10 airports, 80 pilots, and 2,000 flights spanning 2023–2024. By combining delay intelligence, weather disruption scoring, and pilot efficiency analysis, the dashboard transitions from reactive reporting to proactive operational intelligence.</a:t>
            </a:r>
            <a:endParaRPr lang="en-US" sz="1000" dirty="0"/>
          </a:p>
        </p:txBody>
      </p:sp>
      <p:sp>
        <p:nvSpPr>
          <p:cNvPr id="10" name="Shape 8"/>
          <p:cNvSpPr/>
          <p:nvPr/>
        </p:nvSpPr>
        <p:spPr>
          <a:xfrm>
            <a:off x="4800600" y="1463040"/>
            <a:ext cx="3977640" cy="475488"/>
          </a:xfrm>
          <a:prstGeom prst="rect">
            <a:avLst/>
          </a:prstGeom>
          <a:solidFill>
            <a:srgbClr val="0F2040"/>
          </a:solidFill>
          <a:ln w="6350">
            <a:solidFill>
              <a:srgbClr val="4A6080"/>
            </a:solidFill>
            <a:prstDash val="solid"/>
          </a:ln>
        </p:spPr>
      </p:sp>
      <p:sp>
        <p:nvSpPr>
          <p:cNvPr id="11" name="Shape 9"/>
          <p:cNvSpPr/>
          <p:nvPr/>
        </p:nvSpPr>
        <p:spPr>
          <a:xfrm>
            <a:off x="4800600" y="1463040"/>
            <a:ext cx="54864" cy="475488"/>
          </a:xfrm>
          <a:prstGeom prst="rect">
            <a:avLst/>
          </a:prstGeom>
          <a:solidFill>
            <a:srgbClr val="00C9A7"/>
          </a:solidFill>
          <a:ln w="12700">
            <a:solidFill>
              <a:srgbClr val="00C9A7"/>
            </a:solidFill>
            <a:prstDash val="solid"/>
          </a:ln>
        </p:spPr>
      </p:sp>
      <p:sp>
        <p:nvSpPr>
          <p:cNvPr id="12" name="Text 10"/>
          <p:cNvSpPr/>
          <p:nvPr/>
        </p:nvSpPr>
        <p:spPr>
          <a:xfrm>
            <a:off x="4937760" y="1499616"/>
            <a:ext cx="3749040" cy="1828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Flight Intelligence</a:t>
            </a:r>
            <a:endParaRPr lang="en-US" sz="1100" dirty="0"/>
          </a:p>
        </p:txBody>
      </p:sp>
      <p:sp>
        <p:nvSpPr>
          <p:cNvPr id="13" name="Text 11"/>
          <p:cNvSpPr/>
          <p:nvPr/>
        </p:nvSpPr>
        <p:spPr>
          <a:xfrm>
            <a:off x="4937760" y="1691640"/>
            <a:ext cx="374904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Audit OTP%, delay severity, cancellation rates across 10 airports and 8 airlines for 2023–2024.</a:t>
            </a:r>
            <a:endParaRPr lang="en-US" sz="900" dirty="0"/>
          </a:p>
        </p:txBody>
      </p:sp>
      <p:sp>
        <p:nvSpPr>
          <p:cNvPr id="14" name="Shape 12"/>
          <p:cNvSpPr/>
          <p:nvPr/>
        </p:nvSpPr>
        <p:spPr>
          <a:xfrm>
            <a:off x="4800600" y="2011680"/>
            <a:ext cx="3977640" cy="475488"/>
          </a:xfrm>
          <a:prstGeom prst="rect">
            <a:avLst/>
          </a:prstGeom>
          <a:solidFill>
            <a:srgbClr val="0F2040"/>
          </a:solidFill>
          <a:ln w="6350">
            <a:solidFill>
              <a:srgbClr val="4A6080"/>
            </a:solidFill>
            <a:prstDash val="solid"/>
          </a:ln>
        </p:spPr>
      </p:sp>
      <p:sp>
        <p:nvSpPr>
          <p:cNvPr id="15" name="Shape 13"/>
          <p:cNvSpPr/>
          <p:nvPr/>
        </p:nvSpPr>
        <p:spPr>
          <a:xfrm>
            <a:off x="4800600" y="2011680"/>
            <a:ext cx="54864" cy="475488"/>
          </a:xfrm>
          <a:prstGeom prst="rect">
            <a:avLst/>
          </a:prstGeom>
          <a:solidFill>
            <a:srgbClr val="2196F3"/>
          </a:solidFill>
          <a:ln w="12700">
            <a:solidFill>
              <a:srgbClr val="2196F3"/>
            </a:solidFill>
            <a:prstDash val="solid"/>
          </a:ln>
        </p:spPr>
      </p:sp>
      <p:sp>
        <p:nvSpPr>
          <p:cNvPr id="16" name="Text 14"/>
          <p:cNvSpPr/>
          <p:nvPr/>
        </p:nvSpPr>
        <p:spPr>
          <a:xfrm>
            <a:off x="4937760" y="2048256"/>
            <a:ext cx="3749040" cy="1828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Airline &amp; Pilot Analytics</a:t>
            </a:r>
            <a:endParaRPr lang="en-US" sz="1100" dirty="0"/>
          </a:p>
        </p:txBody>
      </p:sp>
      <p:sp>
        <p:nvSpPr>
          <p:cNvPr id="17" name="Text 15"/>
          <p:cNvSpPr/>
          <p:nvPr/>
        </p:nvSpPr>
        <p:spPr>
          <a:xfrm>
            <a:off x="4937760" y="2240280"/>
            <a:ext cx="374904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Load factor, RASM, fuel efficiency, and pilot rank impact on punctuality across 80 crew members.</a:t>
            </a:r>
            <a:endParaRPr lang="en-US" sz="900" dirty="0"/>
          </a:p>
        </p:txBody>
      </p:sp>
      <p:sp>
        <p:nvSpPr>
          <p:cNvPr id="18" name="Shape 16"/>
          <p:cNvSpPr/>
          <p:nvPr/>
        </p:nvSpPr>
        <p:spPr>
          <a:xfrm>
            <a:off x="4800600" y="2560320"/>
            <a:ext cx="3977640" cy="475488"/>
          </a:xfrm>
          <a:prstGeom prst="rect">
            <a:avLst/>
          </a:prstGeom>
          <a:solidFill>
            <a:srgbClr val="0F2040"/>
          </a:solidFill>
          <a:ln w="6350">
            <a:solidFill>
              <a:srgbClr val="4A6080"/>
            </a:solidFill>
            <a:prstDash val="solid"/>
          </a:ln>
        </p:spPr>
      </p:sp>
      <p:sp>
        <p:nvSpPr>
          <p:cNvPr id="19" name="Shape 17"/>
          <p:cNvSpPr/>
          <p:nvPr/>
        </p:nvSpPr>
        <p:spPr>
          <a:xfrm>
            <a:off x="4800600" y="2560320"/>
            <a:ext cx="54864" cy="475488"/>
          </a:xfrm>
          <a:prstGeom prst="rect">
            <a:avLst/>
          </a:prstGeom>
          <a:solidFill>
            <a:srgbClr val="FF6B6B"/>
          </a:solidFill>
          <a:ln w="12700">
            <a:solidFill>
              <a:srgbClr val="FF6B6B"/>
            </a:solidFill>
            <a:prstDash val="solid"/>
          </a:ln>
        </p:spPr>
      </p:sp>
      <p:sp>
        <p:nvSpPr>
          <p:cNvPr id="20" name="Text 18"/>
          <p:cNvSpPr/>
          <p:nvPr/>
        </p:nvSpPr>
        <p:spPr>
          <a:xfrm>
            <a:off x="4937760" y="2596896"/>
            <a:ext cx="3749040" cy="1828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Weather Disruption</a:t>
            </a:r>
            <a:endParaRPr lang="en-US" sz="1100" dirty="0"/>
          </a:p>
        </p:txBody>
      </p:sp>
      <p:sp>
        <p:nvSpPr>
          <p:cNvPr id="21" name="Text 19"/>
          <p:cNvSpPr/>
          <p:nvPr/>
        </p:nvSpPr>
        <p:spPr>
          <a:xfrm>
            <a:off x="4937760" y="2788920"/>
            <a:ext cx="374904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Weather Impact Score, Monsoon analysis, and route-level delay heatmap across all conditions.</a:t>
            </a:r>
            <a:endParaRPr lang="en-US" sz="900" dirty="0"/>
          </a:p>
        </p:txBody>
      </p:sp>
      <p:sp>
        <p:nvSpPr>
          <p:cNvPr id="22" name="Shape 20"/>
          <p:cNvSpPr/>
          <p:nvPr/>
        </p:nvSpPr>
        <p:spPr>
          <a:xfrm>
            <a:off x="365760" y="3154680"/>
            <a:ext cx="8412480" cy="219456"/>
          </a:xfrm>
          <a:prstGeom prst="rect">
            <a:avLst/>
          </a:prstGeom>
          <a:solidFill>
            <a:srgbClr val="004D40"/>
          </a:solidFill>
          <a:ln w="6350">
            <a:solidFill>
              <a:srgbClr val="00C9A7"/>
            </a:solidFill>
            <a:prstDash val="solid"/>
          </a:ln>
        </p:spPr>
      </p:sp>
      <p:sp>
        <p:nvSpPr>
          <p:cNvPr id="23" name="Text 21"/>
          <p:cNvSpPr/>
          <p:nvPr/>
        </p:nvSpPr>
        <p:spPr>
          <a:xfrm>
            <a:off x="457200" y="3163824"/>
            <a:ext cx="8229600" cy="201168"/>
          </a:xfrm>
          <a:prstGeom prst="rect">
            <a:avLst/>
          </a:prstGeom>
          <a:noFill/>
          <a:ln/>
        </p:spPr>
        <p:txBody>
          <a:bodyPr wrap="square" rtlCol="0" anchor="ctr"/>
          <a:lstStyle/>
          <a:p>
            <a:pPr indent="0" marL="0">
              <a:buNone/>
            </a:pPr>
            <a:r>
              <a:rPr lang="en-US" sz="850" b="1" spc="200" kern="0" dirty="0">
                <a:solidFill>
                  <a:srgbClr val="00C9A7"/>
                </a:solidFill>
                <a:latin typeface="Calibri" pitchFamily="34" charset="0"/>
                <a:ea typeface="Calibri" pitchFamily="34" charset="-122"/>
                <a:cs typeface="Calibri" pitchFamily="34" charset="-120"/>
              </a:rPr>
              <a:t>WHAT THIS DASHBOARD DELIVERS</a:t>
            </a:r>
            <a:endParaRPr lang="en-US" sz="850" dirty="0"/>
          </a:p>
        </p:txBody>
      </p:sp>
      <p:sp>
        <p:nvSpPr>
          <p:cNvPr id="24" name="Shape 22"/>
          <p:cNvSpPr/>
          <p:nvPr/>
        </p:nvSpPr>
        <p:spPr>
          <a:xfrm>
            <a:off x="365760" y="3456432"/>
            <a:ext cx="2029968" cy="1207008"/>
          </a:xfrm>
          <a:prstGeom prst="rect">
            <a:avLst/>
          </a:prstGeom>
          <a:solidFill>
            <a:srgbClr val="0F2040"/>
          </a:solidFill>
          <a:ln w="6350">
            <a:solidFill>
              <a:srgbClr val="4A6080"/>
            </a:solidFill>
            <a:prstDash val="solid"/>
          </a:ln>
        </p:spPr>
      </p:sp>
      <p:sp>
        <p:nvSpPr>
          <p:cNvPr id="25" name="Text 23"/>
          <p:cNvSpPr/>
          <p:nvPr/>
        </p:nvSpPr>
        <p:spPr>
          <a:xfrm>
            <a:off x="457200" y="3511296"/>
            <a:ext cx="187452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Track flight performance</a:t>
            </a:r>
            <a:endParaRPr lang="en-US" sz="1000" dirty="0"/>
          </a:p>
        </p:txBody>
      </p:sp>
      <p:sp>
        <p:nvSpPr>
          <p:cNvPr id="26" name="Text 24"/>
          <p:cNvSpPr/>
          <p:nvPr/>
        </p:nvSpPr>
        <p:spPr>
          <a:xfrm>
            <a:off x="457200" y="3785616"/>
            <a:ext cx="1874520" cy="749808"/>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OTP%, delay trends, and cancellation rates by airline, airport, and season</a:t>
            </a:r>
            <a:endParaRPr lang="en-US" sz="900" dirty="0"/>
          </a:p>
        </p:txBody>
      </p:sp>
      <p:sp>
        <p:nvSpPr>
          <p:cNvPr id="27" name="Shape 25"/>
          <p:cNvSpPr/>
          <p:nvPr/>
        </p:nvSpPr>
        <p:spPr>
          <a:xfrm>
            <a:off x="2487168" y="3456432"/>
            <a:ext cx="2029968" cy="1207008"/>
          </a:xfrm>
          <a:prstGeom prst="rect">
            <a:avLst/>
          </a:prstGeom>
          <a:solidFill>
            <a:srgbClr val="0F2040"/>
          </a:solidFill>
          <a:ln w="6350">
            <a:solidFill>
              <a:srgbClr val="4A6080"/>
            </a:solidFill>
            <a:prstDash val="solid"/>
          </a:ln>
        </p:spPr>
      </p:sp>
      <p:sp>
        <p:nvSpPr>
          <p:cNvPr id="28" name="Text 26"/>
          <p:cNvSpPr/>
          <p:nvPr/>
        </p:nvSpPr>
        <p:spPr>
          <a:xfrm>
            <a:off x="2578608" y="3511296"/>
            <a:ext cx="187452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Measure weather impact</a:t>
            </a:r>
            <a:endParaRPr lang="en-US" sz="1000" dirty="0"/>
          </a:p>
        </p:txBody>
      </p:sp>
      <p:sp>
        <p:nvSpPr>
          <p:cNvPr id="29" name="Text 27"/>
          <p:cNvSpPr/>
          <p:nvPr/>
        </p:nvSpPr>
        <p:spPr>
          <a:xfrm>
            <a:off x="2578608" y="3785616"/>
            <a:ext cx="1874520" cy="749808"/>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Weather Impact Score (0–100) and Monsoon disruption analysis</a:t>
            </a:r>
            <a:endParaRPr lang="en-US" sz="900" dirty="0"/>
          </a:p>
        </p:txBody>
      </p:sp>
      <p:sp>
        <p:nvSpPr>
          <p:cNvPr id="30" name="Shape 28"/>
          <p:cNvSpPr/>
          <p:nvPr/>
        </p:nvSpPr>
        <p:spPr>
          <a:xfrm>
            <a:off x="4608576" y="3456432"/>
            <a:ext cx="2029968" cy="1207008"/>
          </a:xfrm>
          <a:prstGeom prst="rect">
            <a:avLst/>
          </a:prstGeom>
          <a:solidFill>
            <a:srgbClr val="0F2040"/>
          </a:solidFill>
          <a:ln w="6350">
            <a:solidFill>
              <a:srgbClr val="4A6080"/>
            </a:solidFill>
            <a:prstDash val="solid"/>
          </a:ln>
        </p:spPr>
      </p:sp>
      <p:sp>
        <p:nvSpPr>
          <p:cNvPr id="31" name="Text 29"/>
          <p:cNvSpPr/>
          <p:nvPr/>
        </p:nvSpPr>
        <p:spPr>
          <a:xfrm>
            <a:off x="4700016" y="3511296"/>
            <a:ext cx="187452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Optimise airline operations</a:t>
            </a:r>
            <a:endParaRPr lang="en-US" sz="1000" dirty="0"/>
          </a:p>
        </p:txBody>
      </p:sp>
      <p:sp>
        <p:nvSpPr>
          <p:cNvPr id="32" name="Text 30"/>
          <p:cNvSpPr/>
          <p:nvPr/>
        </p:nvSpPr>
        <p:spPr>
          <a:xfrm>
            <a:off x="4700016" y="3785616"/>
            <a:ext cx="1874520" cy="749808"/>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Load Factor, Proxy RASM, and fuel efficiency benchmarks across airlines</a:t>
            </a:r>
            <a:endParaRPr lang="en-US" sz="900" dirty="0"/>
          </a:p>
        </p:txBody>
      </p:sp>
      <p:sp>
        <p:nvSpPr>
          <p:cNvPr id="33" name="Shape 31"/>
          <p:cNvSpPr/>
          <p:nvPr/>
        </p:nvSpPr>
        <p:spPr>
          <a:xfrm>
            <a:off x="6729984" y="3456432"/>
            <a:ext cx="2029968" cy="1207008"/>
          </a:xfrm>
          <a:prstGeom prst="rect">
            <a:avLst/>
          </a:prstGeom>
          <a:solidFill>
            <a:srgbClr val="0F2040"/>
          </a:solidFill>
          <a:ln w="6350">
            <a:solidFill>
              <a:srgbClr val="4A6080"/>
            </a:solidFill>
            <a:prstDash val="solid"/>
          </a:ln>
        </p:spPr>
      </p:sp>
      <p:sp>
        <p:nvSpPr>
          <p:cNvPr id="34" name="Text 32"/>
          <p:cNvSpPr/>
          <p:nvPr/>
        </p:nvSpPr>
        <p:spPr>
          <a:xfrm>
            <a:off x="6821424" y="3511296"/>
            <a:ext cx="1874520" cy="25603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Crew intelligence</a:t>
            </a:r>
            <a:endParaRPr lang="en-US" sz="1000" dirty="0"/>
          </a:p>
        </p:txBody>
      </p:sp>
      <p:sp>
        <p:nvSpPr>
          <p:cNvPr id="35" name="Text 33"/>
          <p:cNvSpPr/>
          <p:nvPr/>
        </p:nvSpPr>
        <p:spPr>
          <a:xfrm>
            <a:off x="6821424" y="3785616"/>
            <a:ext cx="1874520" cy="749808"/>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Captain vs FO delay comparison, pilot rating correlation, experience band analysis</a:t>
            </a:r>
            <a:endParaRPr lang="en-US" sz="900" dirty="0"/>
          </a:p>
        </p:txBody>
      </p:sp>
      <p:sp>
        <p:nvSpPr>
          <p:cNvPr id="36" name="Shape 34"/>
          <p:cNvSpPr/>
          <p:nvPr/>
        </p:nvSpPr>
        <p:spPr>
          <a:xfrm>
            <a:off x="0" y="4892040"/>
            <a:ext cx="9144000" cy="251460"/>
          </a:xfrm>
          <a:prstGeom prst="rect">
            <a:avLst/>
          </a:prstGeom>
          <a:solidFill>
            <a:srgbClr val="051020"/>
          </a:solidFill>
          <a:ln w="12700">
            <a:solidFill>
              <a:srgbClr val="051020"/>
            </a:solidFill>
            <a:prstDash val="solid"/>
          </a:ln>
        </p:spPr>
      </p:sp>
      <p:sp>
        <p:nvSpPr>
          <p:cNvPr id="37" name="Text 35"/>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02  ·  OBJECTIVES</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Analytical Objective</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Four strategic pillars driving the analytical framework</a:t>
            </a:r>
            <a:endParaRPr lang="en-US" sz="1200" dirty="0"/>
          </a:p>
        </p:txBody>
      </p:sp>
      <p:sp>
        <p:nvSpPr>
          <p:cNvPr id="7" name="Shape 5"/>
          <p:cNvSpPr/>
          <p:nvPr/>
        </p:nvSpPr>
        <p:spPr>
          <a:xfrm>
            <a:off x="365760" y="1444752"/>
            <a:ext cx="4160520" cy="1554480"/>
          </a:xfrm>
          <a:prstGeom prst="rect">
            <a:avLst/>
          </a:prstGeom>
          <a:solidFill>
            <a:srgbClr val="0F2040"/>
          </a:solidFill>
          <a:ln w="6350">
            <a:solidFill>
              <a:srgbClr val="4A6080"/>
            </a:solidFill>
            <a:prstDash val="solid"/>
          </a:ln>
        </p:spPr>
      </p:sp>
      <p:sp>
        <p:nvSpPr>
          <p:cNvPr id="8" name="Shape 6"/>
          <p:cNvSpPr/>
          <p:nvPr/>
        </p:nvSpPr>
        <p:spPr>
          <a:xfrm>
            <a:off x="475488" y="1554480"/>
            <a:ext cx="384048" cy="384048"/>
          </a:xfrm>
          <a:prstGeom prst="rect">
            <a:avLst/>
          </a:prstGeom>
          <a:solidFill>
            <a:srgbClr val="00C9A7"/>
          </a:solidFill>
          <a:ln w="12700">
            <a:solidFill>
              <a:srgbClr val="00C9A7"/>
            </a:solidFill>
            <a:prstDash val="solid"/>
          </a:ln>
        </p:spPr>
      </p:sp>
      <p:sp>
        <p:nvSpPr>
          <p:cNvPr id="9" name="Text 7"/>
          <p:cNvSpPr/>
          <p:nvPr/>
        </p:nvSpPr>
        <p:spPr>
          <a:xfrm>
            <a:off x="475488" y="1554480"/>
            <a:ext cx="384048" cy="384048"/>
          </a:xfrm>
          <a:prstGeom prst="rect">
            <a:avLst/>
          </a:prstGeom>
          <a:noFill/>
          <a:ln/>
        </p:spPr>
        <p:txBody>
          <a:bodyPr wrap="square"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01</a:t>
            </a:r>
            <a:endParaRPr lang="en-US" sz="1400" dirty="0"/>
          </a:p>
        </p:txBody>
      </p:sp>
      <p:sp>
        <p:nvSpPr>
          <p:cNvPr id="10" name="Text 8"/>
          <p:cNvSpPr/>
          <p:nvPr/>
        </p:nvSpPr>
        <p:spPr>
          <a:xfrm>
            <a:off x="960120" y="1572768"/>
            <a:ext cx="34290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Flight Performance</a:t>
            </a:r>
            <a:endParaRPr lang="en-US" sz="1400" dirty="0"/>
          </a:p>
        </p:txBody>
      </p:sp>
      <p:sp>
        <p:nvSpPr>
          <p:cNvPr id="11" name="Text 9"/>
          <p:cNvSpPr/>
          <p:nvPr/>
        </p:nvSpPr>
        <p:spPr>
          <a:xfrm>
            <a:off x="475488" y="2066544"/>
            <a:ext cx="3913632" cy="822960"/>
          </a:xfrm>
          <a:prstGeom prst="rect">
            <a:avLst/>
          </a:prstGeom>
          <a:noFill/>
          <a:ln/>
        </p:spPr>
        <p:txBody>
          <a:bodyPr wrap="square" rtlCol="0" anchor="ctr"/>
          <a:lstStyle/>
          <a:p>
            <a:pPr indent="0" marL="0">
              <a:buNone/>
            </a:pPr>
            <a:r>
              <a:rPr lang="en-US" sz="1000" dirty="0">
                <a:solidFill>
                  <a:srgbClr val="8EADC7"/>
                </a:solidFill>
                <a:latin typeface="Calibri" pitchFamily="34" charset="0"/>
                <a:ea typeface="Calibri" pitchFamily="34" charset="-122"/>
                <a:cs typeface="Calibri" pitchFamily="34" charset="-120"/>
              </a:rPr>
              <a:t>Track OTP%, average delay minutes, cancellation rates and YoY flight growth across 10 Indian airports and 8 airlines. Identify top and bottom performers using RANKX-based measures.</a:t>
            </a:r>
            <a:endParaRPr lang="en-US" sz="1000" dirty="0"/>
          </a:p>
        </p:txBody>
      </p:sp>
      <p:sp>
        <p:nvSpPr>
          <p:cNvPr id="12" name="Shape 10"/>
          <p:cNvSpPr/>
          <p:nvPr/>
        </p:nvSpPr>
        <p:spPr>
          <a:xfrm>
            <a:off x="4709160" y="1444752"/>
            <a:ext cx="4160520" cy="1554480"/>
          </a:xfrm>
          <a:prstGeom prst="rect">
            <a:avLst/>
          </a:prstGeom>
          <a:solidFill>
            <a:srgbClr val="0F2040"/>
          </a:solidFill>
          <a:ln w="6350">
            <a:solidFill>
              <a:srgbClr val="4A6080"/>
            </a:solidFill>
            <a:prstDash val="solid"/>
          </a:ln>
        </p:spPr>
      </p:sp>
      <p:sp>
        <p:nvSpPr>
          <p:cNvPr id="13" name="Shape 11"/>
          <p:cNvSpPr/>
          <p:nvPr/>
        </p:nvSpPr>
        <p:spPr>
          <a:xfrm>
            <a:off x="4818888" y="1554480"/>
            <a:ext cx="384048" cy="384048"/>
          </a:xfrm>
          <a:prstGeom prst="rect">
            <a:avLst/>
          </a:prstGeom>
          <a:solidFill>
            <a:srgbClr val="2196F3"/>
          </a:solidFill>
          <a:ln w="12700">
            <a:solidFill>
              <a:srgbClr val="2196F3"/>
            </a:solidFill>
            <a:prstDash val="solid"/>
          </a:ln>
        </p:spPr>
      </p:sp>
      <p:sp>
        <p:nvSpPr>
          <p:cNvPr id="14" name="Text 12"/>
          <p:cNvSpPr/>
          <p:nvPr/>
        </p:nvSpPr>
        <p:spPr>
          <a:xfrm>
            <a:off x="4818888" y="1554480"/>
            <a:ext cx="384048" cy="384048"/>
          </a:xfrm>
          <a:prstGeom prst="rect">
            <a:avLst/>
          </a:prstGeom>
          <a:noFill/>
          <a:ln/>
        </p:spPr>
        <p:txBody>
          <a:bodyPr wrap="square"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02</a:t>
            </a:r>
            <a:endParaRPr lang="en-US" sz="1400" dirty="0"/>
          </a:p>
        </p:txBody>
      </p:sp>
      <p:sp>
        <p:nvSpPr>
          <p:cNvPr id="15" name="Text 13"/>
          <p:cNvSpPr/>
          <p:nvPr/>
        </p:nvSpPr>
        <p:spPr>
          <a:xfrm>
            <a:off x="5303520" y="1572768"/>
            <a:ext cx="34290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Delay Intelligence</a:t>
            </a:r>
            <a:endParaRPr lang="en-US" sz="1400" dirty="0"/>
          </a:p>
        </p:txBody>
      </p:sp>
      <p:sp>
        <p:nvSpPr>
          <p:cNvPr id="16" name="Text 14"/>
          <p:cNvSpPr/>
          <p:nvPr/>
        </p:nvSpPr>
        <p:spPr>
          <a:xfrm>
            <a:off x="4818888" y="2066544"/>
            <a:ext cx="3913632" cy="822960"/>
          </a:xfrm>
          <a:prstGeom prst="rect">
            <a:avLst/>
          </a:prstGeom>
          <a:noFill/>
          <a:ln/>
        </p:spPr>
        <p:txBody>
          <a:bodyPr wrap="square" rtlCol="0" anchor="ctr"/>
          <a:lstStyle/>
          <a:p>
            <a:pPr indent="0" marL="0">
              <a:buNone/>
            </a:pPr>
            <a:r>
              <a:rPr lang="en-US" sz="1000" dirty="0">
                <a:solidFill>
                  <a:srgbClr val="8EADC7"/>
                </a:solidFill>
                <a:latin typeface="Calibri" pitchFamily="34" charset="0"/>
                <a:ea typeface="Calibri" pitchFamily="34" charset="-122"/>
                <a:cs typeface="Calibri" pitchFamily="34" charset="-120"/>
              </a:rPr>
              <a:t>Quantify delay severity using the Delay Severity Index — weighting delay minutes by passenger exposure. Build rolling 3-month averages and holiday delay premium analysis.</a:t>
            </a:r>
            <a:endParaRPr lang="en-US" sz="1000" dirty="0"/>
          </a:p>
        </p:txBody>
      </p:sp>
      <p:sp>
        <p:nvSpPr>
          <p:cNvPr id="17" name="Shape 15"/>
          <p:cNvSpPr/>
          <p:nvPr/>
        </p:nvSpPr>
        <p:spPr>
          <a:xfrm>
            <a:off x="365760" y="3136392"/>
            <a:ext cx="4160520" cy="1554480"/>
          </a:xfrm>
          <a:prstGeom prst="rect">
            <a:avLst/>
          </a:prstGeom>
          <a:solidFill>
            <a:srgbClr val="0F2040"/>
          </a:solidFill>
          <a:ln w="6350">
            <a:solidFill>
              <a:srgbClr val="4A6080"/>
            </a:solidFill>
            <a:prstDash val="solid"/>
          </a:ln>
        </p:spPr>
      </p:sp>
      <p:sp>
        <p:nvSpPr>
          <p:cNvPr id="18" name="Shape 16"/>
          <p:cNvSpPr/>
          <p:nvPr/>
        </p:nvSpPr>
        <p:spPr>
          <a:xfrm>
            <a:off x="475488" y="3246120"/>
            <a:ext cx="384048" cy="384048"/>
          </a:xfrm>
          <a:prstGeom prst="rect">
            <a:avLst/>
          </a:prstGeom>
          <a:solidFill>
            <a:srgbClr val="FF6B6B"/>
          </a:solidFill>
          <a:ln w="12700">
            <a:solidFill>
              <a:srgbClr val="FF6B6B"/>
            </a:solidFill>
            <a:prstDash val="solid"/>
          </a:ln>
        </p:spPr>
      </p:sp>
      <p:sp>
        <p:nvSpPr>
          <p:cNvPr id="19" name="Text 17"/>
          <p:cNvSpPr/>
          <p:nvPr/>
        </p:nvSpPr>
        <p:spPr>
          <a:xfrm>
            <a:off x="475488" y="3246120"/>
            <a:ext cx="384048" cy="384048"/>
          </a:xfrm>
          <a:prstGeom prst="rect">
            <a:avLst/>
          </a:prstGeom>
          <a:noFill/>
          <a:ln/>
        </p:spPr>
        <p:txBody>
          <a:bodyPr wrap="square"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960120" y="3264408"/>
            <a:ext cx="34290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Airline &amp; Pilot Efficiency</a:t>
            </a:r>
            <a:endParaRPr lang="en-US" sz="1400" dirty="0"/>
          </a:p>
        </p:txBody>
      </p:sp>
      <p:sp>
        <p:nvSpPr>
          <p:cNvPr id="21" name="Text 19"/>
          <p:cNvSpPr/>
          <p:nvPr/>
        </p:nvSpPr>
        <p:spPr>
          <a:xfrm>
            <a:off x="475488" y="3758184"/>
            <a:ext cx="3913632" cy="822960"/>
          </a:xfrm>
          <a:prstGeom prst="rect">
            <a:avLst/>
          </a:prstGeom>
          <a:noFill/>
          <a:ln/>
        </p:spPr>
        <p:txBody>
          <a:bodyPr wrap="square" rtlCol="0" anchor="ctr"/>
          <a:lstStyle/>
          <a:p>
            <a:pPr indent="0" marL="0">
              <a:buNone/>
            </a:pPr>
            <a:r>
              <a:rPr lang="en-US" sz="1000" dirty="0">
                <a:solidFill>
                  <a:srgbClr val="8EADC7"/>
                </a:solidFill>
                <a:latin typeface="Calibri" pitchFamily="34" charset="0"/>
                <a:ea typeface="Calibri" pitchFamily="34" charset="-122"/>
                <a:cs typeface="Calibri" pitchFamily="34" charset="-120"/>
              </a:rPr>
              <a:t>Measure Passenger Load Factor, Proxy RASM, and Fuel Per Passenger across airline types. Compare Captain vs First Officer delay trends and correlate pilot ratings to punctuality.</a:t>
            </a:r>
            <a:endParaRPr lang="en-US" sz="1000" dirty="0"/>
          </a:p>
        </p:txBody>
      </p:sp>
      <p:sp>
        <p:nvSpPr>
          <p:cNvPr id="22" name="Shape 20"/>
          <p:cNvSpPr/>
          <p:nvPr/>
        </p:nvSpPr>
        <p:spPr>
          <a:xfrm>
            <a:off x="4709160" y="3136392"/>
            <a:ext cx="4160520" cy="1554480"/>
          </a:xfrm>
          <a:prstGeom prst="rect">
            <a:avLst/>
          </a:prstGeom>
          <a:solidFill>
            <a:srgbClr val="0F2040"/>
          </a:solidFill>
          <a:ln w="6350">
            <a:solidFill>
              <a:srgbClr val="4A6080"/>
            </a:solidFill>
            <a:prstDash val="solid"/>
          </a:ln>
        </p:spPr>
      </p:sp>
      <p:sp>
        <p:nvSpPr>
          <p:cNvPr id="23" name="Shape 21"/>
          <p:cNvSpPr/>
          <p:nvPr/>
        </p:nvSpPr>
        <p:spPr>
          <a:xfrm>
            <a:off x="4818888" y="3246120"/>
            <a:ext cx="384048" cy="384048"/>
          </a:xfrm>
          <a:prstGeom prst="rect">
            <a:avLst/>
          </a:prstGeom>
          <a:solidFill>
            <a:srgbClr val="FFB300"/>
          </a:solidFill>
          <a:ln w="12700">
            <a:solidFill>
              <a:srgbClr val="FFB300"/>
            </a:solidFill>
            <a:prstDash val="solid"/>
          </a:ln>
        </p:spPr>
      </p:sp>
      <p:sp>
        <p:nvSpPr>
          <p:cNvPr id="24" name="Text 22"/>
          <p:cNvSpPr/>
          <p:nvPr/>
        </p:nvSpPr>
        <p:spPr>
          <a:xfrm>
            <a:off x="4818888" y="3246120"/>
            <a:ext cx="384048" cy="384048"/>
          </a:xfrm>
          <a:prstGeom prst="rect">
            <a:avLst/>
          </a:prstGeom>
          <a:noFill/>
          <a:ln/>
        </p:spPr>
        <p:txBody>
          <a:bodyPr wrap="square" rtlCol="0" anchor="ctr"/>
          <a:lstStyle/>
          <a:p>
            <a:pPr algn="ctr" indent="0" marL="0">
              <a:buNone/>
            </a:pPr>
            <a:r>
              <a:rPr lang="en-US" sz="1400" b="1" dirty="0">
                <a:solidFill>
                  <a:srgbClr val="0A1628"/>
                </a:solidFill>
                <a:latin typeface="Calibri" pitchFamily="34" charset="0"/>
                <a:ea typeface="Calibri" pitchFamily="34" charset="-122"/>
                <a:cs typeface="Calibri" pitchFamily="34" charset="-120"/>
              </a:rPr>
              <a:t>04</a:t>
            </a:r>
            <a:endParaRPr lang="en-US" sz="1400" dirty="0"/>
          </a:p>
        </p:txBody>
      </p:sp>
      <p:sp>
        <p:nvSpPr>
          <p:cNvPr id="25" name="Text 23"/>
          <p:cNvSpPr/>
          <p:nvPr/>
        </p:nvSpPr>
        <p:spPr>
          <a:xfrm>
            <a:off x="5303520" y="3264408"/>
            <a:ext cx="34290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Weather Disruption</a:t>
            </a:r>
            <a:endParaRPr lang="en-US" sz="1400" dirty="0"/>
          </a:p>
        </p:txBody>
      </p:sp>
      <p:sp>
        <p:nvSpPr>
          <p:cNvPr id="26" name="Text 24"/>
          <p:cNvSpPr/>
          <p:nvPr/>
        </p:nvSpPr>
        <p:spPr>
          <a:xfrm>
            <a:off x="4818888" y="3758184"/>
            <a:ext cx="3913632" cy="822960"/>
          </a:xfrm>
          <a:prstGeom prst="rect">
            <a:avLst/>
          </a:prstGeom>
          <a:noFill/>
          <a:ln/>
        </p:spPr>
        <p:txBody>
          <a:bodyPr wrap="square" rtlCol="0" anchor="ctr"/>
          <a:lstStyle/>
          <a:p>
            <a:pPr indent="0" marL="0">
              <a:buNone/>
            </a:pPr>
            <a:r>
              <a:rPr lang="en-US" sz="1000" dirty="0">
                <a:solidFill>
                  <a:srgbClr val="8EADC7"/>
                </a:solidFill>
                <a:latin typeface="Calibri" pitchFamily="34" charset="0"/>
                <a:ea typeface="Calibri" pitchFamily="34" charset="-122"/>
                <a:cs typeface="Calibri" pitchFamily="34" charset="-120"/>
              </a:rPr>
              <a:t>Score weather conditions 0–100 using the Weather Impact Score. Analyse Monsoon seasonal spikes, route heatmaps by airport × weather condition, and disruption rate by season.</a:t>
            </a:r>
            <a:endParaRPr lang="en-US" sz="1000" dirty="0"/>
          </a:p>
        </p:txBody>
      </p:sp>
      <p:sp>
        <p:nvSpPr>
          <p:cNvPr id="27" name="Shape 25"/>
          <p:cNvSpPr/>
          <p:nvPr/>
        </p:nvSpPr>
        <p:spPr>
          <a:xfrm>
            <a:off x="0" y="4892040"/>
            <a:ext cx="9144000" cy="251460"/>
          </a:xfrm>
          <a:prstGeom prst="rect">
            <a:avLst/>
          </a:prstGeom>
          <a:solidFill>
            <a:srgbClr val="051020"/>
          </a:solidFill>
          <a:ln w="12700">
            <a:solidFill>
              <a:srgbClr val="051020"/>
            </a:solidFill>
            <a:prstDash val="solid"/>
          </a:ln>
        </p:spPr>
      </p:sp>
      <p:sp>
        <p:nvSpPr>
          <p:cNvPr id="28" name="Text 26"/>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03  ·  DATASET &amp; OVERVIEW</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Dataset Source &amp; Overview</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Dataset origin, table structure and analytical scope</a:t>
            </a:r>
            <a:endParaRPr lang="en-US" sz="1200" dirty="0"/>
          </a:p>
        </p:txBody>
      </p:sp>
      <p:sp>
        <p:nvSpPr>
          <p:cNvPr id="7" name="Shape 5"/>
          <p:cNvSpPr/>
          <p:nvPr/>
        </p:nvSpPr>
        <p:spPr>
          <a:xfrm>
            <a:off x="365760" y="1444752"/>
            <a:ext cx="8412480" cy="274320"/>
          </a:xfrm>
          <a:prstGeom prst="rect">
            <a:avLst/>
          </a:prstGeom>
          <a:solidFill>
            <a:srgbClr val="004D40"/>
          </a:solidFill>
          <a:ln w="6350">
            <a:solidFill>
              <a:srgbClr val="00C9A7"/>
            </a:solidFill>
            <a:prstDash val="solid"/>
          </a:ln>
        </p:spPr>
      </p:sp>
      <p:sp>
        <p:nvSpPr>
          <p:cNvPr id="8" name="Text 6"/>
          <p:cNvSpPr/>
          <p:nvPr/>
        </p:nvSpPr>
        <p:spPr>
          <a:xfrm>
            <a:off x="502920" y="1463040"/>
            <a:ext cx="8138160" cy="237744"/>
          </a:xfrm>
          <a:prstGeom prst="rect">
            <a:avLst/>
          </a:prstGeom>
          <a:noFill/>
          <a:ln/>
        </p:spPr>
        <p:txBody>
          <a:bodyPr wrap="square" rtlCol="0" anchor="ctr"/>
          <a:lstStyle/>
          <a:p>
            <a:pPr indent="0" marL="0">
              <a:buNone/>
            </a:pPr>
            <a:r>
              <a:rPr lang="en-US" sz="900" dirty="0">
                <a:solidFill>
                  <a:srgbClr val="00C9A7"/>
                </a:solidFill>
                <a:latin typeface="Calibri" pitchFamily="34" charset="0"/>
                <a:ea typeface="Calibri" pitchFamily="34" charset="-122"/>
                <a:cs typeface="Calibri" pitchFamily="34" charset="-120"/>
              </a:rPr>
              <a:t>Dataset:  Airport Operations  |  Source: Synthetically Generated  |  2,000 Flights  ·  80 Pilots  ·  10 Airports  ·  8 Airlines</a:t>
            </a:r>
            <a:endParaRPr lang="en-US" sz="900" dirty="0"/>
          </a:p>
        </p:txBody>
      </p:sp>
      <p:sp>
        <p:nvSpPr>
          <p:cNvPr id="9" name="Shape 7"/>
          <p:cNvSpPr/>
          <p:nvPr/>
        </p:nvSpPr>
        <p:spPr>
          <a:xfrm>
            <a:off x="365760" y="1828800"/>
            <a:ext cx="2697480" cy="868680"/>
          </a:xfrm>
          <a:prstGeom prst="rect">
            <a:avLst/>
          </a:prstGeom>
          <a:solidFill>
            <a:srgbClr val="0F2040"/>
          </a:solidFill>
          <a:ln w="6350">
            <a:solidFill>
              <a:srgbClr val="4A6080"/>
            </a:solidFill>
            <a:prstDash val="solid"/>
          </a:ln>
        </p:spPr>
      </p:sp>
      <p:sp>
        <p:nvSpPr>
          <p:cNvPr id="10" name="Shape 8"/>
          <p:cNvSpPr/>
          <p:nvPr/>
        </p:nvSpPr>
        <p:spPr>
          <a:xfrm>
            <a:off x="365760" y="1828800"/>
            <a:ext cx="54864" cy="868680"/>
          </a:xfrm>
          <a:prstGeom prst="rect">
            <a:avLst/>
          </a:prstGeom>
          <a:solidFill>
            <a:srgbClr val="00C9A7"/>
          </a:solidFill>
          <a:ln w="12700">
            <a:solidFill>
              <a:srgbClr val="00C9A7"/>
            </a:solidFill>
            <a:prstDash val="solid"/>
          </a:ln>
        </p:spPr>
      </p:sp>
      <p:sp>
        <p:nvSpPr>
          <p:cNvPr id="11" name="Text 9"/>
          <p:cNvSpPr/>
          <p:nvPr/>
        </p:nvSpPr>
        <p:spPr>
          <a:xfrm>
            <a:off x="493776" y="1883664"/>
            <a:ext cx="246888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Flight Intelligence</a:t>
            </a:r>
            <a:endParaRPr lang="en-US" sz="1100" dirty="0"/>
          </a:p>
        </p:txBody>
      </p:sp>
      <p:sp>
        <p:nvSpPr>
          <p:cNvPr id="12" name="Text 10"/>
          <p:cNvSpPr/>
          <p:nvPr/>
        </p:nvSpPr>
        <p:spPr>
          <a:xfrm>
            <a:off x="493776" y="2139696"/>
            <a:ext cx="2468880" cy="493776"/>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Auditing OTP%, delay patterns, cancellation rates, and fuel consumption across airlines, airports, and time periods for 2023–2024.</a:t>
            </a:r>
            <a:endParaRPr lang="en-US" sz="900" dirty="0"/>
          </a:p>
        </p:txBody>
      </p:sp>
      <p:sp>
        <p:nvSpPr>
          <p:cNvPr id="13" name="Shape 11"/>
          <p:cNvSpPr/>
          <p:nvPr/>
        </p:nvSpPr>
        <p:spPr>
          <a:xfrm>
            <a:off x="3182112" y="1828800"/>
            <a:ext cx="2697480" cy="868680"/>
          </a:xfrm>
          <a:prstGeom prst="rect">
            <a:avLst/>
          </a:prstGeom>
          <a:solidFill>
            <a:srgbClr val="0F2040"/>
          </a:solidFill>
          <a:ln w="6350">
            <a:solidFill>
              <a:srgbClr val="4A6080"/>
            </a:solidFill>
            <a:prstDash val="solid"/>
          </a:ln>
        </p:spPr>
      </p:sp>
      <p:sp>
        <p:nvSpPr>
          <p:cNvPr id="14" name="Shape 12"/>
          <p:cNvSpPr/>
          <p:nvPr/>
        </p:nvSpPr>
        <p:spPr>
          <a:xfrm>
            <a:off x="3182112" y="1828800"/>
            <a:ext cx="54864" cy="868680"/>
          </a:xfrm>
          <a:prstGeom prst="rect">
            <a:avLst/>
          </a:prstGeom>
          <a:solidFill>
            <a:srgbClr val="2196F3"/>
          </a:solidFill>
          <a:ln w="12700">
            <a:solidFill>
              <a:srgbClr val="2196F3"/>
            </a:solidFill>
            <a:prstDash val="solid"/>
          </a:ln>
        </p:spPr>
      </p:sp>
      <p:sp>
        <p:nvSpPr>
          <p:cNvPr id="15" name="Text 13"/>
          <p:cNvSpPr/>
          <p:nvPr/>
        </p:nvSpPr>
        <p:spPr>
          <a:xfrm>
            <a:off x="3310128" y="1883664"/>
            <a:ext cx="246888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&amp; Crew Analytics</a:t>
            </a:r>
            <a:endParaRPr lang="en-US" sz="1100" dirty="0"/>
          </a:p>
        </p:txBody>
      </p:sp>
      <p:sp>
        <p:nvSpPr>
          <p:cNvPr id="16" name="Text 14"/>
          <p:cNvSpPr/>
          <p:nvPr/>
        </p:nvSpPr>
        <p:spPr>
          <a:xfrm>
            <a:off x="3310128" y="2139696"/>
            <a:ext cx="2468880" cy="493776"/>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Captain vs First Officer delay comparison, pilot rating correlation, experience band analysis, and monthly duty hour tracking.</a:t>
            </a:r>
            <a:endParaRPr lang="en-US" sz="900" dirty="0"/>
          </a:p>
        </p:txBody>
      </p:sp>
      <p:sp>
        <p:nvSpPr>
          <p:cNvPr id="17" name="Shape 15"/>
          <p:cNvSpPr/>
          <p:nvPr/>
        </p:nvSpPr>
        <p:spPr>
          <a:xfrm>
            <a:off x="5998464" y="1828800"/>
            <a:ext cx="2697480" cy="868680"/>
          </a:xfrm>
          <a:prstGeom prst="rect">
            <a:avLst/>
          </a:prstGeom>
          <a:solidFill>
            <a:srgbClr val="0F2040"/>
          </a:solidFill>
          <a:ln w="6350">
            <a:solidFill>
              <a:srgbClr val="4A6080"/>
            </a:solidFill>
            <a:prstDash val="solid"/>
          </a:ln>
        </p:spPr>
      </p:sp>
      <p:sp>
        <p:nvSpPr>
          <p:cNvPr id="18" name="Shape 16"/>
          <p:cNvSpPr/>
          <p:nvPr/>
        </p:nvSpPr>
        <p:spPr>
          <a:xfrm>
            <a:off x="5998464" y="1828800"/>
            <a:ext cx="54864" cy="868680"/>
          </a:xfrm>
          <a:prstGeom prst="rect">
            <a:avLst/>
          </a:prstGeom>
          <a:solidFill>
            <a:srgbClr val="FF6B6B"/>
          </a:solidFill>
          <a:ln w="12700">
            <a:solidFill>
              <a:srgbClr val="FF6B6B"/>
            </a:solidFill>
            <a:prstDash val="solid"/>
          </a:ln>
        </p:spPr>
      </p:sp>
      <p:sp>
        <p:nvSpPr>
          <p:cNvPr id="19" name="Text 17"/>
          <p:cNvSpPr/>
          <p:nvPr/>
        </p:nvSpPr>
        <p:spPr>
          <a:xfrm>
            <a:off x="6126480" y="1883664"/>
            <a:ext cx="246888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Weather Disruption</a:t>
            </a:r>
            <a:endParaRPr lang="en-US" sz="1100" dirty="0"/>
          </a:p>
        </p:txBody>
      </p:sp>
      <p:sp>
        <p:nvSpPr>
          <p:cNvPr id="20" name="Text 18"/>
          <p:cNvSpPr/>
          <p:nvPr/>
        </p:nvSpPr>
        <p:spPr>
          <a:xfrm>
            <a:off x="6126480" y="2139696"/>
            <a:ext cx="2468880" cy="493776"/>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Weather Impact Score (0–100), Monsoon disruption analysis, route-level heatmaps, and seasonal disruption mix breakdown.</a:t>
            </a:r>
            <a:endParaRPr lang="en-US" sz="900" dirty="0"/>
          </a:p>
        </p:txBody>
      </p:sp>
      <p:sp>
        <p:nvSpPr>
          <p:cNvPr id="21" name="Shape 19"/>
          <p:cNvSpPr/>
          <p:nvPr/>
        </p:nvSpPr>
        <p:spPr>
          <a:xfrm>
            <a:off x="365760" y="2834640"/>
            <a:ext cx="8412480" cy="219456"/>
          </a:xfrm>
          <a:prstGeom prst="rect">
            <a:avLst/>
          </a:prstGeom>
          <a:solidFill>
            <a:srgbClr val="004D40"/>
          </a:solidFill>
          <a:ln w="6350">
            <a:solidFill>
              <a:srgbClr val="00C9A7"/>
            </a:solidFill>
            <a:prstDash val="solid"/>
          </a:ln>
        </p:spPr>
      </p:sp>
      <p:sp>
        <p:nvSpPr>
          <p:cNvPr id="22" name="Text 20"/>
          <p:cNvSpPr/>
          <p:nvPr/>
        </p:nvSpPr>
        <p:spPr>
          <a:xfrm>
            <a:off x="457200" y="2843784"/>
            <a:ext cx="8229600" cy="201168"/>
          </a:xfrm>
          <a:prstGeom prst="rect">
            <a:avLst/>
          </a:prstGeom>
          <a:noFill/>
          <a:ln/>
        </p:spPr>
        <p:txBody>
          <a:bodyPr wrap="square" rtlCol="0" anchor="ctr"/>
          <a:lstStyle/>
          <a:p>
            <a:pPr indent="0" marL="0">
              <a:buNone/>
            </a:pPr>
            <a:r>
              <a:rPr lang="en-US" sz="850" b="1" spc="200" kern="0" dirty="0">
                <a:solidFill>
                  <a:srgbClr val="00C9A7"/>
                </a:solidFill>
                <a:latin typeface="Calibri" pitchFamily="34" charset="0"/>
                <a:ea typeface="Calibri" pitchFamily="34" charset="-122"/>
                <a:cs typeface="Calibri" pitchFamily="34" charset="-120"/>
              </a:rPr>
              <a:t>TABLE STRUCTURE</a:t>
            </a:r>
            <a:endParaRPr lang="en-US" sz="850" dirty="0"/>
          </a:p>
        </p:txBody>
      </p:sp>
      <p:sp>
        <p:nvSpPr>
          <p:cNvPr id="23" name="Shape 21"/>
          <p:cNvSpPr/>
          <p:nvPr/>
        </p:nvSpPr>
        <p:spPr>
          <a:xfrm>
            <a:off x="365760" y="3127248"/>
            <a:ext cx="8412480" cy="310896"/>
          </a:xfrm>
          <a:prstGeom prst="rect">
            <a:avLst/>
          </a:prstGeom>
          <a:solidFill>
            <a:srgbClr val="0F2040"/>
          </a:solidFill>
          <a:ln w="3810">
            <a:solidFill>
              <a:srgbClr val="4A6080"/>
            </a:solidFill>
            <a:prstDash val="solid"/>
          </a:ln>
        </p:spPr>
      </p:sp>
      <p:sp>
        <p:nvSpPr>
          <p:cNvPr id="24" name="Text 22"/>
          <p:cNvSpPr/>
          <p:nvPr/>
        </p:nvSpPr>
        <p:spPr>
          <a:xfrm>
            <a:off x="457200" y="3163824"/>
            <a:ext cx="1508760" cy="237744"/>
          </a:xfrm>
          <a:prstGeom prst="rect">
            <a:avLst/>
          </a:prstGeom>
          <a:noFill/>
          <a:ln/>
        </p:spPr>
        <p:txBody>
          <a:bodyPr wrap="square" rtlCol="0" anchor="ctr"/>
          <a:lstStyle/>
          <a:p>
            <a:pPr indent="0" marL="0">
              <a:buNone/>
            </a:pPr>
            <a:r>
              <a:rPr lang="en-US" sz="1000" b="1" dirty="0">
                <a:solidFill>
                  <a:srgbClr val="00C9A7"/>
                </a:solidFill>
                <a:latin typeface="Calibri" pitchFamily="34" charset="0"/>
                <a:ea typeface="Calibri" pitchFamily="34" charset="-122"/>
                <a:cs typeface="Calibri" pitchFamily="34" charset="-120"/>
              </a:rPr>
              <a:t>FactFlights</a:t>
            </a:r>
            <a:endParaRPr lang="en-US" sz="1000" dirty="0"/>
          </a:p>
        </p:txBody>
      </p:sp>
      <p:sp>
        <p:nvSpPr>
          <p:cNvPr id="25" name="Text 23"/>
          <p:cNvSpPr/>
          <p:nvPr/>
        </p:nvSpPr>
        <p:spPr>
          <a:xfrm>
            <a:off x="2011680" y="3163824"/>
            <a:ext cx="1005840" cy="237744"/>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2,000 rows</a:t>
            </a:r>
            <a:endParaRPr lang="en-US" sz="950" dirty="0"/>
          </a:p>
        </p:txBody>
      </p:sp>
      <p:sp>
        <p:nvSpPr>
          <p:cNvPr id="26" name="Text 24"/>
          <p:cNvSpPr/>
          <p:nvPr/>
        </p:nvSpPr>
        <p:spPr>
          <a:xfrm>
            <a:off x="3063240" y="3163824"/>
            <a:ext cx="5577840" cy="237744"/>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Core fact table — FlightID, DateKey, AirportKey, AirlineKey, PilotKey, DelayMinutes, PassengersOnboard, FuelUsedLiters</a:t>
            </a:r>
            <a:endParaRPr lang="en-US" sz="900" dirty="0"/>
          </a:p>
        </p:txBody>
      </p:sp>
      <p:sp>
        <p:nvSpPr>
          <p:cNvPr id="27" name="Shape 25"/>
          <p:cNvSpPr/>
          <p:nvPr/>
        </p:nvSpPr>
        <p:spPr>
          <a:xfrm>
            <a:off x="365760" y="3465576"/>
            <a:ext cx="8412480" cy="310896"/>
          </a:xfrm>
          <a:prstGeom prst="rect">
            <a:avLst/>
          </a:prstGeom>
          <a:solidFill>
            <a:srgbClr val="0D1A35"/>
          </a:solidFill>
          <a:ln w="3810">
            <a:solidFill>
              <a:srgbClr val="4A6080"/>
            </a:solidFill>
            <a:prstDash val="solid"/>
          </a:ln>
        </p:spPr>
      </p:sp>
      <p:sp>
        <p:nvSpPr>
          <p:cNvPr id="28" name="Text 26"/>
          <p:cNvSpPr/>
          <p:nvPr/>
        </p:nvSpPr>
        <p:spPr>
          <a:xfrm>
            <a:off x="457200" y="3502152"/>
            <a:ext cx="1508760" cy="237744"/>
          </a:xfrm>
          <a:prstGeom prst="rect">
            <a:avLst/>
          </a:prstGeom>
          <a:noFill/>
          <a:ln/>
        </p:spPr>
        <p:txBody>
          <a:bodyPr wrap="square" rtlCol="0" anchor="ctr"/>
          <a:lstStyle/>
          <a:p>
            <a:pPr indent="0" marL="0">
              <a:buNone/>
            </a:pPr>
            <a:r>
              <a:rPr lang="en-US" sz="1000" b="1" dirty="0">
                <a:solidFill>
                  <a:srgbClr val="00C9A7"/>
                </a:solidFill>
                <a:latin typeface="Calibri" pitchFamily="34" charset="0"/>
                <a:ea typeface="Calibri" pitchFamily="34" charset="-122"/>
                <a:cs typeface="Calibri" pitchFamily="34" charset="-120"/>
              </a:rPr>
              <a:t>DimDate</a:t>
            </a:r>
            <a:endParaRPr lang="en-US" sz="1000" dirty="0"/>
          </a:p>
        </p:txBody>
      </p:sp>
      <p:sp>
        <p:nvSpPr>
          <p:cNvPr id="29" name="Text 27"/>
          <p:cNvSpPr/>
          <p:nvPr/>
        </p:nvSpPr>
        <p:spPr>
          <a:xfrm>
            <a:off x="2011680" y="3502152"/>
            <a:ext cx="1005840" cy="237744"/>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731 rows</a:t>
            </a:r>
            <a:endParaRPr lang="en-US" sz="950" dirty="0"/>
          </a:p>
        </p:txBody>
      </p:sp>
      <p:sp>
        <p:nvSpPr>
          <p:cNvPr id="30" name="Text 28"/>
          <p:cNvSpPr/>
          <p:nvPr/>
        </p:nvSpPr>
        <p:spPr>
          <a:xfrm>
            <a:off x="3063240" y="3502152"/>
            <a:ext cx="5577840" cy="237744"/>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Date, Year, Quarter, Month, Season, IsHoliday, IsWeekend, IsPeakTravelMonth — enables time intelligence</a:t>
            </a:r>
            <a:endParaRPr lang="en-US" sz="900" dirty="0"/>
          </a:p>
        </p:txBody>
      </p:sp>
      <p:sp>
        <p:nvSpPr>
          <p:cNvPr id="31" name="Shape 29"/>
          <p:cNvSpPr/>
          <p:nvPr/>
        </p:nvSpPr>
        <p:spPr>
          <a:xfrm>
            <a:off x="365760" y="3803904"/>
            <a:ext cx="8412480" cy="310896"/>
          </a:xfrm>
          <a:prstGeom prst="rect">
            <a:avLst/>
          </a:prstGeom>
          <a:solidFill>
            <a:srgbClr val="0F2040"/>
          </a:solidFill>
          <a:ln w="3810">
            <a:solidFill>
              <a:srgbClr val="4A6080"/>
            </a:solidFill>
            <a:prstDash val="solid"/>
          </a:ln>
        </p:spPr>
      </p:sp>
      <p:sp>
        <p:nvSpPr>
          <p:cNvPr id="32" name="Text 30"/>
          <p:cNvSpPr/>
          <p:nvPr/>
        </p:nvSpPr>
        <p:spPr>
          <a:xfrm>
            <a:off x="457200" y="3840480"/>
            <a:ext cx="1508760" cy="237744"/>
          </a:xfrm>
          <a:prstGeom prst="rect">
            <a:avLst/>
          </a:prstGeom>
          <a:noFill/>
          <a:ln/>
        </p:spPr>
        <p:txBody>
          <a:bodyPr wrap="square" rtlCol="0" anchor="ctr"/>
          <a:lstStyle/>
          <a:p>
            <a:pPr indent="0" marL="0">
              <a:buNone/>
            </a:pPr>
            <a:r>
              <a:rPr lang="en-US" sz="1000" b="1" dirty="0">
                <a:solidFill>
                  <a:srgbClr val="00C9A7"/>
                </a:solidFill>
                <a:latin typeface="Calibri" pitchFamily="34" charset="0"/>
                <a:ea typeface="Calibri" pitchFamily="34" charset="-122"/>
                <a:cs typeface="Calibri" pitchFamily="34" charset="-120"/>
              </a:rPr>
              <a:t>DimAirport</a:t>
            </a:r>
            <a:endParaRPr lang="en-US" sz="1000" dirty="0"/>
          </a:p>
        </p:txBody>
      </p:sp>
      <p:sp>
        <p:nvSpPr>
          <p:cNvPr id="33" name="Text 31"/>
          <p:cNvSpPr/>
          <p:nvPr/>
        </p:nvSpPr>
        <p:spPr>
          <a:xfrm>
            <a:off x="2011680" y="3840480"/>
            <a:ext cx="1005840" cy="237744"/>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10 rows</a:t>
            </a:r>
            <a:endParaRPr lang="en-US" sz="950" dirty="0"/>
          </a:p>
        </p:txBody>
      </p:sp>
      <p:sp>
        <p:nvSpPr>
          <p:cNvPr id="34" name="Text 32"/>
          <p:cNvSpPr/>
          <p:nvPr/>
        </p:nvSpPr>
        <p:spPr>
          <a:xfrm>
            <a:off x="3063240" y="3840480"/>
            <a:ext cx="5577840" cy="237744"/>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AirportCode, City, State, Region, Latitude, Longitude, Category, Terminals, Gates — supports map visuals</a:t>
            </a:r>
            <a:endParaRPr lang="en-US" sz="900" dirty="0"/>
          </a:p>
        </p:txBody>
      </p:sp>
      <p:sp>
        <p:nvSpPr>
          <p:cNvPr id="35" name="Shape 33"/>
          <p:cNvSpPr/>
          <p:nvPr/>
        </p:nvSpPr>
        <p:spPr>
          <a:xfrm>
            <a:off x="365760" y="4142232"/>
            <a:ext cx="8412480" cy="310896"/>
          </a:xfrm>
          <a:prstGeom prst="rect">
            <a:avLst/>
          </a:prstGeom>
          <a:solidFill>
            <a:srgbClr val="0D1A35"/>
          </a:solidFill>
          <a:ln w="3810">
            <a:solidFill>
              <a:srgbClr val="4A6080"/>
            </a:solidFill>
            <a:prstDash val="solid"/>
          </a:ln>
        </p:spPr>
      </p:sp>
      <p:sp>
        <p:nvSpPr>
          <p:cNvPr id="36" name="Text 34"/>
          <p:cNvSpPr/>
          <p:nvPr/>
        </p:nvSpPr>
        <p:spPr>
          <a:xfrm>
            <a:off x="457200" y="4178808"/>
            <a:ext cx="1508760" cy="237744"/>
          </a:xfrm>
          <a:prstGeom prst="rect">
            <a:avLst/>
          </a:prstGeom>
          <a:noFill/>
          <a:ln/>
        </p:spPr>
        <p:txBody>
          <a:bodyPr wrap="square" rtlCol="0" anchor="ctr"/>
          <a:lstStyle/>
          <a:p>
            <a:pPr indent="0" marL="0">
              <a:buNone/>
            </a:pPr>
            <a:r>
              <a:rPr lang="en-US" sz="1000" b="1" dirty="0">
                <a:solidFill>
                  <a:srgbClr val="00C9A7"/>
                </a:solidFill>
                <a:latin typeface="Calibri" pitchFamily="34" charset="0"/>
                <a:ea typeface="Calibri" pitchFamily="34" charset="-122"/>
                <a:cs typeface="Calibri" pitchFamily="34" charset="-120"/>
              </a:rPr>
              <a:t>DimAirline</a:t>
            </a:r>
            <a:endParaRPr lang="en-US" sz="1000" dirty="0"/>
          </a:p>
        </p:txBody>
      </p:sp>
      <p:sp>
        <p:nvSpPr>
          <p:cNvPr id="37" name="Text 35"/>
          <p:cNvSpPr/>
          <p:nvPr/>
        </p:nvSpPr>
        <p:spPr>
          <a:xfrm>
            <a:off x="2011680" y="4178808"/>
            <a:ext cx="1005840" cy="237744"/>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8 rows</a:t>
            </a:r>
            <a:endParaRPr lang="en-US" sz="950" dirty="0"/>
          </a:p>
        </p:txBody>
      </p:sp>
      <p:sp>
        <p:nvSpPr>
          <p:cNvPr id="38" name="Text 36"/>
          <p:cNvSpPr/>
          <p:nvPr/>
        </p:nvSpPr>
        <p:spPr>
          <a:xfrm>
            <a:off x="3063240" y="4178808"/>
            <a:ext cx="5577840" cy="237744"/>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Airline, AirlineType, HubAirport, FleetSize, IsLCC, FreeMeals, HasLounge — enables LCC vs Full Service analysis</a:t>
            </a:r>
            <a:endParaRPr lang="en-US" sz="900" dirty="0"/>
          </a:p>
        </p:txBody>
      </p:sp>
      <p:sp>
        <p:nvSpPr>
          <p:cNvPr id="39" name="Shape 37"/>
          <p:cNvSpPr/>
          <p:nvPr/>
        </p:nvSpPr>
        <p:spPr>
          <a:xfrm>
            <a:off x="365760" y="4480560"/>
            <a:ext cx="8412480" cy="310896"/>
          </a:xfrm>
          <a:prstGeom prst="rect">
            <a:avLst/>
          </a:prstGeom>
          <a:solidFill>
            <a:srgbClr val="0F2040"/>
          </a:solidFill>
          <a:ln w="3810">
            <a:solidFill>
              <a:srgbClr val="4A6080"/>
            </a:solidFill>
            <a:prstDash val="solid"/>
          </a:ln>
        </p:spPr>
      </p:sp>
      <p:sp>
        <p:nvSpPr>
          <p:cNvPr id="40" name="Text 38"/>
          <p:cNvSpPr/>
          <p:nvPr/>
        </p:nvSpPr>
        <p:spPr>
          <a:xfrm>
            <a:off x="457200" y="4517136"/>
            <a:ext cx="1508760" cy="237744"/>
          </a:xfrm>
          <a:prstGeom prst="rect">
            <a:avLst/>
          </a:prstGeom>
          <a:noFill/>
          <a:ln/>
        </p:spPr>
        <p:txBody>
          <a:bodyPr wrap="square" rtlCol="0" anchor="ctr"/>
          <a:lstStyle/>
          <a:p>
            <a:pPr indent="0" marL="0">
              <a:buNone/>
            </a:pPr>
            <a:r>
              <a:rPr lang="en-US" sz="1000" b="1" dirty="0">
                <a:solidFill>
                  <a:srgbClr val="00C9A7"/>
                </a:solidFill>
                <a:latin typeface="Calibri" pitchFamily="34" charset="0"/>
                <a:ea typeface="Calibri" pitchFamily="34" charset="-122"/>
                <a:cs typeface="Calibri" pitchFamily="34" charset="-120"/>
              </a:rPr>
              <a:t>DimPilot</a:t>
            </a:r>
            <a:endParaRPr lang="en-US" sz="1000" dirty="0"/>
          </a:p>
        </p:txBody>
      </p:sp>
      <p:sp>
        <p:nvSpPr>
          <p:cNvPr id="41" name="Text 39"/>
          <p:cNvSpPr/>
          <p:nvPr/>
        </p:nvSpPr>
        <p:spPr>
          <a:xfrm>
            <a:off x="2011680" y="4517136"/>
            <a:ext cx="1005840" cy="237744"/>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80 rows</a:t>
            </a:r>
            <a:endParaRPr lang="en-US" sz="950" dirty="0"/>
          </a:p>
        </p:txBody>
      </p:sp>
      <p:sp>
        <p:nvSpPr>
          <p:cNvPr id="42" name="Text 40"/>
          <p:cNvSpPr/>
          <p:nvPr/>
        </p:nvSpPr>
        <p:spPr>
          <a:xfrm>
            <a:off x="3063240" y="4517136"/>
            <a:ext cx="5577840" cy="237744"/>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PilotID, Rank, ExperienceYears, Rating, AirlineKey, ExperienceBand, RatingBand — crew performance layer</a:t>
            </a:r>
            <a:endParaRPr lang="en-US" sz="900" dirty="0"/>
          </a:p>
        </p:txBody>
      </p:sp>
      <p:sp>
        <p:nvSpPr>
          <p:cNvPr id="43" name="Shape 41"/>
          <p:cNvSpPr/>
          <p:nvPr/>
        </p:nvSpPr>
        <p:spPr>
          <a:xfrm>
            <a:off x="0" y="4892040"/>
            <a:ext cx="9144000" cy="251460"/>
          </a:xfrm>
          <a:prstGeom prst="rect">
            <a:avLst/>
          </a:prstGeom>
          <a:solidFill>
            <a:srgbClr val="051020"/>
          </a:solidFill>
          <a:ln w="12700">
            <a:solidFill>
              <a:srgbClr val="051020"/>
            </a:solidFill>
            <a:prstDash val="solid"/>
          </a:ln>
        </p:spPr>
      </p:sp>
      <p:sp>
        <p:nvSpPr>
          <p:cNvPr id="44" name="Text 42"/>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04  ·  SCHEMA OVERVIEW</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Columns &amp; Data Types</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Schema overview of the 2,000-record flight dataset</a:t>
            </a:r>
            <a:endParaRPr lang="en-US" sz="1200" dirty="0"/>
          </a:p>
        </p:txBody>
      </p:sp>
      <p:sp>
        <p:nvSpPr>
          <p:cNvPr id="7" name="Shape 5"/>
          <p:cNvSpPr/>
          <p:nvPr/>
        </p:nvSpPr>
        <p:spPr>
          <a:xfrm>
            <a:off x="365760" y="1417320"/>
            <a:ext cx="8412480" cy="292608"/>
          </a:xfrm>
          <a:prstGeom prst="rect">
            <a:avLst/>
          </a:prstGeom>
          <a:solidFill>
            <a:srgbClr val="004D40"/>
          </a:solidFill>
          <a:ln w="6350">
            <a:solidFill>
              <a:srgbClr val="00C9A7"/>
            </a:solidFill>
            <a:prstDash val="solid"/>
          </a:ln>
        </p:spPr>
      </p:sp>
      <p:sp>
        <p:nvSpPr>
          <p:cNvPr id="8" name="Text 6"/>
          <p:cNvSpPr/>
          <p:nvPr/>
        </p:nvSpPr>
        <p:spPr>
          <a:xfrm>
            <a:off x="457200" y="1435608"/>
            <a:ext cx="1645920" cy="256032"/>
          </a:xfrm>
          <a:prstGeom prst="rect">
            <a:avLst/>
          </a:prstGeom>
          <a:noFill/>
          <a:ln/>
        </p:spPr>
        <p:txBody>
          <a:bodyPr wrap="square" rtlCol="0" anchor="ctr"/>
          <a:lstStyle/>
          <a:p>
            <a:pPr indent="0" marL="0">
              <a:buNone/>
            </a:pPr>
            <a:r>
              <a:rPr lang="en-US" sz="950" b="1" spc="100" kern="0" dirty="0">
                <a:solidFill>
                  <a:srgbClr val="00C9A7"/>
                </a:solidFill>
                <a:latin typeface="Calibri" pitchFamily="34" charset="0"/>
                <a:ea typeface="Calibri" pitchFamily="34" charset="-122"/>
                <a:cs typeface="Calibri" pitchFamily="34" charset="-120"/>
              </a:rPr>
              <a:t>Column</a:t>
            </a:r>
            <a:endParaRPr lang="en-US" sz="950" dirty="0"/>
          </a:p>
        </p:txBody>
      </p:sp>
      <p:sp>
        <p:nvSpPr>
          <p:cNvPr id="9" name="Text 7"/>
          <p:cNvSpPr/>
          <p:nvPr/>
        </p:nvSpPr>
        <p:spPr>
          <a:xfrm>
            <a:off x="2194560" y="1435608"/>
            <a:ext cx="1097280" cy="256032"/>
          </a:xfrm>
          <a:prstGeom prst="rect">
            <a:avLst/>
          </a:prstGeom>
          <a:noFill/>
          <a:ln/>
        </p:spPr>
        <p:txBody>
          <a:bodyPr wrap="square" rtlCol="0" anchor="ctr"/>
          <a:lstStyle/>
          <a:p>
            <a:pPr indent="0" marL="0">
              <a:buNone/>
            </a:pPr>
            <a:r>
              <a:rPr lang="en-US" sz="950" b="1" spc="100" kern="0" dirty="0">
                <a:solidFill>
                  <a:srgbClr val="00C9A7"/>
                </a:solidFill>
                <a:latin typeface="Calibri" pitchFamily="34" charset="0"/>
                <a:ea typeface="Calibri" pitchFamily="34" charset="-122"/>
                <a:cs typeface="Calibri" pitchFamily="34" charset="-120"/>
              </a:rPr>
              <a:t>Type</a:t>
            </a:r>
            <a:endParaRPr lang="en-US" sz="950" dirty="0"/>
          </a:p>
        </p:txBody>
      </p:sp>
      <p:sp>
        <p:nvSpPr>
          <p:cNvPr id="10" name="Text 8"/>
          <p:cNvSpPr/>
          <p:nvPr/>
        </p:nvSpPr>
        <p:spPr>
          <a:xfrm>
            <a:off x="3383280" y="1435608"/>
            <a:ext cx="5349240" cy="256032"/>
          </a:xfrm>
          <a:prstGeom prst="rect">
            <a:avLst/>
          </a:prstGeom>
          <a:noFill/>
          <a:ln/>
        </p:spPr>
        <p:txBody>
          <a:bodyPr wrap="square" rtlCol="0" anchor="ctr"/>
          <a:lstStyle/>
          <a:p>
            <a:pPr indent="0" marL="0">
              <a:buNone/>
            </a:pPr>
            <a:r>
              <a:rPr lang="en-US" sz="950" b="1" spc="100" kern="0" dirty="0">
                <a:solidFill>
                  <a:srgbClr val="00C9A7"/>
                </a:solidFill>
                <a:latin typeface="Calibri" pitchFamily="34" charset="0"/>
                <a:ea typeface="Calibri" pitchFamily="34" charset="-122"/>
                <a:cs typeface="Calibri" pitchFamily="34" charset="-120"/>
              </a:rPr>
              <a:t>Purpose in Dashboard</a:t>
            </a:r>
            <a:endParaRPr lang="en-US" sz="950" dirty="0"/>
          </a:p>
        </p:txBody>
      </p:sp>
      <p:sp>
        <p:nvSpPr>
          <p:cNvPr id="11" name="Shape 9"/>
          <p:cNvSpPr/>
          <p:nvPr/>
        </p:nvSpPr>
        <p:spPr>
          <a:xfrm>
            <a:off x="365760" y="1764792"/>
            <a:ext cx="8412480" cy="228600"/>
          </a:xfrm>
          <a:prstGeom prst="rect">
            <a:avLst/>
          </a:prstGeom>
          <a:solidFill>
            <a:srgbClr val="0F2040"/>
          </a:solidFill>
          <a:ln w="3810">
            <a:solidFill>
              <a:srgbClr val="4A6080"/>
            </a:solidFill>
            <a:prstDash val="solid"/>
          </a:ln>
        </p:spPr>
      </p:sp>
      <p:sp>
        <p:nvSpPr>
          <p:cNvPr id="12" name="Text 10"/>
          <p:cNvSpPr/>
          <p:nvPr/>
        </p:nvSpPr>
        <p:spPr>
          <a:xfrm>
            <a:off x="457200" y="1792224"/>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FlightID</a:t>
            </a:r>
            <a:endParaRPr lang="en-US" sz="950" dirty="0"/>
          </a:p>
        </p:txBody>
      </p:sp>
      <p:sp>
        <p:nvSpPr>
          <p:cNvPr id="13" name="Text 11"/>
          <p:cNvSpPr/>
          <p:nvPr/>
        </p:nvSpPr>
        <p:spPr>
          <a:xfrm>
            <a:off x="2194560" y="1792224"/>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Text</a:t>
            </a:r>
            <a:endParaRPr lang="en-US" sz="900" dirty="0"/>
          </a:p>
        </p:txBody>
      </p:sp>
      <p:sp>
        <p:nvSpPr>
          <p:cNvPr id="14" name="Text 12"/>
          <p:cNvSpPr/>
          <p:nvPr/>
        </p:nvSpPr>
        <p:spPr>
          <a:xfrm>
            <a:off x="3383280" y="1792224"/>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Unique flight identifier — primary key for FactFlights</a:t>
            </a:r>
            <a:endParaRPr lang="en-US" sz="900" dirty="0"/>
          </a:p>
        </p:txBody>
      </p:sp>
      <p:sp>
        <p:nvSpPr>
          <p:cNvPr id="15" name="Shape 13"/>
          <p:cNvSpPr/>
          <p:nvPr/>
        </p:nvSpPr>
        <p:spPr>
          <a:xfrm>
            <a:off x="365760" y="2011680"/>
            <a:ext cx="8412480" cy="228600"/>
          </a:xfrm>
          <a:prstGeom prst="rect">
            <a:avLst/>
          </a:prstGeom>
          <a:solidFill>
            <a:srgbClr val="0D1A35"/>
          </a:solidFill>
          <a:ln w="3810">
            <a:solidFill>
              <a:srgbClr val="4A6080"/>
            </a:solidFill>
            <a:prstDash val="solid"/>
          </a:ln>
        </p:spPr>
      </p:sp>
      <p:sp>
        <p:nvSpPr>
          <p:cNvPr id="16" name="Text 14"/>
          <p:cNvSpPr/>
          <p:nvPr/>
        </p:nvSpPr>
        <p:spPr>
          <a:xfrm>
            <a:off x="457200" y="2039112"/>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DateKey</a:t>
            </a:r>
            <a:endParaRPr lang="en-US" sz="950" dirty="0"/>
          </a:p>
        </p:txBody>
      </p:sp>
      <p:sp>
        <p:nvSpPr>
          <p:cNvPr id="17" name="Text 15"/>
          <p:cNvSpPr/>
          <p:nvPr/>
        </p:nvSpPr>
        <p:spPr>
          <a:xfrm>
            <a:off x="2194560" y="2039112"/>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Integer</a:t>
            </a:r>
            <a:endParaRPr lang="en-US" sz="900" dirty="0"/>
          </a:p>
        </p:txBody>
      </p:sp>
      <p:sp>
        <p:nvSpPr>
          <p:cNvPr id="18" name="Text 16"/>
          <p:cNvSpPr/>
          <p:nvPr/>
        </p:nvSpPr>
        <p:spPr>
          <a:xfrm>
            <a:off x="3383280" y="2039112"/>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YYYYMMDD format — links to DimDate for all time intelligence measures</a:t>
            </a:r>
            <a:endParaRPr lang="en-US" sz="900" dirty="0"/>
          </a:p>
        </p:txBody>
      </p:sp>
      <p:sp>
        <p:nvSpPr>
          <p:cNvPr id="19" name="Shape 17"/>
          <p:cNvSpPr/>
          <p:nvPr/>
        </p:nvSpPr>
        <p:spPr>
          <a:xfrm>
            <a:off x="365760" y="2258568"/>
            <a:ext cx="8412480" cy="228600"/>
          </a:xfrm>
          <a:prstGeom prst="rect">
            <a:avLst/>
          </a:prstGeom>
          <a:solidFill>
            <a:srgbClr val="0F2040"/>
          </a:solidFill>
          <a:ln w="3810">
            <a:solidFill>
              <a:srgbClr val="4A6080"/>
            </a:solidFill>
            <a:prstDash val="solid"/>
          </a:ln>
        </p:spPr>
      </p:sp>
      <p:sp>
        <p:nvSpPr>
          <p:cNvPr id="20" name="Text 18"/>
          <p:cNvSpPr/>
          <p:nvPr/>
        </p:nvSpPr>
        <p:spPr>
          <a:xfrm>
            <a:off x="457200" y="2286000"/>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DepartureAirportKey</a:t>
            </a:r>
            <a:endParaRPr lang="en-US" sz="950" dirty="0"/>
          </a:p>
        </p:txBody>
      </p:sp>
      <p:sp>
        <p:nvSpPr>
          <p:cNvPr id="21" name="Text 19"/>
          <p:cNvSpPr/>
          <p:nvPr/>
        </p:nvSpPr>
        <p:spPr>
          <a:xfrm>
            <a:off x="2194560" y="2286000"/>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Text</a:t>
            </a:r>
            <a:endParaRPr lang="en-US" sz="900" dirty="0"/>
          </a:p>
        </p:txBody>
      </p:sp>
      <p:sp>
        <p:nvSpPr>
          <p:cNvPr id="22" name="Text 20"/>
          <p:cNvSpPr/>
          <p:nvPr/>
        </p:nvSpPr>
        <p:spPr>
          <a:xfrm>
            <a:off x="3383280" y="2286000"/>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IATA code FK to DimAirport — active relationship for departure analysis</a:t>
            </a:r>
            <a:endParaRPr lang="en-US" sz="900" dirty="0"/>
          </a:p>
        </p:txBody>
      </p:sp>
      <p:sp>
        <p:nvSpPr>
          <p:cNvPr id="23" name="Shape 21"/>
          <p:cNvSpPr/>
          <p:nvPr/>
        </p:nvSpPr>
        <p:spPr>
          <a:xfrm>
            <a:off x="365760" y="2505456"/>
            <a:ext cx="8412480" cy="228600"/>
          </a:xfrm>
          <a:prstGeom prst="rect">
            <a:avLst/>
          </a:prstGeom>
          <a:solidFill>
            <a:srgbClr val="0D1A35"/>
          </a:solidFill>
          <a:ln w="3810">
            <a:solidFill>
              <a:srgbClr val="4A6080"/>
            </a:solidFill>
            <a:prstDash val="solid"/>
          </a:ln>
        </p:spPr>
      </p:sp>
      <p:sp>
        <p:nvSpPr>
          <p:cNvPr id="24" name="Text 22"/>
          <p:cNvSpPr/>
          <p:nvPr/>
        </p:nvSpPr>
        <p:spPr>
          <a:xfrm>
            <a:off x="457200" y="2532888"/>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ArrivalAirportKey</a:t>
            </a:r>
            <a:endParaRPr lang="en-US" sz="950" dirty="0"/>
          </a:p>
        </p:txBody>
      </p:sp>
      <p:sp>
        <p:nvSpPr>
          <p:cNvPr id="25" name="Text 23"/>
          <p:cNvSpPr/>
          <p:nvPr/>
        </p:nvSpPr>
        <p:spPr>
          <a:xfrm>
            <a:off x="2194560" y="2532888"/>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Text</a:t>
            </a:r>
            <a:endParaRPr lang="en-US" sz="900" dirty="0"/>
          </a:p>
        </p:txBody>
      </p:sp>
      <p:sp>
        <p:nvSpPr>
          <p:cNvPr id="26" name="Text 24"/>
          <p:cNvSpPr/>
          <p:nvPr/>
        </p:nvSpPr>
        <p:spPr>
          <a:xfrm>
            <a:off x="3383280" y="2532888"/>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IATA code FK to DimAirport — inactive, activated via USERELATIONSHIP()</a:t>
            </a:r>
            <a:endParaRPr lang="en-US" sz="900" dirty="0"/>
          </a:p>
        </p:txBody>
      </p:sp>
      <p:sp>
        <p:nvSpPr>
          <p:cNvPr id="27" name="Shape 25"/>
          <p:cNvSpPr/>
          <p:nvPr/>
        </p:nvSpPr>
        <p:spPr>
          <a:xfrm>
            <a:off x="365760" y="2752344"/>
            <a:ext cx="8412480" cy="228600"/>
          </a:xfrm>
          <a:prstGeom prst="rect">
            <a:avLst/>
          </a:prstGeom>
          <a:solidFill>
            <a:srgbClr val="0F2040"/>
          </a:solidFill>
          <a:ln w="3810">
            <a:solidFill>
              <a:srgbClr val="4A6080"/>
            </a:solidFill>
            <a:prstDash val="solid"/>
          </a:ln>
        </p:spPr>
      </p:sp>
      <p:sp>
        <p:nvSpPr>
          <p:cNvPr id="28" name="Text 26"/>
          <p:cNvSpPr/>
          <p:nvPr/>
        </p:nvSpPr>
        <p:spPr>
          <a:xfrm>
            <a:off x="457200" y="2779776"/>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AirlineKey</a:t>
            </a:r>
            <a:endParaRPr lang="en-US" sz="950" dirty="0"/>
          </a:p>
        </p:txBody>
      </p:sp>
      <p:sp>
        <p:nvSpPr>
          <p:cNvPr id="29" name="Text 27"/>
          <p:cNvSpPr/>
          <p:nvPr/>
        </p:nvSpPr>
        <p:spPr>
          <a:xfrm>
            <a:off x="2194560" y="2779776"/>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Text</a:t>
            </a:r>
            <a:endParaRPr lang="en-US" sz="900" dirty="0"/>
          </a:p>
        </p:txBody>
      </p:sp>
      <p:sp>
        <p:nvSpPr>
          <p:cNvPr id="30" name="Text 28"/>
          <p:cNvSpPr/>
          <p:nvPr/>
        </p:nvSpPr>
        <p:spPr>
          <a:xfrm>
            <a:off x="3383280" y="2779776"/>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FK to DimAirline — enables LCC vs Full Service comparison and fleet analysis</a:t>
            </a:r>
            <a:endParaRPr lang="en-US" sz="900" dirty="0"/>
          </a:p>
        </p:txBody>
      </p:sp>
      <p:sp>
        <p:nvSpPr>
          <p:cNvPr id="31" name="Shape 29"/>
          <p:cNvSpPr/>
          <p:nvPr/>
        </p:nvSpPr>
        <p:spPr>
          <a:xfrm>
            <a:off x="365760" y="2999232"/>
            <a:ext cx="8412480" cy="228600"/>
          </a:xfrm>
          <a:prstGeom prst="rect">
            <a:avLst/>
          </a:prstGeom>
          <a:solidFill>
            <a:srgbClr val="0D1A35"/>
          </a:solidFill>
          <a:ln w="3810">
            <a:solidFill>
              <a:srgbClr val="4A6080"/>
            </a:solidFill>
            <a:prstDash val="solid"/>
          </a:ln>
        </p:spPr>
      </p:sp>
      <p:sp>
        <p:nvSpPr>
          <p:cNvPr id="32" name="Text 30"/>
          <p:cNvSpPr/>
          <p:nvPr/>
        </p:nvSpPr>
        <p:spPr>
          <a:xfrm>
            <a:off x="457200" y="3026664"/>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PilotKey</a:t>
            </a:r>
            <a:endParaRPr lang="en-US" sz="950" dirty="0"/>
          </a:p>
        </p:txBody>
      </p:sp>
      <p:sp>
        <p:nvSpPr>
          <p:cNvPr id="33" name="Text 31"/>
          <p:cNvSpPr/>
          <p:nvPr/>
        </p:nvSpPr>
        <p:spPr>
          <a:xfrm>
            <a:off x="2194560" y="3026664"/>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Text</a:t>
            </a:r>
            <a:endParaRPr lang="en-US" sz="900" dirty="0"/>
          </a:p>
        </p:txBody>
      </p:sp>
      <p:sp>
        <p:nvSpPr>
          <p:cNvPr id="34" name="Text 32"/>
          <p:cNvSpPr/>
          <p:nvPr/>
        </p:nvSpPr>
        <p:spPr>
          <a:xfrm>
            <a:off x="3383280" y="3026664"/>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FK to DimPilot — enables Captain vs FO and rating vs delay analysis</a:t>
            </a:r>
            <a:endParaRPr lang="en-US" sz="900" dirty="0"/>
          </a:p>
        </p:txBody>
      </p:sp>
      <p:sp>
        <p:nvSpPr>
          <p:cNvPr id="35" name="Shape 33"/>
          <p:cNvSpPr/>
          <p:nvPr/>
        </p:nvSpPr>
        <p:spPr>
          <a:xfrm>
            <a:off x="365760" y="3246120"/>
            <a:ext cx="8412480" cy="228600"/>
          </a:xfrm>
          <a:prstGeom prst="rect">
            <a:avLst/>
          </a:prstGeom>
          <a:solidFill>
            <a:srgbClr val="0F2040"/>
          </a:solidFill>
          <a:ln w="3810">
            <a:solidFill>
              <a:srgbClr val="4A6080"/>
            </a:solidFill>
            <a:prstDash val="solid"/>
          </a:ln>
        </p:spPr>
      </p:sp>
      <p:sp>
        <p:nvSpPr>
          <p:cNvPr id="36" name="Text 34"/>
          <p:cNvSpPr/>
          <p:nvPr/>
        </p:nvSpPr>
        <p:spPr>
          <a:xfrm>
            <a:off x="457200" y="3273552"/>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DelayMinutes</a:t>
            </a:r>
            <a:endParaRPr lang="en-US" sz="950" dirty="0"/>
          </a:p>
        </p:txBody>
      </p:sp>
      <p:sp>
        <p:nvSpPr>
          <p:cNvPr id="37" name="Text 35"/>
          <p:cNvSpPr/>
          <p:nvPr/>
        </p:nvSpPr>
        <p:spPr>
          <a:xfrm>
            <a:off x="2194560" y="3273552"/>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Integer</a:t>
            </a:r>
            <a:endParaRPr lang="en-US" sz="900" dirty="0"/>
          </a:p>
        </p:txBody>
      </p:sp>
      <p:sp>
        <p:nvSpPr>
          <p:cNvPr id="38" name="Text 36"/>
          <p:cNvSpPr/>
          <p:nvPr/>
        </p:nvSpPr>
        <p:spPr>
          <a:xfrm>
            <a:off x="3383280" y="3273552"/>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Minutes delayed — base for Avg Delay, Delay Severity Index, Rolling 3M Avg</a:t>
            </a:r>
            <a:endParaRPr lang="en-US" sz="900" dirty="0"/>
          </a:p>
        </p:txBody>
      </p:sp>
      <p:sp>
        <p:nvSpPr>
          <p:cNvPr id="39" name="Shape 37"/>
          <p:cNvSpPr/>
          <p:nvPr/>
        </p:nvSpPr>
        <p:spPr>
          <a:xfrm>
            <a:off x="365760" y="3493008"/>
            <a:ext cx="8412480" cy="228600"/>
          </a:xfrm>
          <a:prstGeom prst="rect">
            <a:avLst/>
          </a:prstGeom>
          <a:solidFill>
            <a:srgbClr val="0D1A35"/>
          </a:solidFill>
          <a:ln w="3810">
            <a:solidFill>
              <a:srgbClr val="4A6080"/>
            </a:solidFill>
            <a:prstDash val="solid"/>
          </a:ln>
        </p:spPr>
      </p:sp>
      <p:sp>
        <p:nvSpPr>
          <p:cNvPr id="40" name="Text 38"/>
          <p:cNvSpPr/>
          <p:nvPr/>
        </p:nvSpPr>
        <p:spPr>
          <a:xfrm>
            <a:off x="457200" y="3520440"/>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PassengersOnboard</a:t>
            </a:r>
            <a:endParaRPr lang="en-US" sz="950" dirty="0"/>
          </a:p>
        </p:txBody>
      </p:sp>
      <p:sp>
        <p:nvSpPr>
          <p:cNvPr id="41" name="Text 39"/>
          <p:cNvSpPr/>
          <p:nvPr/>
        </p:nvSpPr>
        <p:spPr>
          <a:xfrm>
            <a:off x="2194560" y="3520440"/>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Integer</a:t>
            </a:r>
            <a:endParaRPr lang="en-US" sz="900" dirty="0"/>
          </a:p>
        </p:txBody>
      </p:sp>
      <p:sp>
        <p:nvSpPr>
          <p:cNvPr id="42" name="Text 40"/>
          <p:cNvSpPr/>
          <p:nvPr/>
        </p:nvSpPr>
        <p:spPr>
          <a:xfrm>
            <a:off x="3383280" y="3520440"/>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Passengers per flight — used in Load Factor, Fuel Per Passenger, and Severity Index</a:t>
            </a:r>
            <a:endParaRPr lang="en-US" sz="900" dirty="0"/>
          </a:p>
        </p:txBody>
      </p:sp>
      <p:sp>
        <p:nvSpPr>
          <p:cNvPr id="43" name="Shape 41"/>
          <p:cNvSpPr/>
          <p:nvPr/>
        </p:nvSpPr>
        <p:spPr>
          <a:xfrm>
            <a:off x="365760" y="3739896"/>
            <a:ext cx="8412480" cy="228600"/>
          </a:xfrm>
          <a:prstGeom prst="rect">
            <a:avLst/>
          </a:prstGeom>
          <a:solidFill>
            <a:srgbClr val="0F2040"/>
          </a:solidFill>
          <a:ln w="3810">
            <a:solidFill>
              <a:srgbClr val="4A6080"/>
            </a:solidFill>
            <a:prstDash val="solid"/>
          </a:ln>
        </p:spPr>
      </p:sp>
      <p:sp>
        <p:nvSpPr>
          <p:cNvPr id="44" name="Text 42"/>
          <p:cNvSpPr/>
          <p:nvPr/>
        </p:nvSpPr>
        <p:spPr>
          <a:xfrm>
            <a:off x="457200" y="3767328"/>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FuelUsedLiters</a:t>
            </a:r>
            <a:endParaRPr lang="en-US" sz="950" dirty="0"/>
          </a:p>
        </p:txBody>
      </p:sp>
      <p:sp>
        <p:nvSpPr>
          <p:cNvPr id="45" name="Text 43"/>
          <p:cNvSpPr/>
          <p:nvPr/>
        </p:nvSpPr>
        <p:spPr>
          <a:xfrm>
            <a:off x="2194560" y="3767328"/>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Decimal</a:t>
            </a:r>
            <a:endParaRPr lang="en-US" sz="900" dirty="0"/>
          </a:p>
        </p:txBody>
      </p:sp>
      <p:sp>
        <p:nvSpPr>
          <p:cNvPr id="46" name="Text 44"/>
          <p:cNvSpPr/>
          <p:nvPr/>
        </p:nvSpPr>
        <p:spPr>
          <a:xfrm>
            <a:off x="3383280" y="3767328"/>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Fuel consumed — powers Fuel Per Passenger and airline efficiency benchmarks</a:t>
            </a:r>
            <a:endParaRPr lang="en-US" sz="900" dirty="0"/>
          </a:p>
        </p:txBody>
      </p:sp>
      <p:sp>
        <p:nvSpPr>
          <p:cNvPr id="47" name="Shape 45"/>
          <p:cNvSpPr/>
          <p:nvPr/>
        </p:nvSpPr>
        <p:spPr>
          <a:xfrm>
            <a:off x="365760" y="3986784"/>
            <a:ext cx="8412480" cy="228600"/>
          </a:xfrm>
          <a:prstGeom prst="rect">
            <a:avLst/>
          </a:prstGeom>
          <a:solidFill>
            <a:srgbClr val="0D1A35"/>
          </a:solidFill>
          <a:ln w="3810">
            <a:solidFill>
              <a:srgbClr val="4A6080"/>
            </a:solidFill>
            <a:prstDash val="solid"/>
          </a:ln>
        </p:spPr>
      </p:sp>
      <p:sp>
        <p:nvSpPr>
          <p:cNvPr id="48" name="Text 46"/>
          <p:cNvSpPr/>
          <p:nvPr/>
        </p:nvSpPr>
        <p:spPr>
          <a:xfrm>
            <a:off x="457200" y="4014216"/>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Status</a:t>
            </a:r>
            <a:endParaRPr lang="en-US" sz="950" dirty="0"/>
          </a:p>
        </p:txBody>
      </p:sp>
      <p:sp>
        <p:nvSpPr>
          <p:cNvPr id="49" name="Text 47"/>
          <p:cNvSpPr/>
          <p:nvPr/>
        </p:nvSpPr>
        <p:spPr>
          <a:xfrm>
            <a:off x="2194560" y="4014216"/>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Text</a:t>
            </a:r>
            <a:endParaRPr lang="en-US" sz="900" dirty="0"/>
          </a:p>
        </p:txBody>
      </p:sp>
      <p:sp>
        <p:nvSpPr>
          <p:cNvPr id="50" name="Text 48"/>
          <p:cNvSpPr/>
          <p:nvPr/>
        </p:nvSpPr>
        <p:spPr>
          <a:xfrm>
            <a:off x="3383280" y="4014216"/>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On Time / Delayed / Cancelled / Diverted — drives OTP%, Cancellation Rate, funnel</a:t>
            </a:r>
            <a:endParaRPr lang="en-US" sz="900" dirty="0"/>
          </a:p>
        </p:txBody>
      </p:sp>
      <p:sp>
        <p:nvSpPr>
          <p:cNvPr id="51" name="Shape 49"/>
          <p:cNvSpPr/>
          <p:nvPr/>
        </p:nvSpPr>
        <p:spPr>
          <a:xfrm>
            <a:off x="365760" y="4233672"/>
            <a:ext cx="8412480" cy="228600"/>
          </a:xfrm>
          <a:prstGeom prst="rect">
            <a:avLst/>
          </a:prstGeom>
          <a:solidFill>
            <a:srgbClr val="0F2040"/>
          </a:solidFill>
          <a:ln w="3810">
            <a:solidFill>
              <a:srgbClr val="4A6080"/>
            </a:solidFill>
            <a:prstDash val="solid"/>
          </a:ln>
        </p:spPr>
      </p:sp>
      <p:sp>
        <p:nvSpPr>
          <p:cNvPr id="52" name="Text 50"/>
          <p:cNvSpPr/>
          <p:nvPr/>
        </p:nvSpPr>
        <p:spPr>
          <a:xfrm>
            <a:off x="457200" y="4261104"/>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WeatherCondition</a:t>
            </a:r>
            <a:endParaRPr lang="en-US" sz="950" dirty="0"/>
          </a:p>
        </p:txBody>
      </p:sp>
      <p:sp>
        <p:nvSpPr>
          <p:cNvPr id="53" name="Text 51"/>
          <p:cNvSpPr/>
          <p:nvPr/>
        </p:nvSpPr>
        <p:spPr>
          <a:xfrm>
            <a:off x="2194560" y="4261104"/>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Text</a:t>
            </a:r>
            <a:endParaRPr lang="en-US" sz="900" dirty="0"/>
          </a:p>
        </p:txBody>
      </p:sp>
      <p:sp>
        <p:nvSpPr>
          <p:cNvPr id="54" name="Text 52"/>
          <p:cNvSpPr/>
          <p:nvPr/>
        </p:nvSpPr>
        <p:spPr>
          <a:xfrm>
            <a:off x="3383280" y="4261104"/>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Foggy / Stormy / Rainy / Windy / Clear — base for Weather Impact Score measure</a:t>
            </a:r>
            <a:endParaRPr lang="en-US" sz="900" dirty="0"/>
          </a:p>
        </p:txBody>
      </p:sp>
      <p:sp>
        <p:nvSpPr>
          <p:cNvPr id="55" name="Shape 53"/>
          <p:cNvSpPr/>
          <p:nvPr/>
        </p:nvSpPr>
        <p:spPr>
          <a:xfrm>
            <a:off x="365760" y="4480560"/>
            <a:ext cx="8412480" cy="228600"/>
          </a:xfrm>
          <a:prstGeom prst="rect">
            <a:avLst/>
          </a:prstGeom>
          <a:solidFill>
            <a:srgbClr val="0D1A35"/>
          </a:solidFill>
          <a:ln w="3810">
            <a:solidFill>
              <a:srgbClr val="4A6080"/>
            </a:solidFill>
            <a:prstDash val="solid"/>
          </a:ln>
        </p:spPr>
      </p:sp>
      <p:sp>
        <p:nvSpPr>
          <p:cNvPr id="56" name="Text 54"/>
          <p:cNvSpPr/>
          <p:nvPr/>
        </p:nvSpPr>
        <p:spPr>
          <a:xfrm>
            <a:off x="457200" y="4507992"/>
            <a:ext cx="1645920" cy="182880"/>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FlightDurationMinutes</a:t>
            </a:r>
            <a:endParaRPr lang="en-US" sz="950" dirty="0"/>
          </a:p>
        </p:txBody>
      </p:sp>
      <p:sp>
        <p:nvSpPr>
          <p:cNvPr id="57" name="Text 55"/>
          <p:cNvSpPr/>
          <p:nvPr/>
        </p:nvSpPr>
        <p:spPr>
          <a:xfrm>
            <a:off x="2194560" y="4507992"/>
            <a:ext cx="1097280" cy="182880"/>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Integer</a:t>
            </a:r>
            <a:endParaRPr lang="en-US" sz="900" dirty="0"/>
          </a:p>
        </p:txBody>
      </p:sp>
      <p:sp>
        <p:nvSpPr>
          <p:cNvPr id="58" name="Text 56"/>
          <p:cNvSpPr/>
          <p:nvPr/>
        </p:nvSpPr>
        <p:spPr>
          <a:xfrm>
            <a:off x="3383280" y="4507992"/>
            <a:ext cx="5257800" cy="182880"/>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Duration in minutes — used in Proxy RASM and distance-delay scatter plots</a:t>
            </a:r>
            <a:endParaRPr lang="en-US" sz="900" dirty="0"/>
          </a:p>
        </p:txBody>
      </p:sp>
      <p:sp>
        <p:nvSpPr>
          <p:cNvPr id="59" name="Shape 57"/>
          <p:cNvSpPr/>
          <p:nvPr/>
        </p:nvSpPr>
        <p:spPr>
          <a:xfrm>
            <a:off x="0" y="4892040"/>
            <a:ext cx="9144000" cy="251460"/>
          </a:xfrm>
          <a:prstGeom prst="rect">
            <a:avLst/>
          </a:prstGeom>
          <a:solidFill>
            <a:srgbClr val="051020"/>
          </a:solidFill>
          <a:ln w="12700">
            <a:solidFill>
              <a:srgbClr val="051020"/>
            </a:solidFill>
            <a:prstDash val="solid"/>
          </a:ln>
        </p:spPr>
      </p:sp>
      <p:sp>
        <p:nvSpPr>
          <p:cNvPr id="60" name="Text 58"/>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05  ·  DATA PREPARATION</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Data Cleaning &amp; Transformation</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Power Query pipeline for data preparation</a:t>
            </a:r>
            <a:endParaRPr lang="en-US" sz="1200" dirty="0"/>
          </a:p>
        </p:txBody>
      </p:sp>
      <p:sp>
        <p:nvSpPr>
          <p:cNvPr id="7" name="Shape 5"/>
          <p:cNvSpPr/>
          <p:nvPr/>
        </p:nvSpPr>
        <p:spPr>
          <a:xfrm>
            <a:off x="365760" y="1417320"/>
            <a:ext cx="4160520" cy="749808"/>
          </a:xfrm>
          <a:prstGeom prst="rect">
            <a:avLst/>
          </a:prstGeom>
          <a:solidFill>
            <a:srgbClr val="0F2040"/>
          </a:solidFill>
          <a:ln w="6350">
            <a:solidFill>
              <a:srgbClr val="4A6080"/>
            </a:solidFill>
            <a:prstDash val="solid"/>
          </a:ln>
        </p:spPr>
      </p:sp>
      <p:sp>
        <p:nvSpPr>
          <p:cNvPr id="8" name="Shape 6"/>
          <p:cNvSpPr/>
          <p:nvPr/>
        </p:nvSpPr>
        <p:spPr>
          <a:xfrm>
            <a:off x="475488" y="1581912"/>
            <a:ext cx="347472" cy="347472"/>
          </a:xfrm>
          <a:prstGeom prst="ellipse">
            <a:avLst/>
          </a:prstGeom>
          <a:solidFill>
            <a:srgbClr val="00C9A7"/>
          </a:solidFill>
          <a:ln w="12700">
            <a:solidFill>
              <a:srgbClr val="00C9A7"/>
            </a:solidFill>
            <a:prstDash val="solid"/>
          </a:ln>
        </p:spPr>
      </p:sp>
      <p:sp>
        <p:nvSpPr>
          <p:cNvPr id="9" name="Text 7"/>
          <p:cNvSpPr/>
          <p:nvPr/>
        </p:nvSpPr>
        <p:spPr>
          <a:xfrm>
            <a:off x="475488" y="1581912"/>
            <a:ext cx="347472" cy="347472"/>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932688" y="1490472"/>
            <a:ext cx="34747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 Import</a:t>
            </a:r>
            <a:endParaRPr lang="en-US" sz="1100" dirty="0"/>
          </a:p>
        </p:txBody>
      </p:sp>
      <p:sp>
        <p:nvSpPr>
          <p:cNvPr id="11" name="Text 9"/>
          <p:cNvSpPr/>
          <p:nvPr/>
        </p:nvSpPr>
        <p:spPr>
          <a:xfrm>
            <a:off x="932688" y="1746504"/>
            <a:ext cx="3474720" cy="34747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Loaded all 5 Excel sheets via Power Query from a single .xlsx workbook. Each table imported as a separate named query.</a:t>
            </a:r>
            <a:endParaRPr lang="en-US" sz="900" dirty="0"/>
          </a:p>
        </p:txBody>
      </p:sp>
      <p:sp>
        <p:nvSpPr>
          <p:cNvPr id="12" name="Shape 10"/>
          <p:cNvSpPr/>
          <p:nvPr/>
        </p:nvSpPr>
        <p:spPr>
          <a:xfrm>
            <a:off x="4709160" y="1417320"/>
            <a:ext cx="4160520" cy="749808"/>
          </a:xfrm>
          <a:prstGeom prst="rect">
            <a:avLst/>
          </a:prstGeom>
          <a:solidFill>
            <a:srgbClr val="0F2040"/>
          </a:solidFill>
          <a:ln w="6350">
            <a:solidFill>
              <a:srgbClr val="4A6080"/>
            </a:solidFill>
            <a:prstDash val="solid"/>
          </a:ln>
        </p:spPr>
      </p:sp>
      <p:sp>
        <p:nvSpPr>
          <p:cNvPr id="13" name="Shape 11"/>
          <p:cNvSpPr/>
          <p:nvPr/>
        </p:nvSpPr>
        <p:spPr>
          <a:xfrm>
            <a:off x="4818888" y="1581912"/>
            <a:ext cx="347472" cy="347472"/>
          </a:xfrm>
          <a:prstGeom prst="ellipse">
            <a:avLst/>
          </a:prstGeom>
          <a:solidFill>
            <a:srgbClr val="2196F3"/>
          </a:solidFill>
          <a:ln w="12700">
            <a:solidFill>
              <a:srgbClr val="2196F3"/>
            </a:solidFill>
            <a:prstDash val="solid"/>
          </a:ln>
        </p:spPr>
      </p:sp>
      <p:sp>
        <p:nvSpPr>
          <p:cNvPr id="14" name="Text 12"/>
          <p:cNvSpPr/>
          <p:nvPr/>
        </p:nvSpPr>
        <p:spPr>
          <a:xfrm>
            <a:off x="4818888" y="1581912"/>
            <a:ext cx="347472" cy="347472"/>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5276088" y="1490472"/>
            <a:ext cx="34747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Type Validation</a:t>
            </a:r>
            <a:endParaRPr lang="en-US" sz="1100" dirty="0"/>
          </a:p>
        </p:txBody>
      </p:sp>
      <p:sp>
        <p:nvSpPr>
          <p:cNvPr id="16" name="Text 14"/>
          <p:cNvSpPr/>
          <p:nvPr/>
        </p:nvSpPr>
        <p:spPr>
          <a:xfrm>
            <a:off x="5276088" y="1746504"/>
            <a:ext cx="3474720" cy="34747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Enforced correct data types — DateKey as Integer, DelayMinutes as Integer, FuelUsedLiters as Decimal, Status as Text.</a:t>
            </a:r>
            <a:endParaRPr lang="en-US" sz="900" dirty="0"/>
          </a:p>
        </p:txBody>
      </p:sp>
      <p:sp>
        <p:nvSpPr>
          <p:cNvPr id="17" name="Shape 15"/>
          <p:cNvSpPr/>
          <p:nvPr/>
        </p:nvSpPr>
        <p:spPr>
          <a:xfrm>
            <a:off x="365760" y="2240280"/>
            <a:ext cx="4160520" cy="749808"/>
          </a:xfrm>
          <a:prstGeom prst="rect">
            <a:avLst/>
          </a:prstGeom>
          <a:solidFill>
            <a:srgbClr val="0F2040"/>
          </a:solidFill>
          <a:ln w="6350">
            <a:solidFill>
              <a:srgbClr val="4A6080"/>
            </a:solidFill>
            <a:prstDash val="solid"/>
          </a:ln>
        </p:spPr>
      </p:sp>
      <p:sp>
        <p:nvSpPr>
          <p:cNvPr id="18" name="Shape 16"/>
          <p:cNvSpPr/>
          <p:nvPr/>
        </p:nvSpPr>
        <p:spPr>
          <a:xfrm>
            <a:off x="475488" y="2404872"/>
            <a:ext cx="347472" cy="347472"/>
          </a:xfrm>
          <a:prstGeom prst="ellipse">
            <a:avLst/>
          </a:prstGeom>
          <a:solidFill>
            <a:srgbClr val="FF6B6B"/>
          </a:solidFill>
          <a:ln w="12700">
            <a:solidFill>
              <a:srgbClr val="FF6B6B"/>
            </a:solidFill>
            <a:prstDash val="solid"/>
          </a:ln>
        </p:spPr>
      </p:sp>
      <p:sp>
        <p:nvSpPr>
          <p:cNvPr id="19" name="Text 17"/>
          <p:cNvSpPr/>
          <p:nvPr/>
        </p:nvSpPr>
        <p:spPr>
          <a:xfrm>
            <a:off x="475488" y="2404872"/>
            <a:ext cx="347472" cy="347472"/>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932688" y="2313432"/>
            <a:ext cx="34747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Null Handling</a:t>
            </a:r>
            <a:endParaRPr lang="en-US" sz="1100" dirty="0"/>
          </a:p>
        </p:txBody>
      </p:sp>
      <p:sp>
        <p:nvSpPr>
          <p:cNvPr id="21" name="Text 19"/>
          <p:cNvSpPr/>
          <p:nvPr/>
        </p:nvSpPr>
        <p:spPr>
          <a:xfrm>
            <a:off x="932688" y="2569464"/>
            <a:ext cx="3474720" cy="34747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Removed rows with blank FlightID or AirlineKey. Replaced null DelayMinutes with 0 for non-delayed flights.</a:t>
            </a:r>
            <a:endParaRPr lang="en-US" sz="900" dirty="0"/>
          </a:p>
        </p:txBody>
      </p:sp>
      <p:sp>
        <p:nvSpPr>
          <p:cNvPr id="22" name="Shape 20"/>
          <p:cNvSpPr/>
          <p:nvPr/>
        </p:nvSpPr>
        <p:spPr>
          <a:xfrm>
            <a:off x="4709160" y="2240280"/>
            <a:ext cx="4160520" cy="749808"/>
          </a:xfrm>
          <a:prstGeom prst="rect">
            <a:avLst/>
          </a:prstGeom>
          <a:solidFill>
            <a:srgbClr val="0F2040"/>
          </a:solidFill>
          <a:ln w="6350">
            <a:solidFill>
              <a:srgbClr val="4A6080"/>
            </a:solidFill>
            <a:prstDash val="solid"/>
          </a:ln>
        </p:spPr>
      </p:sp>
      <p:sp>
        <p:nvSpPr>
          <p:cNvPr id="23" name="Shape 21"/>
          <p:cNvSpPr/>
          <p:nvPr/>
        </p:nvSpPr>
        <p:spPr>
          <a:xfrm>
            <a:off x="4818888" y="2404872"/>
            <a:ext cx="347472" cy="347472"/>
          </a:xfrm>
          <a:prstGeom prst="ellipse">
            <a:avLst/>
          </a:prstGeom>
          <a:solidFill>
            <a:srgbClr val="FFB300"/>
          </a:solidFill>
          <a:ln w="12700">
            <a:solidFill>
              <a:srgbClr val="FFB300"/>
            </a:solidFill>
            <a:prstDash val="solid"/>
          </a:ln>
        </p:spPr>
      </p:sp>
      <p:sp>
        <p:nvSpPr>
          <p:cNvPr id="24" name="Text 22"/>
          <p:cNvSpPr/>
          <p:nvPr/>
        </p:nvSpPr>
        <p:spPr>
          <a:xfrm>
            <a:off x="4818888" y="2404872"/>
            <a:ext cx="347472" cy="347472"/>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5276088" y="2313432"/>
            <a:ext cx="34747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Calculated Columns</a:t>
            </a:r>
            <a:endParaRPr lang="en-US" sz="1100" dirty="0"/>
          </a:p>
        </p:txBody>
      </p:sp>
      <p:sp>
        <p:nvSpPr>
          <p:cNvPr id="26" name="Text 24"/>
          <p:cNvSpPr/>
          <p:nvPr/>
        </p:nvSpPr>
        <p:spPr>
          <a:xfrm>
            <a:off x="5276088" y="2569464"/>
            <a:ext cx="3474720" cy="34747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Added ExperienceBand (0-5/6-15/16+ yrs), RatingBand (Excellent/Good/Average), IsPeakTravelMonth in DimDate.</a:t>
            </a:r>
            <a:endParaRPr lang="en-US" sz="900" dirty="0"/>
          </a:p>
        </p:txBody>
      </p:sp>
      <p:sp>
        <p:nvSpPr>
          <p:cNvPr id="27" name="Shape 25"/>
          <p:cNvSpPr/>
          <p:nvPr/>
        </p:nvSpPr>
        <p:spPr>
          <a:xfrm>
            <a:off x="365760" y="3063240"/>
            <a:ext cx="4160520" cy="749808"/>
          </a:xfrm>
          <a:prstGeom prst="rect">
            <a:avLst/>
          </a:prstGeom>
          <a:solidFill>
            <a:srgbClr val="0F2040"/>
          </a:solidFill>
          <a:ln w="6350">
            <a:solidFill>
              <a:srgbClr val="4A6080"/>
            </a:solidFill>
            <a:prstDash val="solid"/>
          </a:ln>
        </p:spPr>
      </p:sp>
      <p:sp>
        <p:nvSpPr>
          <p:cNvPr id="28" name="Shape 26"/>
          <p:cNvSpPr/>
          <p:nvPr/>
        </p:nvSpPr>
        <p:spPr>
          <a:xfrm>
            <a:off x="475488" y="3227832"/>
            <a:ext cx="347472" cy="347472"/>
          </a:xfrm>
          <a:prstGeom prst="ellipse">
            <a:avLst/>
          </a:prstGeom>
          <a:solidFill>
            <a:srgbClr val="00C9A7"/>
          </a:solidFill>
          <a:ln w="12700">
            <a:solidFill>
              <a:srgbClr val="00C9A7"/>
            </a:solidFill>
            <a:prstDash val="solid"/>
          </a:ln>
        </p:spPr>
      </p:sp>
      <p:sp>
        <p:nvSpPr>
          <p:cNvPr id="29" name="Text 27"/>
          <p:cNvSpPr/>
          <p:nvPr/>
        </p:nvSpPr>
        <p:spPr>
          <a:xfrm>
            <a:off x="475488" y="3227832"/>
            <a:ext cx="347472" cy="347472"/>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932688" y="3136392"/>
            <a:ext cx="34747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Renaming &amp; Standards</a:t>
            </a:r>
            <a:endParaRPr lang="en-US" sz="1100" dirty="0"/>
          </a:p>
        </p:txBody>
      </p:sp>
      <p:sp>
        <p:nvSpPr>
          <p:cNvPr id="31" name="Text 29"/>
          <p:cNvSpPr/>
          <p:nvPr/>
        </p:nvSpPr>
        <p:spPr>
          <a:xfrm>
            <a:off x="932688" y="3392424"/>
            <a:ext cx="3474720" cy="34747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Standardised all Status values to consistent casing. Normalised WeatherCondition — removed duplicates like 'Stormy' vs 'storm'.</a:t>
            </a:r>
            <a:endParaRPr lang="en-US" sz="900" dirty="0"/>
          </a:p>
        </p:txBody>
      </p:sp>
      <p:sp>
        <p:nvSpPr>
          <p:cNvPr id="32" name="Shape 30"/>
          <p:cNvSpPr/>
          <p:nvPr/>
        </p:nvSpPr>
        <p:spPr>
          <a:xfrm>
            <a:off x="4709160" y="3063240"/>
            <a:ext cx="4160520" cy="749808"/>
          </a:xfrm>
          <a:prstGeom prst="rect">
            <a:avLst/>
          </a:prstGeom>
          <a:solidFill>
            <a:srgbClr val="0F2040"/>
          </a:solidFill>
          <a:ln w="6350">
            <a:solidFill>
              <a:srgbClr val="4A6080"/>
            </a:solidFill>
            <a:prstDash val="solid"/>
          </a:ln>
        </p:spPr>
      </p:sp>
      <p:sp>
        <p:nvSpPr>
          <p:cNvPr id="33" name="Shape 31"/>
          <p:cNvSpPr/>
          <p:nvPr/>
        </p:nvSpPr>
        <p:spPr>
          <a:xfrm>
            <a:off x="4818888" y="3227832"/>
            <a:ext cx="347472" cy="347472"/>
          </a:xfrm>
          <a:prstGeom prst="ellipse">
            <a:avLst/>
          </a:prstGeom>
          <a:solidFill>
            <a:srgbClr val="2196F3"/>
          </a:solidFill>
          <a:ln w="12700">
            <a:solidFill>
              <a:srgbClr val="2196F3"/>
            </a:solidFill>
            <a:prstDash val="solid"/>
          </a:ln>
        </p:spPr>
      </p:sp>
      <p:sp>
        <p:nvSpPr>
          <p:cNvPr id="34" name="Text 32"/>
          <p:cNvSpPr/>
          <p:nvPr/>
        </p:nvSpPr>
        <p:spPr>
          <a:xfrm>
            <a:off x="4818888" y="3227832"/>
            <a:ext cx="347472" cy="347472"/>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6</a:t>
            </a:r>
            <a:endParaRPr lang="en-US" sz="1200" dirty="0"/>
          </a:p>
        </p:txBody>
      </p:sp>
      <p:sp>
        <p:nvSpPr>
          <p:cNvPr id="35" name="Text 33"/>
          <p:cNvSpPr/>
          <p:nvPr/>
        </p:nvSpPr>
        <p:spPr>
          <a:xfrm>
            <a:off x="5276088" y="3136392"/>
            <a:ext cx="34747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 Profiling</a:t>
            </a:r>
            <a:endParaRPr lang="en-US" sz="1100" dirty="0"/>
          </a:p>
        </p:txBody>
      </p:sp>
      <p:sp>
        <p:nvSpPr>
          <p:cNvPr id="36" name="Text 34"/>
          <p:cNvSpPr/>
          <p:nvPr/>
        </p:nvSpPr>
        <p:spPr>
          <a:xfrm>
            <a:off x="5276088" y="3392424"/>
            <a:ext cx="3474720" cy="34747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Validated column quality — checked distribution, null %, and distinct counts for all FactFlights columns before modelling.</a:t>
            </a:r>
            <a:endParaRPr lang="en-US" sz="900" dirty="0"/>
          </a:p>
        </p:txBody>
      </p:sp>
      <p:sp>
        <p:nvSpPr>
          <p:cNvPr id="37" name="Shape 35"/>
          <p:cNvSpPr/>
          <p:nvPr/>
        </p:nvSpPr>
        <p:spPr>
          <a:xfrm>
            <a:off x="365760" y="3886200"/>
            <a:ext cx="4160520" cy="749808"/>
          </a:xfrm>
          <a:prstGeom prst="rect">
            <a:avLst/>
          </a:prstGeom>
          <a:solidFill>
            <a:srgbClr val="0F2040"/>
          </a:solidFill>
          <a:ln w="6350">
            <a:solidFill>
              <a:srgbClr val="4A6080"/>
            </a:solidFill>
            <a:prstDash val="solid"/>
          </a:ln>
        </p:spPr>
      </p:sp>
      <p:sp>
        <p:nvSpPr>
          <p:cNvPr id="38" name="Shape 36"/>
          <p:cNvSpPr/>
          <p:nvPr/>
        </p:nvSpPr>
        <p:spPr>
          <a:xfrm>
            <a:off x="475488" y="4050792"/>
            <a:ext cx="347472" cy="347472"/>
          </a:xfrm>
          <a:prstGeom prst="ellipse">
            <a:avLst/>
          </a:prstGeom>
          <a:solidFill>
            <a:srgbClr val="FF6B6B"/>
          </a:solidFill>
          <a:ln w="12700">
            <a:solidFill>
              <a:srgbClr val="FF6B6B"/>
            </a:solidFill>
            <a:prstDash val="solid"/>
          </a:ln>
        </p:spPr>
      </p:sp>
      <p:sp>
        <p:nvSpPr>
          <p:cNvPr id="39" name="Text 37"/>
          <p:cNvSpPr/>
          <p:nvPr/>
        </p:nvSpPr>
        <p:spPr>
          <a:xfrm>
            <a:off x="475488" y="4050792"/>
            <a:ext cx="347472" cy="347472"/>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7</a:t>
            </a:r>
            <a:endParaRPr lang="en-US" sz="1200" dirty="0"/>
          </a:p>
        </p:txBody>
      </p:sp>
      <p:sp>
        <p:nvSpPr>
          <p:cNvPr id="40" name="Text 38"/>
          <p:cNvSpPr/>
          <p:nvPr/>
        </p:nvSpPr>
        <p:spPr>
          <a:xfrm>
            <a:off x="932688" y="3959352"/>
            <a:ext cx="34747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SWITCH Columns</a:t>
            </a:r>
            <a:endParaRPr lang="en-US" sz="1100" dirty="0"/>
          </a:p>
        </p:txBody>
      </p:sp>
      <p:sp>
        <p:nvSpPr>
          <p:cNvPr id="41" name="Text 39"/>
          <p:cNvSpPr/>
          <p:nvPr/>
        </p:nvSpPr>
        <p:spPr>
          <a:xfrm>
            <a:off x="932688" y="4215384"/>
            <a:ext cx="3474720" cy="34747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Added SeatCapacity via SWITCH on Aircraft type in DAX — Airbus A320:180, Boeing 787:296, ATR 72:70 — for Load Factor.</a:t>
            </a:r>
            <a:endParaRPr lang="en-US" sz="900" dirty="0"/>
          </a:p>
        </p:txBody>
      </p:sp>
      <p:sp>
        <p:nvSpPr>
          <p:cNvPr id="42" name="Shape 40"/>
          <p:cNvSpPr/>
          <p:nvPr/>
        </p:nvSpPr>
        <p:spPr>
          <a:xfrm>
            <a:off x="4709160" y="3886200"/>
            <a:ext cx="4160520" cy="749808"/>
          </a:xfrm>
          <a:prstGeom prst="rect">
            <a:avLst/>
          </a:prstGeom>
          <a:solidFill>
            <a:srgbClr val="0F2040"/>
          </a:solidFill>
          <a:ln w="6350">
            <a:solidFill>
              <a:srgbClr val="4A6080"/>
            </a:solidFill>
            <a:prstDash val="solid"/>
          </a:ln>
        </p:spPr>
      </p:sp>
      <p:sp>
        <p:nvSpPr>
          <p:cNvPr id="43" name="Shape 41"/>
          <p:cNvSpPr/>
          <p:nvPr/>
        </p:nvSpPr>
        <p:spPr>
          <a:xfrm>
            <a:off x="4818888" y="4050792"/>
            <a:ext cx="347472" cy="347472"/>
          </a:xfrm>
          <a:prstGeom prst="ellipse">
            <a:avLst/>
          </a:prstGeom>
          <a:solidFill>
            <a:srgbClr val="FFB300"/>
          </a:solidFill>
          <a:ln w="12700">
            <a:solidFill>
              <a:srgbClr val="FFB300"/>
            </a:solidFill>
            <a:prstDash val="solid"/>
          </a:ln>
        </p:spPr>
      </p:sp>
      <p:sp>
        <p:nvSpPr>
          <p:cNvPr id="44" name="Text 42"/>
          <p:cNvSpPr/>
          <p:nvPr/>
        </p:nvSpPr>
        <p:spPr>
          <a:xfrm>
            <a:off x="4818888" y="4050792"/>
            <a:ext cx="347472" cy="347472"/>
          </a:xfrm>
          <a:prstGeom prst="rect">
            <a:avLst/>
          </a:prstGeom>
          <a:noFill/>
          <a:ln/>
        </p:spPr>
        <p:txBody>
          <a:bodyPr wrap="square" rtlCol="0" anchor="ctr"/>
          <a:lstStyle/>
          <a:p>
            <a:pPr algn="ctr" indent="0" marL="0">
              <a:buNone/>
            </a:pPr>
            <a:r>
              <a:rPr lang="en-US" sz="1200" b="1" dirty="0">
                <a:solidFill>
                  <a:srgbClr val="0A1628"/>
                </a:solidFill>
                <a:latin typeface="Calibri" pitchFamily="34" charset="0"/>
                <a:ea typeface="Calibri" pitchFamily="34" charset="-122"/>
                <a:cs typeface="Calibri" pitchFamily="34" charset="-120"/>
              </a:rPr>
              <a:t>8</a:t>
            </a:r>
            <a:endParaRPr lang="en-US" sz="1200" dirty="0"/>
          </a:p>
        </p:txBody>
      </p:sp>
      <p:sp>
        <p:nvSpPr>
          <p:cNvPr id="45" name="Text 43"/>
          <p:cNvSpPr/>
          <p:nvPr/>
        </p:nvSpPr>
        <p:spPr>
          <a:xfrm>
            <a:off x="5276088" y="3959352"/>
            <a:ext cx="3474720" cy="23774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Star Schema Build</a:t>
            </a:r>
            <a:endParaRPr lang="en-US" sz="1100" dirty="0"/>
          </a:p>
        </p:txBody>
      </p:sp>
      <p:sp>
        <p:nvSpPr>
          <p:cNvPr id="46" name="Text 44"/>
          <p:cNvSpPr/>
          <p:nvPr/>
        </p:nvSpPr>
        <p:spPr>
          <a:xfrm>
            <a:off x="5276088" y="4215384"/>
            <a:ext cx="3474720" cy="34747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Structured into FactFlights + 4 Dimension tables. All relationships set as Many-to-One with Single cross-filter direction.</a:t>
            </a:r>
            <a:endParaRPr lang="en-US" sz="900" dirty="0"/>
          </a:p>
        </p:txBody>
      </p:sp>
      <p:sp>
        <p:nvSpPr>
          <p:cNvPr id="47" name="Shape 45"/>
          <p:cNvSpPr/>
          <p:nvPr/>
        </p:nvSpPr>
        <p:spPr>
          <a:xfrm>
            <a:off x="0" y="4892040"/>
            <a:ext cx="9144000" cy="251460"/>
          </a:xfrm>
          <a:prstGeom prst="rect">
            <a:avLst/>
          </a:prstGeom>
          <a:solidFill>
            <a:srgbClr val="051020"/>
          </a:solidFill>
          <a:ln w="12700">
            <a:solidFill>
              <a:srgbClr val="051020"/>
            </a:solidFill>
            <a:prstDash val="solid"/>
          </a:ln>
        </p:spPr>
      </p:sp>
      <p:sp>
        <p:nvSpPr>
          <p:cNvPr id="48" name="Text 46"/>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06  ·  DATA MODELING</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Data Model: Star Schema</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Many-to-one (∗:1) relationship architecture — 4 dimension tables</a:t>
            </a:r>
            <a:endParaRPr lang="en-US" sz="1200" dirty="0"/>
          </a:p>
        </p:txBody>
      </p:sp>
      <p:sp>
        <p:nvSpPr>
          <p:cNvPr id="7" name="Shape 5"/>
          <p:cNvSpPr/>
          <p:nvPr/>
        </p:nvSpPr>
        <p:spPr>
          <a:xfrm>
            <a:off x="3246120" y="1417320"/>
            <a:ext cx="2697480" cy="2377440"/>
          </a:xfrm>
          <a:prstGeom prst="rect">
            <a:avLst/>
          </a:prstGeom>
          <a:solidFill>
            <a:srgbClr val="004D40"/>
          </a:solidFill>
          <a:ln w="19050">
            <a:solidFill>
              <a:srgbClr val="00C9A7"/>
            </a:solidFill>
            <a:prstDash val="solid"/>
          </a:ln>
        </p:spPr>
      </p:sp>
      <p:sp>
        <p:nvSpPr>
          <p:cNvPr id="8" name="Shape 6"/>
          <p:cNvSpPr/>
          <p:nvPr/>
        </p:nvSpPr>
        <p:spPr>
          <a:xfrm>
            <a:off x="3246120" y="1417320"/>
            <a:ext cx="2697480" cy="329184"/>
          </a:xfrm>
          <a:prstGeom prst="rect">
            <a:avLst/>
          </a:prstGeom>
          <a:solidFill>
            <a:srgbClr val="00C9A7"/>
          </a:solidFill>
          <a:ln w="12700">
            <a:solidFill>
              <a:srgbClr val="00C9A7"/>
            </a:solidFill>
            <a:prstDash val="solid"/>
          </a:ln>
        </p:spPr>
      </p:sp>
      <p:sp>
        <p:nvSpPr>
          <p:cNvPr id="9" name="Text 7"/>
          <p:cNvSpPr/>
          <p:nvPr/>
        </p:nvSpPr>
        <p:spPr>
          <a:xfrm>
            <a:off x="3246120" y="1417320"/>
            <a:ext cx="2697480" cy="329184"/>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FactFlights</a:t>
            </a:r>
            <a:endParaRPr lang="en-US" sz="1300" dirty="0"/>
          </a:p>
        </p:txBody>
      </p:sp>
      <p:sp>
        <p:nvSpPr>
          <p:cNvPr id="10" name="Text 8"/>
          <p:cNvSpPr/>
          <p:nvPr/>
        </p:nvSpPr>
        <p:spPr>
          <a:xfrm>
            <a:off x="3337560" y="1810512"/>
            <a:ext cx="2514600" cy="173736"/>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FlightID (PK)</a:t>
            </a:r>
            <a:endParaRPr lang="en-US" sz="900" dirty="0"/>
          </a:p>
        </p:txBody>
      </p:sp>
      <p:sp>
        <p:nvSpPr>
          <p:cNvPr id="11" name="Text 9"/>
          <p:cNvSpPr/>
          <p:nvPr/>
        </p:nvSpPr>
        <p:spPr>
          <a:xfrm>
            <a:off x="3337560" y="1988820"/>
            <a:ext cx="2514600" cy="173736"/>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DateKey (FK)</a:t>
            </a:r>
            <a:endParaRPr lang="en-US" sz="900" dirty="0"/>
          </a:p>
        </p:txBody>
      </p:sp>
      <p:sp>
        <p:nvSpPr>
          <p:cNvPr id="12" name="Text 10"/>
          <p:cNvSpPr/>
          <p:nvPr/>
        </p:nvSpPr>
        <p:spPr>
          <a:xfrm>
            <a:off x="3337560" y="2167128"/>
            <a:ext cx="2514600" cy="173736"/>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DepartureAirportKey (FK)</a:t>
            </a:r>
            <a:endParaRPr lang="en-US" sz="900" dirty="0"/>
          </a:p>
        </p:txBody>
      </p:sp>
      <p:sp>
        <p:nvSpPr>
          <p:cNvPr id="13" name="Text 11"/>
          <p:cNvSpPr/>
          <p:nvPr/>
        </p:nvSpPr>
        <p:spPr>
          <a:xfrm>
            <a:off x="3337560" y="2345436"/>
            <a:ext cx="2514600" cy="173736"/>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ArrivalAirportKey (FK)</a:t>
            </a:r>
            <a:endParaRPr lang="en-US" sz="900" dirty="0"/>
          </a:p>
        </p:txBody>
      </p:sp>
      <p:sp>
        <p:nvSpPr>
          <p:cNvPr id="14" name="Text 12"/>
          <p:cNvSpPr/>
          <p:nvPr/>
        </p:nvSpPr>
        <p:spPr>
          <a:xfrm>
            <a:off x="3337560" y="2523744"/>
            <a:ext cx="2514600" cy="173736"/>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AirlineKey (FK)</a:t>
            </a:r>
            <a:endParaRPr lang="en-US" sz="900" dirty="0"/>
          </a:p>
        </p:txBody>
      </p:sp>
      <p:sp>
        <p:nvSpPr>
          <p:cNvPr id="15" name="Text 13"/>
          <p:cNvSpPr/>
          <p:nvPr/>
        </p:nvSpPr>
        <p:spPr>
          <a:xfrm>
            <a:off x="3337560" y="2702052"/>
            <a:ext cx="2514600" cy="173736"/>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PilotKey (FK)</a:t>
            </a:r>
            <a:endParaRPr lang="en-US" sz="900" dirty="0"/>
          </a:p>
        </p:txBody>
      </p:sp>
      <p:sp>
        <p:nvSpPr>
          <p:cNvPr id="16" name="Text 14"/>
          <p:cNvSpPr/>
          <p:nvPr/>
        </p:nvSpPr>
        <p:spPr>
          <a:xfrm>
            <a:off x="3337560" y="2880360"/>
            <a:ext cx="2514600" cy="173736"/>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DelayMinutes</a:t>
            </a:r>
            <a:endParaRPr lang="en-US" sz="900" dirty="0"/>
          </a:p>
        </p:txBody>
      </p:sp>
      <p:sp>
        <p:nvSpPr>
          <p:cNvPr id="17" name="Text 15"/>
          <p:cNvSpPr/>
          <p:nvPr/>
        </p:nvSpPr>
        <p:spPr>
          <a:xfrm>
            <a:off x="3337560" y="3058668"/>
            <a:ext cx="2514600" cy="173736"/>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PassengersOnboard</a:t>
            </a:r>
            <a:endParaRPr lang="en-US" sz="900" dirty="0"/>
          </a:p>
        </p:txBody>
      </p:sp>
      <p:sp>
        <p:nvSpPr>
          <p:cNvPr id="18" name="Text 16"/>
          <p:cNvSpPr/>
          <p:nvPr/>
        </p:nvSpPr>
        <p:spPr>
          <a:xfrm>
            <a:off x="3337560" y="3236976"/>
            <a:ext cx="2514600" cy="173736"/>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FuelUsedLiters</a:t>
            </a:r>
            <a:endParaRPr lang="en-US" sz="900" dirty="0"/>
          </a:p>
        </p:txBody>
      </p:sp>
      <p:sp>
        <p:nvSpPr>
          <p:cNvPr id="19" name="Text 17"/>
          <p:cNvSpPr/>
          <p:nvPr/>
        </p:nvSpPr>
        <p:spPr>
          <a:xfrm>
            <a:off x="3337560" y="3415284"/>
            <a:ext cx="2514600" cy="173736"/>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Status</a:t>
            </a:r>
            <a:endParaRPr lang="en-US" sz="900" dirty="0"/>
          </a:p>
        </p:txBody>
      </p:sp>
      <p:sp>
        <p:nvSpPr>
          <p:cNvPr id="20" name="Text 18"/>
          <p:cNvSpPr/>
          <p:nvPr/>
        </p:nvSpPr>
        <p:spPr>
          <a:xfrm>
            <a:off x="3337560" y="3593592"/>
            <a:ext cx="2514600" cy="173736"/>
          </a:xfrm>
          <a:prstGeom prst="rect">
            <a:avLst/>
          </a:prstGeom>
          <a:noFill/>
          <a:ln/>
        </p:spPr>
        <p:txBody>
          <a:bodyPr wrap="square" rtlCol="0" anchor="ctr"/>
          <a:lstStyle/>
          <a:p>
            <a:pPr indent="0" marL="0">
              <a:buNone/>
            </a:pPr>
            <a:r>
              <a:rPr lang="en-US" sz="900" dirty="0">
                <a:solidFill>
                  <a:srgbClr val="E8F4FD"/>
                </a:solidFill>
                <a:latin typeface="Calibri" pitchFamily="34" charset="0"/>
                <a:ea typeface="Calibri" pitchFamily="34" charset="-122"/>
                <a:cs typeface="Calibri" pitchFamily="34" charset="-120"/>
              </a:rPr>
              <a:t>WeatherCondition</a:t>
            </a:r>
            <a:endParaRPr lang="en-US" sz="900" dirty="0"/>
          </a:p>
        </p:txBody>
      </p:sp>
      <p:sp>
        <p:nvSpPr>
          <p:cNvPr id="21" name="Shape 19"/>
          <p:cNvSpPr/>
          <p:nvPr/>
        </p:nvSpPr>
        <p:spPr>
          <a:xfrm>
            <a:off x="182880" y="1417320"/>
            <a:ext cx="2377440" cy="1463040"/>
          </a:xfrm>
          <a:prstGeom prst="rect">
            <a:avLst/>
          </a:prstGeom>
          <a:solidFill>
            <a:srgbClr val="0F2040"/>
          </a:solidFill>
          <a:ln w="12700">
            <a:solidFill>
              <a:srgbClr val="2196F3"/>
            </a:solidFill>
            <a:prstDash val="solid"/>
          </a:ln>
        </p:spPr>
      </p:sp>
      <p:sp>
        <p:nvSpPr>
          <p:cNvPr id="22" name="Shape 20"/>
          <p:cNvSpPr/>
          <p:nvPr/>
        </p:nvSpPr>
        <p:spPr>
          <a:xfrm>
            <a:off x="182880" y="1417320"/>
            <a:ext cx="2377440" cy="292608"/>
          </a:xfrm>
          <a:prstGeom prst="rect">
            <a:avLst/>
          </a:prstGeom>
          <a:solidFill>
            <a:srgbClr val="2196F3"/>
          </a:solidFill>
          <a:ln w="12700">
            <a:solidFill>
              <a:srgbClr val="2196F3"/>
            </a:solidFill>
            <a:prstDash val="solid"/>
          </a:ln>
        </p:spPr>
      </p:sp>
      <p:sp>
        <p:nvSpPr>
          <p:cNvPr id="23" name="Text 21"/>
          <p:cNvSpPr/>
          <p:nvPr/>
        </p:nvSpPr>
        <p:spPr>
          <a:xfrm>
            <a:off x="182880" y="1417320"/>
            <a:ext cx="2377440" cy="292608"/>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DimDate</a:t>
            </a:r>
            <a:endParaRPr lang="en-US" sz="1100" dirty="0"/>
          </a:p>
        </p:txBody>
      </p:sp>
      <p:sp>
        <p:nvSpPr>
          <p:cNvPr id="24" name="Text 22"/>
          <p:cNvSpPr/>
          <p:nvPr/>
        </p:nvSpPr>
        <p:spPr>
          <a:xfrm>
            <a:off x="274320" y="1764792"/>
            <a:ext cx="2194560" cy="141732"/>
          </a:xfrm>
          <a:prstGeom prst="rect">
            <a:avLst/>
          </a:prstGeom>
          <a:noFill/>
          <a:ln/>
        </p:spPr>
        <p:txBody>
          <a:bodyPr wrap="square" rtlCol="0" anchor="ctr"/>
          <a:lstStyle/>
          <a:p>
            <a:pPr indent="0" marL="0">
              <a:buNone/>
            </a:pPr>
            <a:r>
              <a:rPr lang="en-US" sz="850" b="1" dirty="0">
                <a:solidFill>
                  <a:srgbClr val="2196F3"/>
                </a:solidFill>
                <a:latin typeface="Calibri" pitchFamily="34" charset="0"/>
                <a:ea typeface="Calibri" pitchFamily="34" charset="-122"/>
                <a:cs typeface="Calibri" pitchFamily="34" charset="-120"/>
              </a:rPr>
              <a:t>Date (PK)</a:t>
            </a:r>
            <a:endParaRPr lang="en-US" sz="850" dirty="0"/>
          </a:p>
        </p:txBody>
      </p:sp>
      <p:sp>
        <p:nvSpPr>
          <p:cNvPr id="25" name="Text 23"/>
          <p:cNvSpPr/>
          <p:nvPr/>
        </p:nvSpPr>
        <p:spPr>
          <a:xfrm>
            <a:off x="274320" y="1906524"/>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Year</a:t>
            </a:r>
            <a:endParaRPr lang="en-US" sz="850" dirty="0"/>
          </a:p>
        </p:txBody>
      </p:sp>
      <p:sp>
        <p:nvSpPr>
          <p:cNvPr id="26" name="Text 24"/>
          <p:cNvSpPr/>
          <p:nvPr/>
        </p:nvSpPr>
        <p:spPr>
          <a:xfrm>
            <a:off x="274320" y="2048256"/>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Quarter</a:t>
            </a:r>
            <a:endParaRPr lang="en-US" sz="850" dirty="0"/>
          </a:p>
        </p:txBody>
      </p:sp>
      <p:sp>
        <p:nvSpPr>
          <p:cNvPr id="27" name="Text 25"/>
          <p:cNvSpPr/>
          <p:nvPr/>
        </p:nvSpPr>
        <p:spPr>
          <a:xfrm>
            <a:off x="274320" y="2189988"/>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MonthName</a:t>
            </a:r>
            <a:endParaRPr lang="en-US" sz="850" dirty="0"/>
          </a:p>
        </p:txBody>
      </p:sp>
      <p:sp>
        <p:nvSpPr>
          <p:cNvPr id="28" name="Text 26"/>
          <p:cNvSpPr/>
          <p:nvPr/>
        </p:nvSpPr>
        <p:spPr>
          <a:xfrm>
            <a:off x="274320" y="2331720"/>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Season</a:t>
            </a:r>
            <a:endParaRPr lang="en-US" sz="850" dirty="0"/>
          </a:p>
        </p:txBody>
      </p:sp>
      <p:sp>
        <p:nvSpPr>
          <p:cNvPr id="29" name="Text 27"/>
          <p:cNvSpPr/>
          <p:nvPr/>
        </p:nvSpPr>
        <p:spPr>
          <a:xfrm>
            <a:off x="274320" y="2473452"/>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IsHoliday</a:t>
            </a:r>
            <a:endParaRPr lang="en-US" sz="850" dirty="0"/>
          </a:p>
        </p:txBody>
      </p:sp>
      <p:sp>
        <p:nvSpPr>
          <p:cNvPr id="30" name="Text 28"/>
          <p:cNvSpPr/>
          <p:nvPr/>
        </p:nvSpPr>
        <p:spPr>
          <a:xfrm>
            <a:off x="274320" y="2615184"/>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IsWeekend</a:t>
            </a:r>
            <a:endParaRPr lang="en-US" sz="850" dirty="0"/>
          </a:p>
        </p:txBody>
      </p:sp>
      <p:sp>
        <p:nvSpPr>
          <p:cNvPr id="31" name="Text 29"/>
          <p:cNvSpPr/>
          <p:nvPr/>
        </p:nvSpPr>
        <p:spPr>
          <a:xfrm>
            <a:off x="274320" y="2756916"/>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IsPeakTravelMonth</a:t>
            </a:r>
            <a:endParaRPr lang="en-US" sz="850" dirty="0"/>
          </a:p>
        </p:txBody>
      </p:sp>
      <p:sp>
        <p:nvSpPr>
          <p:cNvPr id="32" name="Shape 30"/>
          <p:cNvSpPr/>
          <p:nvPr/>
        </p:nvSpPr>
        <p:spPr>
          <a:xfrm>
            <a:off x="182880" y="3401568"/>
            <a:ext cx="2377440" cy="1463040"/>
          </a:xfrm>
          <a:prstGeom prst="rect">
            <a:avLst/>
          </a:prstGeom>
          <a:solidFill>
            <a:srgbClr val="0F2040"/>
          </a:solidFill>
          <a:ln w="12700">
            <a:solidFill>
              <a:srgbClr val="FF6B6B"/>
            </a:solidFill>
            <a:prstDash val="solid"/>
          </a:ln>
        </p:spPr>
      </p:sp>
      <p:sp>
        <p:nvSpPr>
          <p:cNvPr id="33" name="Shape 31"/>
          <p:cNvSpPr/>
          <p:nvPr/>
        </p:nvSpPr>
        <p:spPr>
          <a:xfrm>
            <a:off x="182880" y="3401568"/>
            <a:ext cx="2377440" cy="292608"/>
          </a:xfrm>
          <a:prstGeom prst="rect">
            <a:avLst/>
          </a:prstGeom>
          <a:solidFill>
            <a:srgbClr val="FF6B6B"/>
          </a:solidFill>
          <a:ln w="12700">
            <a:solidFill>
              <a:srgbClr val="FF6B6B"/>
            </a:solidFill>
            <a:prstDash val="solid"/>
          </a:ln>
        </p:spPr>
      </p:sp>
      <p:sp>
        <p:nvSpPr>
          <p:cNvPr id="34" name="Text 32"/>
          <p:cNvSpPr/>
          <p:nvPr/>
        </p:nvSpPr>
        <p:spPr>
          <a:xfrm>
            <a:off x="182880" y="3401568"/>
            <a:ext cx="2377440" cy="292608"/>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DimAirport</a:t>
            </a:r>
            <a:endParaRPr lang="en-US" sz="1100" dirty="0"/>
          </a:p>
        </p:txBody>
      </p:sp>
      <p:sp>
        <p:nvSpPr>
          <p:cNvPr id="35" name="Text 33"/>
          <p:cNvSpPr/>
          <p:nvPr/>
        </p:nvSpPr>
        <p:spPr>
          <a:xfrm>
            <a:off x="274320" y="3749040"/>
            <a:ext cx="2194560" cy="141732"/>
          </a:xfrm>
          <a:prstGeom prst="rect">
            <a:avLst/>
          </a:prstGeom>
          <a:noFill/>
          <a:ln/>
        </p:spPr>
        <p:txBody>
          <a:bodyPr wrap="square" rtlCol="0" anchor="ctr"/>
          <a:lstStyle/>
          <a:p>
            <a:pPr indent="0" marL="0">
              <a:buNone/>
            </a:pPr>
            <a:r>
              <a:rPr lang="en-US" sz="850" b="1" dirty="0">
                <a:solidFill>
                  <a:srgbClr val="FF6B6B"/>
                </a:solidFill>
                <a:latin typeface="Calibri" pitchFamily="34" charset="0"/>
                <a:ea typeface="Calibri" pitchFamily="34" charset="-122"/>
                <a:cs typeface="Calibri" pitchFamily="34" charset="-120"/>
              </a:rPr>
              <a:t>AirportCode (PK)</a:t>
            </a:r>
            <a:endParaRPr lang="en-US" sz="850" dirty="0"/>
          </a:p>
        </p:txBody>
      </p:sp>
      <p:sp>
        <p:nvSpPr>
          <p:cNvPr id="36" name="Text 34"/>
          <p:cNvSpPr/>
          <p:nvPr/>
        </p:nvSpPr>
        <p:spPr>
          <a:xfrm>
            <a:off x="274320" y="3890772"/>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AirportName</a:t>
            </a:r>
            <a:endParaRPr lang="en-US" sz="850" dirty="0"/>
          </a:p>
        </p:txBody>
      </p:sp>
      <p:sp>
        <p:nvSpPr>
          <p:cNvPr id="37" name="Text 35"/>
          <p:cNvSpPr/>
          <p:nvPr/>
        </p:nvSpPr>
        <p:spPr>
          <a:xfrm>
            <a:off x="274320" y="4032504"/>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City</a:t>
            </a:r>
            <a:endParaRPr lang="en-US" sz="850" dirty="0"/>
          </a:p>
        </p:txBody>
      </p:sp>
      <p:sp>
        <p:nvSpPr>
          <p:cNvPr id="38" name="Text 36"/>
          <p:cNvSpPr/>
          <p:nvPr/>
        </p:nvSpPr>
        <p:spPr>
          <a:xfrm>
            <a:off x="274320" y="4174236"/>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State</a:t>
            </a:r>
            <a:endParaRPr lang="en-US" sz="850" dirty="0"/>
          </a:p>
        </p:txBody>
      </p:sp>
      <p:sp>
        <p:nvSpPr>
          <p:cNvPr id="39" name="Text 37"/>
          <p:cNvSpPr/>
          <p:nvPr/>
        </p:nvSpPr>
        <p:spPr>
          <a:xfrm>
            <a:off x="274320" y="4315968"/>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Region</a:t>
            </a:r>
            <a:endParaRPr lang="en-US" sz="850" dirty="0"/>
          </a:p>
        </p:txBody>
      </p:sp>
      <p:sp>
        <p:nvSpPr>
          <p:cNvPr id="40" name="Text 38"/>
          <p:cNvSpPr/>
          <p:nvPr/>
        </p:nvSpPr>
        <p:spPr>
          <a:xfrm>
            <a:off x="274320" y="4457700"/>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Latitude</a:t>
            </a:r>
            <a:endParaRPr lang="en-US" sz="850" dirty="0"/>
          </a:p>
        </p:txBody>
      </p:sp>
      <p:sp>
        <p:nvSpPr>
          <p:cNvPr id="41" name="Text 39"/>
          <p:cNvSpPr/>
          <p:nvPr/>
        </p:nvSpPr>
        <p:spPr>
          <a:xfrm>
            <a:off x="274320" y="4599432"/>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Longitude</a:t>
            </a:r>
            <a:endParaRPr lang="en-US" sz="850" dirty="0"/>
          </a:p>
        </p:txBody>
      </p:sp>
      <p:sp>
        <p:nvSpPr>
          <p:cNvPr id="42" name="Text 40"/>
          <p:cNvSpPr/>
          <p:nvPr/>
        </p:nvSpPr>
        <p:spPr>
          <a:xfrm>
            <a:off x="274320" y="4741164"/>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Category</a:t>
            </a:r>
            <a:endParaRPr lang="en-US" sz="850" dirty="0"/>
          </a:p>
        </p:txBody>
      </p:sp>
      <p:sp>
        <p:nvSpPr>
          <p:cNvPr id="43" name="Shape 41"/>
          <p:cNvSpPr/>
          <p:nvPr/>
        </p:nvSpPr>
        <p:spPr>
          <a:xfrm>
            <a:off x="6492240" y="1417320"/>
            <a:ext cx="2377440" cy="1463040"/>
          </a:xfrm>
          <a:prstGeom prst="rect">
            <a:avLst/>
          </a:prstGeom>
          <a:solidFill>
            <a:srgbClr val="0F2040"/>
          </a:solidFill>
          <a:ln w="12700">
            <a:solidFill>
              <a:srgbClr val="FFB300"/>
            </a:solidFill>
            <a:prstDash val="solid"/>
          </a:ln>
        </p:spPr>
      </p:sp>
      <p:sp>
        <p:nvSpPr>
          <p:cNvPr id="44" name="Shape 42"/>
          <p:cNvSpPr/>
          <p:nvPr/>
        </p:nvSpPr>
        <p:spPr>
          <a:xfrm>
            <a:off x="6492240" y="1417320"/>
            <a:ext cx="2377440" cy="292608"/>
          </a:xfrm>
          <a:prstGeom prst="rect">
            <a:avLst/>
          </a:prstGeom>
          <a:solidFill>
            <a:srgbClr val="FFB300"/>
          </a:solidFill>
          <a:ln w="12700">
            <a:solidFill>
              <a:srgbClr val="FFB300"/>
            </a:solidFill>
            <a:prstDash val="solid"/>
          </a:ln>
        </p:spPr>
      </p:sp>
      <p:sp>
        <p:nvSpPr>
          <p:cNvPr id="45" name="Text 43"/>
          <p:cNvSpPr/>
          <p:nvPr/>
        </p:nvSpPr>
        <p:spPr>
          <a:xfrm>
            <a:off x="6492240" y="1417320"/>
            <a:ext cx="2377440" cy="292608"/>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DimAirline</a:t>
            </a:r>
            <a:endParaRPr lang="en-US" sz="1100" dirty="0"/>
          </a:p>
        </p:txBody>
      </p:sp>
      <p:sp>
        <p:nvSpPr>
          <p:cNvPr id="46" name="Text 44"/>
          <p:cNvSpPr/>
          <p:nvPr/>
        </p:nvSpPr>
        <p:spPr>
          <a:xfrm>
            <a:off x="6583680" y="1764792"/>
            <a:ext cx="2194560" cy="141732"/>
          </a:xfrm>
          <a:prstGeom prst="rect">
            <a:avLst/>
          </a:prstGeom>
          <a:noFill/>
          <a:ln/>
        </p:spPr>
        <p:txBody>
          <a:bodyPr wrap="square" rtlCol="0" anchor="ctr"/>
          <a:lstStyle/>
          <a:p>
            <a:pPr indent="0" marL="0">
              <a:buNone/>
            </a:pPr>
            <a:r>
              <a:rPr lang="en-US" sz="850" b="1" dirty="0">
                <a:solidFill>
                  <a:srgbClr val="FFB300"/>
                </a:solidFill>
                <a:latin typeface="Calibri" pitchFamily="34" charset="0"/>
                <a:ea typeface="Calibri" pitchFamily="34" charset="-122"/>
                <a:cs typeface="Calibri" pitchFamily="34" charset="-120"/>
              </a:rPr>
              <a:t>Airline (PK)</a:t>
            </a:r>
            <a:endParaRPr lang="en-US" sz="850" dirty="0"/>
          </a:p>
        </p:txBody>
      </p:sp>
      <p:sp>
        <p:nvSpPr>
          <p:cNvPr id="47" name="Text 45"/>
          <p:cNvSpPr/>
          <p:nvPr/>
        </p:nvSpPr>
        <p:spPr>
          <a:xfrm>
            <a:off x="6583680" y="1906524"/>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AirlineType</a:t>
            </a:r>
            <a:endParaRPr lang="en-US" sz="850" dirty="0"/>
          </a:p>
        </p:txBody>
      </p:sp>
      <p:sp>
        <p:nvSpPr>
          <p:cNvPr id="48" name="Text 46"/>
          <p:cNvSpPr/>
          <p:nvPr/>
        </p:nvSpPr>
        <p:spPr>
          <a:xfrm>
            <a:off x="6583680" y="2048256"/>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HubAirport</a:t>
            </a:r>
            <a:endParaRPr lang="en-US" sz="850" dirty="0"/>
          </a:p>
        </p:txBody>
      </p:sp>
      <p:sp>
        <p:nvSpPr>
          <p:cNvPr id="49" name="Text 47"/>
          <p:cNvSpPr/>
          <p:nvPr/>
        </p:nvSpPr>
        <p:spPr>
          <a:xfrm>
            <a:off x="6583680" y="2189988"/>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FleetSize</a:t>
            </a:r>
            <a:endParaRPr lang="en-US" sz="850" dirty="0"/>
          </a:p>
        </p:txBody>
      </p:sp>
      <p:sp>
        <p:nvSpPr>
          <p:cNvPr id="50" name="Text 48"/>
          <p:cNvSpPr/>
          <p:nvPr/>
        </p:nvSpPr>
        <p:spPr>
          <a:xfrm>
            <a:off x="6583680" y="2331720"/>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IsLCC</a:t>
            </a:r>
            <a:endParaRPr lang="en-US" sz="850" dirty="0"/>
          </a:p>
        </p:txBody>
      </p:sp>
      <p:sp>
        <p:nvSpPr>
          <p:cNvPr id="51" name="Text 49"/>
          <p:cNvSpPr/>
          <p:nvPr/>
        </p:nvSpPr>
        <p:spPr>
          <a:xfrm>
            <a:off x="6583680" y="2473452"/>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FoundedYear</a:t>
            </a:r>
            <a:endParaRPr lang="en-US" sz="850" dirty="0"/>
          </a:p>
        </p:txBody>
      </p:sp>
      <p:sp>
        <p:nvSpPr>
          <p:cNvPr id="52" name="Text 50"/>
          <p:cNvSpPr/>
          <p:nvPr/>
        </p:nvSpPr>
        <p:spPr>
          <a:xfrm>
            <a:off x="6583680" y="2615184"/>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ParentGroup</a:t>
            </a:r>
            <a:endParaRPr lang="en-US" sz="850" dirty="0"/>
          </a:p>
        </p:txBody>
      </p:sp>
      <p:sp>
        <p:nvSpPr>
          <p:cNvPr id="53" name="Shape 51"/>
          <p:cNvSpPr/>
          <p:nvPr/>
        </p:nvSpPr>
        <p:spPr>
          <a:xfrm>
            <a:off x="6492240" y="3246120"/>
            <a:ext cx="2377440" cy="1463040"/>
          </a:xfrm>
          <a:prstGeom prst="rect">
            <a:avLst/>
          </a:prstGeom>
          <a:solidFill>
            <a:srgbClr val="0F2040"/>
          </a:solidFill>
          <a:ln w="12700">
            <a:solidFill>
              <a:srgbClr val="00C9A7"/>
            </a:solidFill>
            <a:prstDash val="solid"/>
          </a:ln>
        </p:spPr>
      </p:sp>
      <p:sp>
        <p:nvSpPr>
          <p:cNvPr id="54" name="Shape 52"/>
          <p:cNvSpPr/>
          <p:nvPr/>
        </p:nvSpPr>
        <p:spPr>
          <a:xfrm>
            <a:off x="6492240" y="3246120"/>
            <a:ext cx="2377440" cy="292608"/>
          </a:xfrm>
          <a:prstGeom prst="rect">
            <a:avLst/>
          </a:prstGeom>
          <a:solidFill>
            <a:srgbClr val="00C9A7"/>
          </a:solidFill>
          <a:ln w="12700">
            <a:solidFill>
              <a:srgbClr val="00C9A7"/>
            </a:solidFill>
            <a:prstDash val="solid"/>
          </a:ln>
        </p:spPr>
      </p:sp>
      <p:sp>
        <p:nvSpPr>
          <p:cNvPr id="55" name="Text 53"/>
          <p:cNvSpPr/>
          <p:nvPr/>
        </p:nvSpPr>
        <p:spPr>
          <a:xfrm>
            <a:off x="6492240" y="3246120"/>
            <a:ext cx="2377440" cy="292608"/>
          </a:xfrm>
          <a:prstGeom prst="rect">
            <a:avLst/>
          </a:prstGeom>
          <a:noFill/>
          <a:ln/>
        </p:spPr>
        <p:txBody>
          <a:bodyPr wrap="square" rtlCol="0" anchor="ctr"/>
          <a:lstStyle/>
          <a:p>
            <a:pPr algn="ctr" indent="0" marL="0">
              <a:buNone/>
            </a:pPr>
            <a:r>
              <a:rPr lang="en-US" sz="1100" b="1" dirty="0">
                <a:solidFill>
                  <a:srgbClr val="0A1628"/>
                </a:solidFill>
                <a:latin typeface="Calibri" pitchFamily="34" charset="0"/>
                <a:ea typeface="Calibri" pitchFamily="34" charset="-122"/>
                <a:cs typeface="Calibri" pitchFamily="34" charset="-120"/>
              </a:rPr>
              <a:t>DimPilot</a:t>
            </a:r>
            <a:endParaRPr lang="en-US" sz="1100" dirty="0"/>
          </a:p>
        </p:txBody>
      </p:sp>
      <p:sp>
        <p:nvSpPr>
          <p:cNvPr id="56" name="Text 54"/>
          <p:cNvSpPr/>
          <p:nvPr/>
        </p:nvSpPr>
        <p:spPr>
          <a:xfrm>
            <a:off x="6583680" y="3593592"/>
            <a:ext cx="2194560" cy="141732"/>
          </a:xfrm>
          <a:prstGeom prst="rect">
            <a:avLst/>
          </a:prstGeom>
          <a:noFill/>
          <a:ln/>
        </p:spPr>
        <p:txBody>
          <a:bodyPr wrap="square" rtlCol="0" anchor="ctr"/>
          <a:lstStyle/>
          <a:p>
            <a:pPr indent="0" marL="0">
              <a:buNone/>
            </a:pPr>
            <a:r>
              <a:rPr lang="en-US" sz="850" b="1" dirty="0">
                <a:solidFill>
                  <a:srgbClr val="00C9A7"/>
                </a:solidFill>
                <a:latin typeface="Calibri" pitchFamily="34" charset="0"/>
                <a:ea typeface="Calibri" pitchFamily="34" charset="-122"/>
                <a:cs typeface="Calibri" pitchFamily="34" charset="-120"/>
              </a:rPr>
              <a:t>PilotID (PK)</a:t>
            </a:r>
            <a:endParaRPr lang="en-US" sz="850" dirty="0"/>
          </a:p>
        </p:txBody>
      </p:sp>
      <p:sp>
        <p:nvSpPr>
          <p:cNvPr id="57" name="Text 55"/>
          <p:cNvSpPr/>
          <p:nvPr/>
        </p:nvSpPr>
        <p:spPr>
          <a:xfrm>
            <a:off x="6583680" y="3735324"/>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PilotName</a:t>
            </a:r>
            <a:endParaRPr lang="en-US" sz="850" dirty="0"/>
          </a:p>
        </p:txBody>
      </p:sp>
      <p:sp>
        <p:nvSpPr>
          <p:cNvPr id="58" name="Text 56"/>
          <p:cNvSpPr/>
          <p:nvPr/>
        </p:nvSpPr>
        <p:spPr>
          <a:xfrm>
            <a:off x="6583680" y="3877056"/>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AirlineKey</a:t>
            </a:r>
            <a:endParaRPr lang="en-US" sz="850" dirty="0"/>
          </a:p>
        </p:txBody>
      </p:sp>
      <p:sp>
        <p:nvSpPr>
          <p:cNvPr id="59" name="Text 57"/>
          <p:cNvSpPr/>
          <p:nvPr/>
        </p:nvSpPr>
        <p:spPr>
          <a:xfrm>
            <a:off x="6583680" y="4018788"/>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Rank</a:t>
            </a:r>
            <a:endParaRPr lang="en-US" sz="850" dirty="0"/>
          </a:p>
        </p:txBody>
      </p:sp>
      <p:sp>
        <p:nvSpPr>
          <p:cNvPr id="60" name="Text 58"/>
          <p:cNvSpPr/>
          <p:nvPr/>
        </p:nvSpPr>
        <p:spPr>
          <a:xfrm>
            <a:off x="6583680" y="4160520"/>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ExperienceYears</a:t>
            </a:r>
            <a:endParaRPr lang="en-US" sz="850" dirty="0"/>
          </a:p>
        </p:txBody>
      </p:sp>
      <p:sp>
        <p:nvSpPr>
          <p:cNvPr id="61" name="Text 59"/>
          <p:cNvSpPr/>
          <p:nvPr/>
        </p:nvSpPr>
        <p:spPr>
          <a:xfrm>
            <a:off x="6583680" y="4302252"/>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Rating</a:t>
            </a:r>
            <a:endParaRPr lang="en-US" sz="850" dirty="0"/>
          </a:p>
        </p:txBody>
      </p:sp>
      <p:sp>
        <p:nvSpPr>
          <p:cNvPr id="62" name="Text 60"/>
          <p:cNvSpPr/>
          <p:nvPr/>
        </p:nvSpPr>
        <p:spPr>
          <a:xfrm>
            <a:off x="6583680" y="4443984"/>
            <a:ext cx="2194560" cy="14173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ExperienceBand</a:t>
            </a:r>
            <a:endParaRPr lang="en-US" sz="850" dirty="0"/>
          </a:p>
        </p:txBody>
      </p:sp>
      <p:sp>
        <p:nvSpPr>
          <p:cNvPr id="63" name="Shape 61"/>
          <p:cNvSpPr/>
          <p:nvPr/>
        </p:nvSpPr>
        <p:spPr>
          <a:xfrm>
            <a:off x="2560320" y="2148840"/>
            <a:ext cx="685800" cy="0"/>
          </a:xfrm>
          <a:prstGeom prst="line">
            <a:avLst/>
          </a:prstGeom>
          <a:noFill/>
          <a:ln w="15240">
            <a:solidFill>
              <a:srgbClr val="2196F3"/>
            </a:solidFill>
            <a:prstDash val="sysDash"/>
          </a:ln>
        </p:spPr>
      </p:sp>
      <p:sp>
        <p:nvSpPr>
          <p:cNvPr id="64" name="Shape 62"/>
          <p:cNvSpPr/>
          <p:nvPr/>
        </p:nvSpPr>
        <p:spPr>
          <a:xfrm>
            <a:off x="2560320" y="3886200"/>
            <a:ext cx="685800" cy="0"/>
          </a:xfrm>
          <a:prstGeom prst="line">
            <a:avLst/>
          </a:prstGeom>
          <a:noFill/>
          <a:ln w="15240">
            <a:solidFill>
              <a:srgbClr val="FF6B6B"/>
            </a:solidFill>
            <a:prstDash val="sysDash"/>
          </a:ln>
        </p:spPr>
      </p:sp>
      <p:sp>
        <p:nvSpPr>
          <p:cNvPr id="65" name="Shape 63"/>
          <p:cNvSpPr/>
          <p:nvPr/>
        </p:nvSpPr>
        <p:spPr>
          <a:xfrm>
            <a:off x="5943600" y="2148840"/>
            <a:ext cx="548640" cy="0"/>
          </a:xfrm>
          <a:prstGeom prst="line">
            <a:avLst/>
          </a:prstGeom>
          <a:noFill/>
          <a:ln w="15240">
            <a:solidFill>
              <a:srgbClr val="FFB300"/>
            </a:solidFill>
            <a:prstDash val="sysDash"/>
          </a:ln>
        </p:spPr>
      </p:sp>
      <p:sp>
        <p:nvSpPr>
          <p:cNvPr id="66" name="Shape 64"/>
          <p:cNvSpPr/>
          <p:nvPr/>
        </p:nvSpPr>
        <p:spPr>
          <a:xfrm>
            <a:off x="5943600" y="3886200"/>
            <a:ext cx="548640" cy="0"/>
          </a:xfrm>
          <a:prstGeom prst="line">
            <a:avLst/>
          </a:prstGeom>
          <a:noFill/>
          <a:ln w="15240">
            <a:solidFill>
              <a:srgbClr val="00C9A7"/>
            </a:solidFill>
            <a:prstDash val="sysDash"/>
          </a:ln>
        </p:spPr>
      </p:sp>
      <p:sp>
        <p:nvSpPr>
          <p:cNvPr id="67" name="Shape 65"/>
          <p:cNvSpPr/>
          <p:nvPr/>
        </p:nvSpPr>
        <p:spPr>
          <a:xfrm>
            <a:off x="0" y="4892040"/>
            <a:ext cx="9144000" cy="251460"/>
          </a:xfrm>
          <a:prstGeom prst="rect">
            <a:avLst/>
          </a:prstGeom>
          <a:solidFill>
            <a:srgbClr val="051020"/>
          </a:solidFill>
          <a:ln w="12700">
            <a:solidFill>
              <a:srgbClr val="051020"/>
            </a:solidFill>
            <a:prstDash val="solid"/>
          </a:ln>
        </p:spPr>
      </p:sp>
      <p:sp>
        <p:nvSpPr>
          <p:cNvPr id="68" name="Text 66"/>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07  ·  DAX MEASURES</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DAX Measures &amp; Calculations</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Core KPI formulas powering the 4-page RunwayInsights dashboard</a:t>
            </a:r>
            <a:endParaRPr lang="en-US" sz="1200" dirty="0"/>
          </a:p>
        </p:txBody>
      </p:sp>
      <p:sp>
        <p:nvSpPr>
          <p:cNvPr id="7" name="Shape 5"/>
          <p:cNvSpPr/>
          <p:nvPr/>
        </p:nvSpPr>
        <p:spPr>
          <a:xfrm>
            <a:off x="365760" y="1417320"/>
            <a:ext cx="2057400" cy="1005840"/>
          </a:xfrm>
          <a:prstGeom prst="rect">
            <a:avLst/>
          </a:prstGeom>
          <a:solidFill>
            <a:srgbClr val="0F2040"/>
          </a:solidFill>
          <a:ln w="6350">
            <a:solidFill>
              <a:srgbClr val="4A6080"/>
            </a:solidFill>
            <a:prstDash val="solid"/>
          </a:ln>
        </p:spPr>
      </p:sp>
      <p:sp>
        <p:nvSpPr>
          <p:cNvPr id="8" name="Shape 6"/>
          <p:cNvSpPr/>
          <p:nvPr/>
        </p:nvSpPr>
        <p:spPr>
          <a:xfrm>
            <a:off x="365760" y="1417320"/>
            <a:ext cx="2057400" cy="256032"/>
          </a:xfrm>
          <a:prstGeom prst="rect">
            <a:avLst/>
          </a:prstGeom>
          <a:solidFill>
            <a:srgbClr val="004D40"/>
          </a:solidFill>
          <a:ln w="10160">
            <a:solidFill>
              <a:srgbClr val="00C9A7"/>
            </a:solidFill>
            <a:prstDash val="solid"/>
          </a:ln>
        </p:spPr>
      </p:sp>
      <p:sp>
        <p:nvSpPr>
          <p:cNvPr id="9" name="Text 7"/>
          <p:cNvSpPr/>
          <p:nvPr/>
        </p:nvSpPr>
        <p:spPr>
          <a:xfrm>
            <a:off x="457200" y="1453896"/>
            <a:ext cx="1874520" cy="219456"/>
          </a:xfrm>
          <a:prstGeom prst="rect">
            <a:avLst/>
          </a:prstGeom>
          <a:noFill/>
          <a:ln/>
        </p:spPr>
        <p:txBody>
          <a:bodyPr wrap="square" rtlCol="0" anchor="ctr"/>
          <a:lstStyle/>
          <a:p>
            <a:pPr indent="0" marL="0">
              <a:buNone/>
            </a:pPr>
            <a:r>
              <a:rPr lang="en-US" sz="1000" b="1" dirty="0">
                <a:solidFill>
                  <a:srgbClr val="00C9A7"/>
                </a:solidFill>
                <a:latin typeface="Calibri" pitchFamily="34" charset="0"/>
                <a:ea typeface="Calibri" pitchFamily="34" charset="-122"/>
                <a:cs typeface="Calibri" pitchFamily="34" charset="-120"/>
              </a:rPr>
              <a:t>Total Flights</a:t>
            </a:r>
            <a:endParaRPr lang="en-US" sz="1000" dirty="0"/>
          </a:p>
        </p:txBody>
      </p:sp>
      <p:sp>
        <p:nvSpPr>
          <p:cNvPr id="10" name="Text 8"/>
          <p:cNvSpPr/>
          <p:nvPr/>
        </p:nvSpPr>
        <p:spPr>
          <a:xfrm>
            <a:off x="438912" y="1719072"/>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COUNTROWS(FactFlights)</a:t>
            </a:r>
            <a:endParaRPr lang="en-US" sz="800" dirty="0"/>
          </a:p>
        </p:txBody>
      </p:sp>
      <p:sp>
        <p:nvSpPr>
          <p:cNvPr id="11" name="Shape 9"/>
          <p:cNvSpPr/>
          <p:nvPr/>
        </p:nvSpPr>
        <p:spPr>
          <a:xfrm>
            <a:off x="2514600" y="1417320"/>
            <a:ext cx="2057400" cy="1005840"/>
          </a:xfrm>
          <a:prstGeom prst="rect">
            <a:avLst/>
          </a:prstGeom>
          <a:solidFill>
            <a:srgbClr val="0F2040"/>
          </a:solidFill>
          <a:ln w="6350">
            <a:solidFill>
              <a:srgbClr val="4A6080"/>
            </a:solidFill>
            <a:prstDash val="solid"/>
          </a:ln>
        </p:spPr>
      </p:sp>
      <p:sp>
        <p:nvSpPr>
          <p:cNvPr id="12" name="Shape 10"/>
          <p:cNvSpPr/>
          <p:nvPr/>
        </p:nvSpPr>
        <p:spPr>
          <a:xfrm>
            <a:off x="2514600" y="1417320"/>
            <a:ext cx="2057400" cy="256032"/>
          </a:xfrm>
          <a:prstGeom prst="rect">
            <a:avLst/>
          </a:prstGeom>
          <a:solidFill>
            <a:srgbClr val="0D3060"/>
          </a:solidFill>
          <a:ln w="10160">
            <a:solidFill>
              <a:srgbClr val="2196F3"/>
            </a:solidFill>
            <a:prstDash val="solid"/>
          </a:ln>
        </p:spPr>
      </p:sp>
      <p:sp>
        <p:nvSpPr>
          <p:cNvPr id="13" name="Text 11"/>
          <p:cNvSpPr/>
          <p:nvPr/>
        </p:nvSpPr>
        <p:spPr>
          <a:xfrm>
            <a:off x="2606040" y="1453896"/>
            <a:ext cx="1874520" cy="219456"/>
          </a:xfrm>
          <a:prstGeom prst="rect">
            <a:avLst/>
          </a:prstGeom>
          <a:noFill/>
          <a:ln/>
        </p:spPr>
        <p:txBody>
          <a:bodyPr wrap="square" rtlCol="0" anchor="ctr"/>
          <a:lstStyle/>
          <a:p>
            <a:pPr indent="0" marL="0">
              <a:buNone/>
            </a:pPr>
            <a:r>
              <a:rPr lang="en-US" sz="1000" b="1" dirty="0">
                <a:solidFill>
                  <a:srgbClr val="2196F3"/>
                </a:solidFill>
                <a:latin typeface="Calibri" pitchFamily="34" charset="0"/>
                <a:ea typeface="Calibri" pitchFamily="34" charset="-122"/>
                <a:cs typeface="Calibri" pitchFamily="34" charset="-120"/>
              </a:rPr>
              <a:t>OTP %</a:t>
            </a:r>
            <a:endParaRPr lang="en-US" sz="1000" dirty="0"/>
          </a:p>
        </p:txBody>
      </p:sp>
      <p:sp>
        <p:nvSpPr>
          <p:cNvPr id="14" name="Text 12"/>
          <p:cNvSpPr/>
          <p:nvPr/>
        </p:nvSpPr>
        <p:spPr>
          <a:xfrm>
            <a:off x="2587752" y="1719072"/>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DIVIDE([On Time Flights],[Total Flights],0)</a:t>
            </a:r>
            <a:endParaRPr lang="en-US" sz="800" dirty="0"/>
          </a:p>
        </p:txBody>
      </p:sp>
      <p:sp>
        <p:nvSpPr>
          <p:cNvPr id="15" name="Shape 13"/>
          <p:cNvSpPr/>
          <p:nvPr/>
        </p:nvSpPr>
        <p:spPr>
          <a:xfrm>
            <a:off x="4663440" y="1417320"/>
            <a:ext cx="2057400" cy="1005840"/>
          </a:xfrm>
          <a:prstGeom prst="rect">
            <a:avLst/>
          </a:prstGeom>
          <a:solidFill>
            <a:srgbClr val="0F2040"/>
          </a:solidFill>
          <a:ln w="6350">
            <a:solidFill>
              <a:srgbClr val="4A6080"/>
            </a:solidFill>
            <a:prstDash val="solid"/>
          </a:ln>
        </p:spPr>
      </p:sp>
      <p:sp>
        <p:nvSpPr>
          <p:cNvPr id="16" name="Shape 14"/>
          <p:cNvSpPr/>
          <p:nvPr/>
        </p:nvSpPr>
        <p:spPr>
          <a:xfrm>
            <a:off x="4663440" y="1417320"/>
            <a:ext cx="2057400" cy="256032"/>
          </a:xfrm>
          <a:prstGeom prst="rect">
            <a:avLst/>
          </a:prstGeom>
          <a:solidFill>
            <a:srgbClr val="4A1515"/>
          </a:solidFill>
          <a:ln w="10160">
            <a:solidFill>
              <a:srgbClr val="FF6B6B"/>
            </a:solidFill>
            <a:prstDash val="solid"/>
          </a:ln>
        </p:spPr>
      </p:sp>
      <p:sp>
        <p:nvSpPr>
          <p:cNvPr id="17" name="Text 15"/>
          <p:cNvSpPr/>
          <p:nvPr/>
        </p:nvSpPr>
        <p:spPr>
          <a:xfrm>
            <a:off x="4754880" y="1453896"/>
            <a:ext cx="1874520" cy="219456"/>
          </a:xfrm>
          <a:prstGeom prst="rect">
            <a:avLst/>
          </a:prstGeom>
          <a:noFill/>
          <a:ln/>
        </p:spPr>
        <p:txBody>
          <a:bodyPr wrap="square" rtlCol="0" anchor="ctr"/>
          <a:lstStyle/>
          <a:p>
            <a:pPr indent="0" marL="0">
              <a:buNone/>
            </a:pPr>
            <a:r>
              <a:rPr lang="en-US" sz="1000" b="1" dirty="0">
                <a:solidFill>
                  <a:srgbClr val="FF6B6B"/>
                </a:solidFill>
                <a:latin typeface="Calibri" pitchFamily="34" charset="0"/>
                <a:ea typeface="Calibri" pitchFamily="34" charset="-122"/>
                <a:cs typeface="Calibri" pitchFamily="34" charset="-120"/>
              </a:rPr>
              <a:t>Avg Delay Mins</a:t>
            </a:r>
            <a:endParaRPr lang="en-US" sz="1000" dirty="0"/>
          </a:p>
        </p:txBody>
      </p:sp>
      <p:sp>
        <p:nvSpPr>
          <p:cNvPr id="18" name="Text 16"/>
          <p:cNvSpPr/>
          <p:nvPr/>
        </p:nvSpPr>
        <p:spPr>
          <a:xfrm>
            <a:off x="4736592" y="1719072"/>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AVERAGEX(FILTER(FactFlights,</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[DelayMinutes]&gt;0),[DelayMinutes])</a:t>
            </a:r>
            <a:endParaRPr lang="en-US" sz="800" dirty="0"/>
          </a:p>
        </p:txBody>
      </p:sp>
      <p:sp>
        <p:nvSpPr>
          <p:cNvPr id="19" name="Shape 17"/>
          <p:cNvSpPr/>
          <p:nvPr/>
        </p:nvSpPr>
        <p:spPr>
          <a:xfrm>
            <a:off x="6812280" y="1417320"/>
            <a:ext cx="2057400" cy="1005840"/>
          </a:xfrm>
          <a:prstGeom prst="rect">
            <a:avLst/>
          </a:prstGeom>
          <a:solidFill>
            <a:srgbClr val="0F2040"/>
          </a:solidFill>
          <a:ln w="6350">
            <a:solidFill>
              <a:srgbClr val="4A6080"/>
            </a:solidFill>
            <a:prstDash val="solid"/>
          </a:ln>
        </p:spPr>
      </p:sp>
      <p:sp>
        <p:nvSpPr>
          <p:cNvPr id="20" name="Shape 18"/>
          <p:cNvSpPr/>
          <p:nvPr/>
        </p:nvSpPr>
        <p:spPr>
          <a:xfrm>
            <a:off x="6812280" y="1417320"/>
            <a:ext cx="2057400" cy="256032"/>
          </a:xfrm>
          <a:prstGeom prst="rect">
            <a:avLst/>
          </a:prstGeom>
          <a:solidFill>
            <a:srgbClr val="3D2800"/>
          </a:solidFill>
          <a:ln w="10160">
            <a:solidFill>
              <a:srgbClr val="FFB300"/>
            </a:solidFill>
            <a:prstDash val="solid"/>
          </a:ln>
        </p:spPr>
      </p:sp>
      <p:sp>
        <p:nvSpPr>
          <p:cNvPr id="21" name="Text 19"/>
          <p:cNvSpPr/>
          <p:nvPr/>
        </p:nvSpPr>
        <p:spPr>
          <a:xfrm>
            <a:off x="6903720" y="1453896"/>
            <a:ext cx="1874520" cy="219456"/>
          </a:xfrm>
          <a:prstGeom prst="rect">
            <a:avLst/>
          </a:prstGeom>
          <a:noFill/>
          <a:ln/>
        </p:spPr>
        <p:txBody>
          <a:bodyPr wrap="square"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YoY Growth %</a:t>
            </a:r>
            <a:endParaRPr lang="en-US" sz="1000" dirty="0"/>
          </a:p>
        </p:txBody>
      </p:sp>
      <p:sp>
        <p:nvSpPr>
          <p:cNvPr id="22" name="Text 20"/>
          <p:cNvSpPr/>
          <p:nvPr/>
        </p:nvSpPr>
        <p:spPr>
          <a:xfrm>
            <a:off x="6885432" y="1719072"/>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DIVIDE([Total Flights]-[TF_PY],</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[TF_PY],0)</a:t>
            </a:r>
            <a:endParaRPr lang="en-US" sz="800" dirty="0"/>
          </a:p>
        </p:txBody>
      </p:sp>
      <p:sp>
        <p:nvSpPr>
          <p:cNvPr id="23" name="Shape 21"/>
          <p:cNvSpPr/>
          <p:nvPr/>
        </p:nvSpPr>
        <p:spPr>
          <a:xfrm>
            <a:off x="365760" y="2496312"/>
            <a:ext cx="2057400" cy="1005840"/>
          </a:xfrm>
          <a:prstGeom prst="rect">
            <a:avLst/>
          </a:prstGeom>
          <a:solidFill>
            <a:srgbClr val="0F2040"/>
          </a:solidFill>
          <a:ln w="6350">
            <a:solidFill>
              <a:srgbClr val="4A6080"/>
            </a:solidFill>
            <a:prstDash val="solid"/>
          </a:ln>
        </p:spPr>
      </p:sp>
      <p:sp>
        <p:nvSpPr>
          <p:cNvPr id="24" name="Shape 22"/>
          <p:cNvSpPr/>
          <p:nvPr/>
        </p:nvSpPr>
        <p:spPr>
          <a:xfrm>
            <a:off x="365760" y="2496312"/>
            <a:ext cx="2057400" cy="256032"/>
          </a:xfrm>
          <a:prstGeom prst="rect">
            <a:avLst/>
          </a:prstGeom>
          <a:solidFill>
            <a:srgbClr val="004D40"/>
          </a:solidFill>
          <a:ln w="10160">
            <a:solidFill>
              <a:srgbClr val="00C9A7"/>
            </a:solidFill>
            <a:prstDash val="solid"/>
          </a:ln>
        </p:spPr>
      </p:sp>
      <p:sp>
        <p:nvSpPr>
          <p:cNvPr id="25" name="Text 23"/>
          <p:cNvSpPr/>
          <p:nvPr/>
        </p:nvSpPr>
        <p:spPr>
          <a:xfrm>
            <a:off x="457200" y="2532888"/>
            <a:ext cx="1874520" cy="219456"/>
          </a:xfrm>
          <a:prstGeom prst="rect">
            <a:avLst/>
          </a:prstGeom>
          <a:noFill/>
          <a:ln/>
        </p:spPr>
        <p:txBody>
          <a:bodyPr wrap="square" rtlCol="0" anchor="ctr"/>
          <a:lstStyle/>
          <a:p>
            <a:pPr indent="0" marL="0">
              <a:buNone/>
            </a:pPr>
            <a:r>
              <a:rPr lang="en-US" sz="1000" b="1" dirty="0">
                <a:solidFill>
                  <a:srgbClr val="00C9A7"/>
                </a:solidFill>
                <a:latin typeface="Calibri" pitchFamily="34" charset="0"/>
                <a:ea typeface="Calibri" pitchFamily="34" charset="-122"/>
                <a:cs typeface="Calibri" pitchFamily="34" charset="-120"/>
              </a:rPr>
              <a:t>Delay Severity</a:t>
            </a:r>
            <a:endParaRPr lang="en-US" sz="1000" dirty="0"/>
          </a:p>
        </p:txBody>
      </p:sp>
      <p:sp>
        <p:nvSpPr>
          <p:cNvPr id="26" name="Text 24"/>
          <p:cNvSpPr/>
          <p:nvPr/>
        </p:nvSpPr>
        <p:spPr>
          <a:xfrm>
            <a:off x="438912" y="2798064"/>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DIVIDE(SUMX(FactFlights,</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[DelayMinutes]*[PassengersOnboard]),</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[Total Passengers],0)</a:t>
            </a:r>
            <a:endParaRPr lang="en-US" sz="800" dirty="0"/>
          </a:p>
        </p:txBody>
      </p:sp>
      <p:sp>
        <p:nvSpPr>
          <p:cNvPr id="27" name="Shape 25"/>
          <p:cNvSpPr/>
          <p:nvPr/>
        </p:nvSpPr>
        <p:spPr>
          <a:xfrm>
            <a:off x="2514600" y="2496312"/>
            <a:ext cx="2057400" cy="1005840"/>
          </a:xfrm>
          <a:prstGeom prst="rect">
            <a:avLst/>
          </a:prstGeom>
          <a:solidFill>
            <a:srgbClr val="0F2040"/>
          </a:solidFill>
          <a:ln w="6350">
            <a:solidFill>
              <a:srgbClr val="4A6080"/>
            </a:solidFill>
            <a:prstDash val="solid"/>
          </a:ln>
        </p:spPr>
      </p:sp>
      <p:sp>
        <p:nvSpPr>
          <p:cNvPr id="28" name="Shape 26"/>
          <p:cNvSpPr/>
          <p:nvPr/>
        </p:nvSpPr>
        <p:spPr>
          <a:xfrm>
            <a:off x="2514600" y="2496312"/>
            <a:ext cx="2057400" cy="256032"/>
          </a:xfrm>
          <a:prstGeom prst="rect">
            <a:avLst/>
          </a:prstGeom>
          <a:solidFill>
            <a:srgbClr val="0D3060"/>
          </a:solidFill>
          <a:ln w="10160">
            <a:solidFill>
              <a:srgbClr val="2196F3"/>
            </a:solidFill>
            <a:prstDash val="solid"/>
          </a:ln>
        </p:spPr>
      </p:sp>
      <p:sp>
        <p:nvSpPr>
          <p:cNvPr id="29" name="Text 27"/>
          <p:cNvSpPr/>
          <p:nvPr/>
        </p:nvSpPr>
        <p:spPr>
          <a:xfrm>
            <a:off x="2606040" y="2532888"/>
            <a:ext cx="1874520" cy="219456"/>
          </a:xfrm>
          <a:prstGeom prst="rect">
            <a:avLst/>
          </a:prstGeom>
          <a:noFill/>
          <a:ln/>
        </p:spPr>
        <p:txBody>
          <a:bodyPr wrap="square" rtlCol="0" anchor="ctr"/>
          <a:lstStyle/>
          <a:p>
            <a:pPr indent="0" marL="0">
              <a:buNone/>
            </a:pPr>
            <a:r>
              <a:rPr lang="en-US" sz="1000" b="1" dirty="0">
                <a:solidFill>
                  <a:srgbClr val="2196F3"/>
                </a:solidFill>
                <a:latin typeface="Calibri" pitchFamily="34" charset="0"/>
                <a:ea typeface="Calibri" pitchFamily="34" charset="-122"/>
                <a:cs typeface="Calibri" pitchFamily="34" charset="-120"/>
              </a:rPr>
              <a:t>Load Factor %</a:t>
            </a:r>
            <a:endParaRPr lang="en-US" sz="1000" dirty="0"/>
          </a:p>
        </p:txBody>
      </p:sp>
      <p:sp>
        <p:nvSpPr>
          <p:cNvPr id="30" name="Text 28"/>
          <p:cNvSpPr/>
          <p:nvPr/>
        </p:nvSpPr>
        <p:spPr>
          <a:xfrm>
            <a:off x="2587752" y="2798064"/>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DIVIDE(SUM([PassengersOnboard]),</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[Total Seat Capacity],0)*100</a:t>
            </a:r>
            <a:endParaRPr lang="en-US" sz="800" dirty="0"/>
          </a:p>
        </p:txBody>
      </p:sp>
      <p:sp>
        <p:nvSpPr>
          <p:cNvPr id="31" name="Shape 29"/>
          <p:cNvSpPr/>
          <p:nvPr/>
        </p:nvSpPr>
        <p:spPr>
          <a:xfrm>
            <a:off x="4663440" y="2496312"/>
            <a:ext cx="2057400" cy="1005840"/>
          </a:xfrm>
          <a:prstGeom prst="rect">
            <a:avLst/>
          </a:prstGeom>
          <a:solidFill>
            <a:srgbClr val="0F2040"/>
          </a:solidFill>
          <a:ln w="6350">
            <a:solidFill>
              <a:srgbClr val="4A6080"/>
            </a:solidFill>
            <a:prstDash val="solid"/>
          </a:ln>
        </p:spPr>
      </p:sp>
      <p:sp>
        <p:nvSpPr>
          <p:cNvPr id="32" name="Shape 30"/>
          <p:cNvSpPr/>
          <p:nvPr/>
        </p:nvSpPr>
        <p:spPr>
          <a:xfrm>
            <a:off x="4663440" y="2496312"/>
            <a:ext cx="2057400" cy="256032"/>
          </a:xfrm>
          <a:prstGeom prst="rect">
            <a:avLst/>
          </a:prstGeom>
          <a:solidFill>
            <a:srgbClr val="4A1515"/>
          </a:solidFill>
          <a:ln w="10160">
            <a:solidFill>
              <a:srgbClr val="FF6B6B"/>
            </a:solidFill>
            <a:prstDash val="solid"/>
          </a:ln>
        </p:spPr>
      </p:sp>
      <p:sp>
        <p:nvSpPr>
          <p:cNvPr id="33" name="Text 31"/>
          <p:cNvSpPr/>
          <p:nvPr/>
        </p:nvSpPr>
        <p:spPr>
          <a:xfrm>
            <a:off x="4754880" y="2532888"/>
            <a:ext cx="1874520" cy="219456"/>
          </a:xfrm>
          <a:prstGeom prst="rect">
            <a:avLst/>
          </a:prstGeom>
          <a:noFill/>
          <a:ln/>
        </p:spPr>
        <p:txBody>
          <a:bodyPr wrap="square" rtlCol="0" anchor="ctr"/>
          <a:lstStyle/>
          <a:p>
            <a:pPr indent="0" marL="0">
              <a:buNone/>
            </a:pPr>
            <a:r>
              <a:rPr lang="en-US" sz="1000" b="1" dirty="0">
                <a:solidFill>
                  <a:srgbClr val="FF6B6B"/>
                </a:solidFill>
                <a:latin typeface="Calibri" pitchFamily="34" charset="0"/>
                <a:ea typeface="Calibri" pitchFamily="34" charset="-122"/>
                <a:cs typeface="Calibri" pitchFamily="34" charset="-120"/>
              </a:rPr>
              <a:t>Fuel Per PAX</a:t>
            </a:r>
            <a:endParaRPr lang="en-US" sz="1000" dirty="0"/>
          </a:p>
        </p:txBody>
      </p:sp>
      <p:sp>
        <p:nvSpPr>
          <p:cNvPr id="34" name="Text 32"/>
          <p:cNvSpPr/>
          <p:nvPr/>
        </p:nvSpPr>
        <p:spPr>
          <a:xfrm>
            <a:off x="4736592" y="2798064"/>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DIVIDE(SUM([FuelUsedLiters]),</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SUM([PassengersOnboard]),0)</a:t>
            </a:r>
            <a:endParaRPr lang="en-US" sz="800" dirty="0"/>
          </a:p>
        </p:txBody>
      </p:sp>
      <p:sp>
        <p:nvSpPr>
          <p:cNvPr id="35" name="Shape 33"/>
          <p:cNvSpPr/>
          <p:nvPr/>
        </p:nvSpPr>
        <p:spPr>
          <a:xfrm>
            <a:off x="6812280" y="2496312"/>
            <a:ext cx="2057400" cy="1005840"/>
          </a:xfrm>
          <a:prstGeom prst="rect">
            <a:avLst/>
          </a:prstGeom>
          <a:solidFill>
            <a:srgbClr val="0F2040"/>
          </a:solidFill>
          <a:ln w="6350">
            <a:solidFill>
              <a:srgbClr val="4A6080"/>
            </a:solidFill>
            <a:prstDash val="solid"/>
          </a:ln>
        </p:spPr>
      </p:sp>
      <p:sp>
        <p:nvSpPr>
          <p:cNvPr id="36" name="Shape 34"/>
          <p:cNvSpPr/>
          <p:nvPr/>
        </p:nvSpPr>
        <p:spPr>
          <a:xfrm>
            <a:off x="6812280" y="2496312"/>
            <a:ext cx="2057400" cy="256032"/>
          </a:xfrm>
          <a:prstGeom prst="rect">
            <a:avLst/>
          </a:prstGeom>
          <a:solidFill>
            <a:srgbClr val="3D2800"/>
          </a:solidFill>
          <a:ln w="10160">
            <a:solidFill>
              <a:srgbClr val="FFB300"/>
            </a:solidFill>
            <a:prstDash val="solid"/>
          </a:ln>
        </p:spPr>
      </p:sp>
      <p:sp>
        <p:nvSpPr>
          <p:cNvPr id="37" name="Text 35"/>
          <p:cNvSpPr/>
          <p:nvPr/>
        </p:nvSpPr>
        <p:spPr>
          <a:xfrm>
            <a:off x="6903720" y="2532888"/>
            <a:ext cx="1874520" cy="219456"/>
          </a:xfrm>
          <a:prstGeom prst="rect">
            <a:avLst/>
          </a:prstGeom>
          <a:noFill/>
          <a:ln/>
        </p:spPr>
        <p:txBody>
          <a:bodyPr wrap="square"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Proxy RASM</a:t>
            </a:r>
            <a:endParaRPr lang="en-US" sz="1000" dirty="0"/>
          </a:p>
        </p:txBody>
      </p:sp>
      <p:sp>
        <p:nvSpPr>
          <p:cNvPr id="38" name="Text 36"/>
          <p:cNvSpPr/>
          <p:nvPr/>
        </p:nvSpPr>
        <p:spPr>
          <a:xfrm>
            <a:off x="6885432" y="2798064"/>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ROUND(DIVIDE(SUMX(FactFlights,</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[PassengersOnboard]*[Duration]),</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[AvailSeats*Duration],0),3)</a:t>
            </a:r>
            <a:endParaRPr lang="en-US" sz="800" dirty="0"/>
          </a:p>
        </p:txBody>
      </p:sp>
      <p:sp>
        <p:nvSpPr>
          <p:cNvPr id="39" name="Shape 37"/>
          <p:cNvSpPr/>
          <p:nvPr/>
        </p:nvSpPr>
        <p:spPr>
          <a:xfrm>
            <a:off x="365760" y="3575304"/>
            <a:ext cx="2057400" cy="1005840"/>
          </a:xfrm>
          <a:prstGeom prst="rect">
            <a:avLst/>
          </a:prstGeom>
          <a:solidFill>
            <a:srgbClr val="0F2040"/>
          </a:solidFill>
          <a:ln w="6350">
            <a:solidFill>
              <a:srgbClr val="4A6080"/>
            </a:solidFill>
            <a:prstDash val="solid"/>
          </a:ln>
        </p:spPr>
      </p:sp>
      <p:sp>
        <p:nvSpPr>
          <p:cNvPr id="40" name="Shape 38"/>
          <p:cNvSpPr/>
          <p:nvPr/>
        </p:nvSpPr>
        <p:spPr>
          <a:xfrm>
            <a:off x="365760" y="3575304"/>
            <a:ext cx="2057400" cy="256032"/>
          </a:xfrm>
          <a:prstGeom prst="rect">
            <a:avLst/>
          </a:prstGeom>
          <a:solidFill>
            <a:srgbClr val="004D40"/>
          </a:solidFill>
          <a:ln w="10160">
            <a:solidFill>
              <a:srgbClr val="00C9A7"/>
            </a:solidFill>
            <a:prstDash val="solid"/>
          </a:ln>
        </p:spPr>
      </p:sp>
      <p:sp>
        <p:nvSpPr>
          <p:cNvPr id="41" name="Text 39"/>
          <p:cNvSpPr/>
          <p:nvPr/>
        </p:nvSpPr>
        <p:spPr>
          <a:xfrm>
            <a:off x="457200" y="3611880"/>
            <a:ext cx="1874520" cy="219456"/>
          </a:xfrm>
          <a:prstGeom prst="rect">
            <a:avLst/>
          </a:prstGeom>
          <a:noFill/>
          <a:ln/>
        </p:spPr>
        <p:txBody>
          <a:bodyPr wrap="square" rtlCol="0" anchor="ctr"/>
          <a:lstStyle/>
          <a:p>
            <a:pPr indent="0" marL="0">
              <a:buNone/>
            </a:pPr>
            <a:r>
              <a:rPr lang="en-US" sz="1000" b="1" dirty="0">
                <a:solidFill>
                  <a:srgbClr val="00C9A7"/>
                </a:solidFill>
                <a:latin typeface="Calibri" pitchFamily="34" charset="0"/>
                <a:ea typeface="Calibri" pitchFamily="34" charset="-122"/>
                <a:cs typeface="Calibri" pitchFamily="34" charset="-120"/>
              </a:rPr>
              <a:t>Weather Score</a:t>
            </a:r>
            <a:endParaRPr lang="en-US" sz="1000" dirty="0"/>
          </a:p>
        </p:txBody>
      </p:sp>
      <p:sp>
        <p:nvSpPr>
          <p:cNvPr id="42" name="Text 40"/>
          <p:cNvSpPr/>
          <p:nvPr/>
        </p:nvSpPr>
        <p:spPr>
          <a:xfrm>
            <a:off x="438912" y="3877056"/>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DIVIDE(AVERAGEX(FILTER(</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FactFlights,[Weather] IN {...}</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&amp;&amp;[Delay]&gt;0),[DelayMinutes]),60,0)*100</a:t>
            </a:r>
            <a:endParaRPr lang="en-US" sz="800" dirty="0"/>
          </a:p>
        </p:txBody>
      </p:sp>
      <p:sp>
        <p:nvSpPr>
          <p:cNvPr id="43" name="Shape 41"/>
          <p:cNvSpPr/>
          <p:nvPr/>
        </p:nvSpPr>
        <p:spPr>
          <a:xfrm>
            <a:off x="2514600" y="3575304"/>
            <a:ext cx="2057400" cy="1005840"/>
          </a:xfrm>
          <a:prstGeom prst="rect">
            <a:avLst/>
          </a:prstGeom>
          <a:solidFill>
            <a:srgbClr val="0F2040"/>
          </a:solidFill>
          <a:ln w="6350">
            <a:solidFill>
              <a:srgbClr val="4A6080"/>
            </a:solidFill>
            <a:prstDash val="solid"/>
          </a:ln>
        </p:spPr>
      </p:sp>
      <p:sp>
        <p:nvSpPr>
          <p:cNvPr id="44" name="Shape 42"/>
          <p:cNvSpPr/>
          <p:nvPr/>
        </p:nvSpPr>
        <p:spPr>
          <a:xfrm>
            <a:off x="2514600" y="3575304"/>
            <a:ext cx="2057400" cy="256032"/>
          </a:xfrm>
          <a:prstGeom prst="rect">
            <a:avLst/>
          </a:prstGeom>
          <a:solidFill>
            <a:srgbClr val="0D3060"/>
          </a:solidFill>
          <a:ln w="10160">
            <a:solidFill>
              <a:srgbClr val="2196F3"/>
            </a:solidFill>
            <a:prstDash val="solid"/>
          </a:ln>
        </p:spPr>
      </p:sp>
      <p:sp>
        <p:nvSpPr>
          <p:cNvPr id="45" name="Text 43"/>
          <p:cNvSpPr/>
          <p:nvPr/>
        </p:nvSpPr>
        <p:spPr>
          <a:xfrm>
            <a:off x="2606040" y="3611880"/>
            <a:ext cx="1874520" cy="219456"/>
          </a:xfrm>
          <a:prstGeom prst="rect">
            <a:avLst/>
          </a:prstGeom>
          <a:noFill/>
          <a:ln/>
        </p:spPr>
        <p:txBody>
          <a:bodyPr wrap="square" rtlCol="0" anchor="ctr"/>
          <a:lstStyle/>
          <a:p>
            <a:pPr indent="0" marL="0">
              <a:buNone/>
            </a:pPr>
            <a:r>
              <a:rPr lang="en-US" sz="1000" b="1" dirty="0">
                <a:solidFill>
                  <a:srgbClr val="2196F3"/>
                </a:solidFill>
                <a:latin typeface="Calibri" pitchFamily="34" charset="0"/>
                <a:ea typeface="Calibri" pitchFamily="34" charset="-122"/>
                <a:cs typeface="Calibri" pitchFamily="34" charset="-120"/>
              </a:rPr>
              <a:t>Holiday Premium</a:t>
            </a:r>
            <a:endParaRPr lang="en-US" sz="1000" dirty="0"/>
          </a:p>
        </p:txBody>
      </p:sp>
      <p:sp>
        <p:nvSpPr>
          <p:cNvPr id="46" name="Text 44"/>
          <p:cNvSpPr/>
          <p:nvPr/>
        </p:nvSpPr>
        <p:spPr>
          <a:xfrm>
            <a:off x="2587752" y="3877056"/>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CALCULATE([Avg Delay],</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[IsHoliday]="Yes")</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-CALCULATE([Avg Delay],[IsHoliday]="No")</a:t>
            </a:r>
            <a:endParaRPr lang="en-US" sz="800" dirty="0"/>
          </a:p>
        </p:txBody>
      </p:sp>
      <p:sp>
        <p:nvSpPr>
          <p:cNvPr id="47" name="Shape 45"/>
          <p:cNvSpPr/>
          <p:nvPr/>
        </p:nvSpPr>
        <p:spPr>
          <a:xfrm>
            <a:off x="4663440" y="3575304"/>
            <a:ext cx="2057400" cy="1005840"/>
          </a:xfrm>
          <a:prstGeom prst="rect">
            <a:avLst/>
          </a:prstGeom>
          <a:solidFill>
            <a:srgbClr val="0F2040"/>
          </a:solidFill>
          <a:ln w="6350">
            <a:solidFill>
              <a:srgbClr val="4A6080"/>
            </a:solidFill>
            <a:prstDash val="solid"/>
          </a:ln>
        </p:spPr>
      </p:sp>
      <p:sp>
        <p:nvSpPr>
          <p:cNvPr id="48" name="Shape 46"/>
          <p:cNvSpPr/>
          <p:nvPr/>
        </p:nvSpPr>
        <p:spPr>
          <a:xfrm>
            <a:off x="4663440" y="3575304"/>
            <a:ext cx="2057400" cy="256032"/>
          </a:xfrm>
          <a:prstGeom prst="rect">
            <a:avLst/>
          </a:prstGeom>
          <a:solidFill>
            <a:srgbClr val="4A1515"/>
          </a:solidFill>
          <a:ln w="10160">
            <a:solidFill>
              <a:srgbClr val="FF6B6B"/>
            </a:solidFill>
            <a:prstDash val="solid"/>
          </a:ln>
        </p:spPr>
      </p:sp>
      <p:sp>
        <p:nvSpPr>
          <p:cNvPr id="49" name="Text 47"/>
          <p:cNvSpPr/>
          <p:nvPr/>
        </p:nvSpPr>
        <p:spPr>
          <a:xfrm>
            <a:off x="4754880" y="3611880"/>
            <a:ext cx="1874520" cy="219456"/>
          </a:xfrm>
          <a:prstGeom prst="rect">
            <a:avLst/>
          </a:prstGeom>
          <a:noFill/>
          <a:ln/>
        </p:spPr>
        <p:txBody>
          <a:bodyPr wrap="square" rtlCol="0" anchor="ctr"/>
          <a:lstStyle/>
          <a:p>
            <a:pPr indent="0" marL="0">
              <a:buNone/>
            </a:pPr>
            <a:r>
              <a:rPr lang="en-US" sz="1000" b="1" dirty="0">
                <a:solidFill>
                  <a:srgbClr val="FF6B6B"/>
                </a:solidFill>
                <a:latin typeface="Calibri" pitchFamily="34" charset="0"/>
                <a:ea typeface="Calibri" pitchFamily="34" charset="-122"/>
                <a:cs typeface="Calibri" pitchFamily="34" charset="-120"/>
              </a:rPr>
              <a:t>Rolling 3M Avg</a:t>
            </a:r>
            <a:endParaRPr lang="en-US" sz="1000" dirty="0"/>
          </a:p>
        </p:txBody>
      </p:sp>
      <p:sp>
        <p:nvSpPr>
          <p:cNvPr id="50" name="Text 48"/>
          <p:cNvSpPr/>
          <p:nvPr/>
        </p:nvSpPr>
        <p:spPr>
          <a:xfrm>
            <a:off x="4736592" y="3877056"/>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CALCULATE([Avg Delay Minutes],</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DATESINPERIOD([FullDate],</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LASTDATE([FullDate]),-3,MONTH))</a:t>
            </a:r>
            <a:endParaRPr lang="en-US" sz="800" dirty="0"/>
          </a:p>
        </p:txBody>
      </p:sp>
      <p:sp>
        <p:nvSpPr>
          <p:cNvPr id="51" name="Shape 49"/>
          <p:cNvSpPr/>
          <p:nvPr/>
        </p:nvSpPr>
        <p:spPr>
          <a:xfrm>
            <a:off x="6812280" y="3575304"/>
            <a:ext cx="2057400" cy="1005840"/>
          </a:xfrm>
          <a:prstGeom prst="rect">
            <a:avLst/>
          </a:prstGeom>
          <a:solidFill>
            <a:srgbClr val="0F2040"/>
          </a:solidFill>
          <a:ln w="6350">
            <a:solidFill>
              <a:srgbClr val="4A6080"/>
            </a:solidFill>
            <a:prstDash val="solid"/>
          </a:ln>
        </p:spPr>
      </p:sp>
      <p:sp>
        <p:nvSpPr>
          <p:cNvPr id="52" name="Shape 50"/>
          <p:cNvSpPr/>
          <p:nvPr/>
        </p:nvSpPr>
        <p:spPr>
          <a:xfrm>
            <a:off x="6812280" y="3575304"/>
            <a:ext cx="2057400" cy="256032"/>
          </a:xfrm>
          <a:prstGeom prst="rect">
            <a:avLst/>
          </a:prstGeom>
          <a:solidFill>
            <a:srgbClr val="3D2800"/>
          </a:solidFill>
          <a:ln w="10160">
            <a:solidFill>
              <a:srgbClr val="FFB300"/>
            </a:solidFill>
            <a:prstDash val="solid"/>
          </a:ln>
        </p:spPr>
      </p:sp>
      <p:sp>
        <p:nvSpPr>
          <p:cNvPr id="53" name="Text 51"/>
          <p:cNvSpPr/>
          <p:nvPr/>
        </p:nvSpPr>
        <p:spPr>
          <a:xfrm>
            <a:off x="6903720" y="3611880"/>
            <a:ext cx="1874520" cy="219456"/>
          </a:xfrm>
          <a:prstGeom prst="rect">
            <a:avLst/>
          </a:prstGeom>
          <a:noFill/>
          <a:ln/>
        </p:spPr>
        <p:txBody>
          <a:bodyPr wrap="square" rtlCol="0" anchor="ctr"/>
          <a:lstStyle/>
          <a:p>
            <a:pPr indent="0" marL="0">
              <a:buNone/>
            </a:pPr>
            <a:r>
              <a:rPr lang="en-US" sz="1000" b="1" dirty="0">
                <a:solidFill>
                  <a:srgbClr val="FFB300"/>
                </a:solidFill>
                <a:latin typeface="Calibri" pitchFamily="34" charset="0"/>
                <a:ea typeface="Calibri" pitchFamily="34" charset="-122"/>
                <a:cs typeface="Calibri" pitchFamily="34" charset="-120"/>
              </a:rPr>
              <a:t>Cancellation %</a:t>
            </a:r>
            <a:endParaRPr lang="en-US" sz="1000" dirty="0"/>
          </a:p>
        </p:txBody>
      </p:sp>
      <p:sp>
        <p:nvSpPr>
          <p:cNvPr id="54" name="Text 52"/>
          <p:cNvSpPr/>
          <p:nvPr/>
        </p:nvSpPr>
        <p:spPr>
          <a:xfrm>
            <a:off x="6885432" y="3877056"/>
            <a:ext cx="1920240" cy="749808"/>
          </a:xfrm>
          <a:prstGeom prst="rect">
            <a:avLst/>
          </a:prstGeom>
          <a:noFill/>
          <a:ln/>
        </p:spPr>
        <p:txBody>
          <a:bodyPr wrap="square" rtlCol="0" anchor="ctr"/>
          <a:lstStyle/>
          <a:p>
            <a:pPr indent="0" marL="0">
              <a:buNone/>
            </a:pPr>
            <a:r>
              <a:rPr lang="en-US" sz="800" dirty="0">
                <a:solidFill>
                  <a:srgbClr val="8EADC7"/>
                </a:solidFill>
                <a:latin typeface="Consolas" pitchFamily="34" charset="0"/>
                <a:ea typeface="Consolas" pitchFamily="34" charset="-122"/>
                <a:cs typeface="Consolas" pitchFamily="34" charset="-120"/>
              </a:rPr>
              <a:t>DIVIDE(COUNTROWS(FILTER(</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FactFlights,[Status]="Cancelled")),</a:t>
            </a:r>
            <a:endParaRPr lang="en-US" sz="800" dirty="0"/>
          </a:p>
          <a:p>
            <a:pPr indent="0" marL="0">
              <a:buNone/>
            </a:pPr>
            <a:r>
              <a:rPr lang="en-US" sz="800" dirty="0">
                <a:solidFill>
                  <a:srgbClr val="8EADC7"/>
                </a:solidFill>
                <a:latin typeface="Consolas" pitchFamily="34" charset="0"/>
                <a:ea typeface="Consolas" pitchFamily="34" charset="-122"/>
                <a:cs typeface="Consolas" pitchFamily="34" charset="-120"/>
              </a:rPr>
              <a:t>[Total Flights],0)</a:t>
            </a:r>
            <a:endParaRPr lang="en-US" sz="800" dirty="0"/>
          </a:p>
        </p:txBody>
      </p:sp>
      <p:sp>
        <p:nvSpPr>
          <p:cNvPr id="55" name="Shape 53"/>
          <p:cNvSpPr/>
          <p:nvPr/>
        </p:nvSpPr>
        <p:spPr>
          <a:xfrm>
            <a:off x="365760" y="4681728"/>
            <a:ext cx="8412480" cy="182880"/>
          </a:xfrm>
          <a:prstGeom prst="rect">
            <a:avLst/>
          </a:prstGeom>
          <a:solidFill>
            <a:srgbClr val="004D40"/>
          </a:solidFill>
          <a:ln w="6350">
            <a:solidFill>
              <a:srgbClr val="00C9A7"/>
            </a:solidFill>
            <a:prstDash val="solid"/>
          </a:ln>
        </p:spPr>
      </p:sp>
      <p:sp>
        <p:nvSpPr>
          <p:cNvPr id="56" name="Text 54"/>
          <p:cNvSpPr/>
          <p:nvPr/>
        </p:nvSpPr>
        <p:spPr>
          <a:xfrm>
            <a:off x="457200" y="4690872"/>
            <a:ext cx="8229600" cy="164592"/>
          </a:xfrm>
          <a:prstGeom prst="rect">
            <a:avLst/>
          </a:prstGeom>
          <a:noFill/>
          <a:ln/>
        </p:spPr>
        <p:txBody>
          <a:bodyPr wrap="square" rtlCol="0" anchor="ctr"/>
          <a:lstStyle/>
          <a:p>
            <a:pPr indent="0" marL="0">
              <a:buNone/>
            </a:pPr>
            <a:r>
              <a:rPr lang="en-US" sz="750" dirty="0">
                <a:solidFill>
                  <a:srgbClr val="00C9A7"/>
                </a:solidFill>
                <a:latin typeface="Calibri" pitchFamily="34" charset="0"/>
                <a:ea typeface="Calibri" pitchFamily="34" charset="-122"/>
                <a:cs typeface="Calibri" pitchFamily="34" charset="-120"/>
              </a:rPr>
              <a:t>Supporting measures:  On Time Flights  ·  TF_PY  ·  Total Passengers  ·  Total Seat Capacity  ·  AvailSeats  ·  Captain Avg Delay  ·  FO Avg Delay  ·  Monsoon Impact  ·  Passengers YTD  ·  Smart Top 3  ·  Airline Delay Rank</a:t>
            </a:r>
            <a:endParaRPr lang="en-US" sz="750" dirty="0"/>
          </a:p>
        </p:txBody>
      </p:sp>
      <p:sp>
        <p:nvSpPr>
          <p:cNvPr id="57" name="Shape 55"/>
          <p:cNvSpPr/>
          <p:nvPr/>
        </p:nvSpPr>
        <p:spPr>
          <a:xfrm>
            <a:off x="0" y="4892040"/>
            <a:ext cx="9144000" cy="251460"/>
          </a:xfrm>
          <a:prstGeom prst="rect">
            <a:avLst/>
          </a:prstGeom>
          <a:solidFill>
            <a:srgbClr val="051020"/>
          </a:solidFill>
          <a:ln w="12700">
            <a:solidFill>
              <a:srgbClr val="051020"/>
            </a:solidFill>
            <a:prstDash val="solid"/>
          </a:ln>
        </p:spPr>
      </p:sp>
      <p:sp>
        <p:nvSpPr>
          <p:cNvPr id="58" name="Text 56"/>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08  ·  DASHBOARD OVERVIEW</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Four Analytical Views</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Each page supported by interactive slicers for year, season, airline, and airport region</a:t>
            </a:r>
            <a:endParaRPr lang="en-US" sz="1200" dirty="0"/>
          </a:p>
        </p:txBody>
      </p:sp>
      <p:sp>
        <p:nvSpPr>
          <p:cNvPr id="7" name="Shape 5"/>
          <p:cNvSpPr/>
          <p:nvPr/>
        </p:nvSpPr>
        <p:spPr>
          <a:xfrm>
            <a:off x="365760" y="1417320"/>
            <a:ext cx="2057400" cy="3291840"/>
          </a:xfrm>
          <a:prstGeom prst="rect">
            <a:avLst/>
          </a:prstGeom>
          <a:solidFill>
            <a:srgbClr val="0F2040"/>
          </a:solidFill>
          <a:ln w="6350">
            <a:solidFill>
              <a:srgbClr val="4A6080"/>
            </a:solidFill>
            <a:prstDash val="solid"/>
          </a:ln>
        </p:spPr>
      </p:sp>
      <p:sp>
        <p:nvSpPr>
          <p:cNvPr id="8" name="Shape 6"/>
          <p:cNvSpPr/>
          <p:nvPr/>
        </p:nvSpPr>
        <p:spPr>
          <a:xfrm>
            <a:off x="365760" y="1417320"/>
            <a:ext cx="2057400" cy="384048"/>
          </a:xfrm>
          <a:prstGeom prst="rect">
            <a:avLst/>
          </a:prstGeom>
          <a:solidFill>
            <a:srgbClr val="004D40"/>
          </a:solidFill>
          <a:ln w="12700">
            <a:solidFill>
              <a:srgbClr val="00C9A7"/>
            </a:solidFill>
            <a:prstDash val="solid"/>
          </a:ln>
        </p:spPr>
      </p:sp>
      <p:sp>
        <p:nvSpPr>
          <p:cNvPr id="9" name="Shape 7"/>
          <p:cNvSpPr/>
          <p:nvPr/>
        </p:nvSpPr>
        <p:spPr>
          <a:xfrm>
            <a:off x="457200" y="1444752"/>
            <a:ext cx="310896" cy="310896"/>
          </a:xfrm>
          <a:prstGeom prst="ellipse">
            <a:avLst/>
          </a:prstGeom>
          <a:solidFill>
            <a:srgbClr val="00C9A7"/>
          </a:solidFill>
          <a:ln w="12700">
            <a:solidFill>
              <a:srgbClr val="00C9A7"/>
            </a:solidFill>
            <a:prstDash val="solid"/>
          </a:ln>
        </p:spPr>
      </p:sp>
      <p:sp>
        <p:nvSpPr>
          <p:cNvPr id="10" name="Text 8"/>
          <p:cNvSpPr/>
          <p:nvPr/>
        </p:nvSpPr>
        <p:spPr>
          <a:xfrm>
            <a:off x="457200" y="1444752"/>
            <a:ext cx="310896" cy="310896"/>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841248" y="1453896"/>
            <a:ext cx="1508760" cy="31089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Operations Overview</a:t>
            </a:r>
            <a:endParaRPr lang="en-US" sz="1000" dirty="0"/>
          </a:p>
        </p:txBody>
      </p:sp>
      <p:sp>
        <p:nvSpPr>
          <p:cNvPr id="12" name="Shape 10"/>
          <p:cNvSpPr/>
          <p:nvPr/>
        </p:nvSpPr>
        <p:spPr>
          <a:xfrm>
            <a:off x="457200" y="1883664"/>
            <a:ext cx="1874520" cy="201168"/>
          </a:xfrm>
          <a:prstGeom prst="rect">
            <a:avLst/>
          </a:prstGeom>
          <a:solidFill>
            <a:srgbClr val="000000"/>
          </a:solidFill>
          <a:ln w="12700">
            <a:solidFill>
              <a:srgbClr val="000000"/>
            </a:solidFill>
            <a:prstDash val="solid"/>
          </a:ln>
        </p:spPr>
      </p:sp>
      <p:sp>
        <p:nvSpPr>
          <p:cNvPr id="13" name="Text 11"/>
          <p:cNvSpPr/>
          <p:nvPr/>
        </p:nvSpPr>
        <p:spPr>
          <a:xfrm>
            <a:off x="457200" y="1883664"/>
            <a:ext cx="457200" cy="182880"/>
          </a:xfrm>
          <a:prstGeom prst="rect">
            <a:avLst/>
          </a:prstGeom>
          <a:noFill/>
          <a:ln/>
        </p:spPr>
        <p:txBody>
          <a:bodyPr wrap="square" rtlCol="0" anchor="ctr"/>
          <a:lstStyle/>
          <a:p>
            <a:pPr indent="0" marL="0">
              <a:buNone/>
            </a:pPr>
            <a:r>
              <a:rPr lang="en-US" sz="750" b="1" spc="100" kern="0" dirty="0">
                <a:solidFill>
                  <a:srgbClr val="00C9A7"/>
                </a:solidFill>
                <a:latin typeface="Calibri" pitchFamily="34" charset="0"/>
                <a:ea typeface="Calibri" pitchFamily="34" charset="-122"/>
                <a:cs typeface="Calibri" pitchFamily="34" charset="-120"/>
              </a:rPr>
              <a:t>KPIs</a:t>
            </a:r>
            <a:endParaRPr lang="en-US" sz="750" dirty="0"/>
          </a:p>
        </p:txBody>
      </p:sp>
      <p:sp>
        <p:nvSpPr>
          <p:cNvPr id="14" name="Text 12"/>
          <p:cNvSpPr/>
          <p:nvPr/>
        </p:nvSpPr>
        <p:spPr>
          <a:xfrm>
            <a:off x="457200" y="2048256"/>
            <a:ext cx="1874520" cy="329184"/>
          </a:xfrm>
          <a:prstGeom prst="rect">
            <a:avLst/>
          </a:prstGeom>
          <a:noFill/>
          <a:ln/>
        </p:spPr>
        <p:txBody>
          <a:bodyPr wrap="square" rtlCol="0" anchor="ctr"/>
          <a:lstStyle/>
          <a:p>
            <a:pPr indent="0" marL="0">
              <a:buNone/>
            </a:pPr>
            <a:r>
              <a:rPr lang="en-US" sz="800" dirty="0">
                <a:solidFill>
                  <a:srgbClr val="8EADC7"/>
                </a:solidFill>
                <a:latin typeface="Calibri" pitchFamily="34" charset="0"/>
                <a:ea typeface="Calibri" pitchFamily="34" charset="-122"/>
                <a:cs typeface="Calibri" pitchFamily="34" charset="-120"/>
              </a:rPr>
              <a:t>Total Flights · On-Time Rate · Total Passengers · Cancellation Rate</a:t>
            </a:r>
            <a:endParaRPr lang="en-US" sz="800" dirty="0"/>
          </a:p>
        </p:txBody>
      </p:sp>
      <p:sp>
        <p:nvSpPr>
          <p:cNvPr id="15" name="Shape 13"/>
          <p:cNvSpPr/>
          <p:nvPr/>
        </p:nvSpPr>
        <p:spPr>
          <a:xfrm>
            <a:off x="457200" y="2423160"/>
            <a:ext cx="1874520" cy="0"/>
          </a:xfrm>
          <a:prstGeom prst="line">
            <a:avLst/>
          </a:prstGeom>
          <a:noFill/>
          <a:ln w="6350">
            <a:solidFill>
              <a:srgbClr val="4A6080"/>
            </a:solidFill>
            <a:prstDash val="sysDash"/>
          </a:ln>
        </p:spPr>
      </p:sp>
      <p:sp>
        <p:nvSpPr>
          <p:cNvPr id="16" name="Text 14"/>
          <p:cNvSpPr/>
          <p:nvPr/>
        </p:nvSpPr>
        <p:spPr>
          <a:xfrm>
            <a:off x="457200" y="2487168"/>
            <a:ext cx="731520" cy="182880"/>
          </a:xfrm>
          <a:prstGeom prst="rect">
            <a:avLst/>
          </a:prstGeom>
          <a:noFill/>
          <a:ln/>
        </p:spPr>
        <p:txBody>
          <a:bodyPr wrap="square" rtlCol="0" anchor="ctr"/>
          <a:lstStyle/>
          <a:p>
            <a:pPr indent="0" marL="0">
              <a:buNone/>
            </a:pPr>
            <a:r>
              <a:rPr lang="en-US" sz="750" b="1" spc="100" kern="0" dirty="0">
                <a:solidFill>
                  <a:srgbClr val="00C9A7"/>
                </a:solidFill>
                <a:latin typeface="Calibri" pitchFamily="34" charset="0"/>
                <a:ea typeface="Calibri" pitchFamily="34" charset="-122"/>
                <a:cs typeface="Calibri" pitchFamily="34" charset="-120"/>
              </a:rPr>
              <a:t>Visuals</a:t>
            </a:r>
            <a:endParaRPr lang="en-US" sz="750" dirty="0"/>
          </a:p>
        </p:txBody>
      </p:sp>
      <p:sp>
        <p:nvSpPr>
          <p:cNvPr id="17" name="Text 15"/>
          <p:cNvSpPr/>
          <p:nvPr/>
        </p:nvSpPr>
        <p:spPr>
          <a:xfrm>
            <a:off x="457200" y="2706624"/>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Donut: Flight Status Distribution</a:t>
            </a:r>
            <a:endParaRPr lang="en-US" sz="850" dirty="0"/>
          </a:p>
        </p:txBody>
      </p:sp>
      <p:sp>
        <p:nvSpPr>
          <p:cNvPr id="18" name="Text 16"/>
          <p:cNvSpPr/>
          <p:nvPr/>
        </p:nvSpPr>
        <p:spPr>
          <a:xfrm>
            <a:off x="457200" y="3182112"/>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Stacked Column: Monthly Volume by Airline Type</a:t>
            </a:r>
            <a:endParaRPr lang="en-US" sz="850" dirty="0"/>
          </a:p>
        </p:txBody>
      </p:sp>
      <p:sp>
        <p:nvSpPr>
          <p:cNvPr id="19" name="Text 17"/>
          <p:cNvSpPr/>
          <p:nvPr/>
        </p:nvSpPr>
        <p:spPr>
          <a:xfrm>
            <a:off x="457200" y="3657600"/>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Bubble Map: Airport Traffic Footprint</a:t>
            </a:r>
            <a:endParaRPr lang="en-US" sz="850" dirty="0"/>
          </a:p>
        </p:txBody>
      </p:sp>
      <p:sp>
        <p:nvSpPr>
          <p:cNvPr id="20" name="Text 18"/>
          <p:cNvSpPr/>
          <p:nvPr/>
        </p:nvSpPr>
        <p:spPr>
          <a:xfrm>
            <a:off x="457200" y="4133088"/>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Ribbon Chart: Airline Rank Shift by Month</a:t>
            </a:r>
            <a:endParaRPr lang="en-US" sz="850" dirty="0"/>
          </a:p>
        </p:txBody>
      </p:sp>
      <p:sp>
        <p:nvSpPr>
          <p:cNvPr id="21" name="Shape 19"/>
          <p:cNvSpPr/>
          <p:nvPr/>
        </p:nvSpPr>
        <p:spPr>
          <a:xfrm>
            <a:off x="2514600" y="1417320"/>
            <a:ext cx="2057400" cy="3291840"/>
          </a:xfrm>
          <a:prstGeom prst="rect">
            <a:avLst/>
          </a:prstGeom>
          <a:solidFill>
            <a:srgbClr val="0F2040"/>
          </a:solidFill>
          <a:ln w="6350">
            <a:solidFill>
              <a:srgbClr val="4A6080"/>
            </a:solidFill>
            <a:prstDash val="solid"/>
          </a:ln>
        </p:spPr>
      </p:sp>
      <p:sp>
        <p:nvSpPr>
          <p:cNvPr id="22" name="Shape 20"/>
          <p:cNvSpPr/>
          <p:nvPr/>
        </p:nvSpPr>
        <p:spPr>
          <a:xfrm>
            <a:off x="2514600" y="1417320"/>
            <a:ext cx="2057400" cy="384048"/>
          </a:xfrm>
          <a:prstGeom prst="rect">
            <a:avLst/>
          </a:prstGeom>
          <a:solidFill>
            <a:srgbClr val="0D3060"/>
          </a:solidFill>
          <a:ln w="12700">
            <a:solidFill>
              <a:srgbClr val="2196F3"/>
            </a:solidFill>
            <a:prstDash val="solid"/>
          </a:ln>
        </p:spPr>
      </p:sp>
      <p:sp>
        <p:nvSpPr>
          <p:cNvPr id="23" name="Shape 21"/>
          <p:cNvSpPr/>
          <p:nvPr/>
        </p:nvSpPr>
        <p:spPr>
          <a:xfrm>
            <a:off x="2606040" y="1444752"/>
            <a:ext cx="310896" cy="310896"/>
          </a:xfrm>
          <a:prstGeom prst="ellipse">
            <a:avLst/>
          </a:prstGeom>
          <a:solidFill>
            <a:srgbClr val="2196F3"/>
          </a:solidFill>
          <a:ln w="12700">
            <a:solidFill>
              <a:srgbClr val="2196F3"/>
            </a:solidFill>
            <a:prstDash val="solid"/>
          </a:ln>
        </p:spPr>
      </p:sp>
      <p:sp>
        <p:nvSpPr>
          <p:cNvPr id="24" name="Text 22"/>
          <p:cNvSpPr/>
          <p:nvPr/>
        </p:nvSpPr>
        <p:spPr>
          <a:xfrm>
            <a:off x="2606040" y="1444752"/>
            <a:ext cx="310896" cy="310896"/>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2</a:t>
            </a:r>
            <a:endParaRPr lang="en-US" sz="1300" dirty="0"/>
          </a:p>
        </p:txBody>
      </p:sp>
      <p:sp>
        <p:nvSpPr>
          <p:cNvPr id="25" name="Text 23"/>
          <p:cNvSpPr/>
          <p:nvPr/>
        </p:nvSpPr>
        <p:spPr>
          <a:xfrm>
            <a:off x="2990088" y="1453896"/>
            <a:ext cx="1508760" cy="31089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Delay Intelligence</a:t>
            </a:r>
            <a:endParaRPr lang="en-US" sz="1000" dirty="0"/>
          </a:p>
        </p:txBody>
      </p:sp>
      <p:sp>
        <p:nvSpPr>
          <p:cNvPr id="26" name="Shape 24"/>
          <p:cNvSpPr/>
          <p:nvPr/>
        </p:nvSpPr>
        <p:spPr>
          <a:xfrm>
            <a:off x="2606040" y="1883664"/>
            <a:ext cx="1874520" cy="201168"/>
          </a:xfrm>
          <a:prstGeom prst="rect">
            <a:avLst/>
          </a:prstGeom>
          <a:solidFill>
            <a:srgbClr val="000000"/>
          </a:solidFill>
          <a:ln w="12700">
            <a:solidFill>
              <a:srgbClr val="000000"/>
            </a:solidFill>
            <a:prstDash val="solid"/>
          </a:ln>
        </p:spPr>
      </p:sp>
      <p:sp>
        <p:nvSpPr>
          <p:cNvPr id="27" name="Text 25"/>
          <p:cNvSpPr/>
          <p:nvPr/>
        </p:nvSpPr>
        <p:spPr>
          <a:xfrm>
            <a:off x="2606040" y="1883664"/>
            <a:ext cx="457200" cy="182880"/>
          </a:xfrm>
          <a:prstGeom prst="rect">
            <a:avLst/>
          </a:prstGeom>
          <a:noFill/>
          <a:ln/>
        </p:spPr>
        <p:txBody>
          <a:bodyPr wrap="square" rtlCol="0" anchor="ctr"/>
          <a:lstStyle/>
          <a:p>
            <a:pPr indent="0" marL="0">
              <a:buNone/>
            </a:pPr>
            <a:r>
              <a:rPr lang="en-US" sz="750" b="1" spc="100" kern="0" dirty="0">
                <a:solidFill>
                  <a:srgbClr val="2196F3"/>
                </a:solidFill>
                <a:latin typeface="Calibri" pitchFamily="34" charset="0"/>
                <a:ea typeface="Calibri" pitchFamily="34" charset="-122"/>
                <a:cs typeface="Calibri" pitchFamily="34" charset="-120"/>
              </a:rPr>
              <a:t>KPIs</a:t>
            </a:r>
            <a:endParaRPr lang="en-US" sz="750" dirty="0"/>
          </a:p>
        </p:txBody>
      </p:sp>
      <p:sp>
        <p:nvSpPr>
          <p:cNvPr id="28" name="Text 26"/>
          <p:cNvSpPr/>
          <p:nvPr/>
        </p:nvSpPr>
        <p:spPr>
          <a:xfrm>
            <a:off x="2606040" y="2048256"/>
            <a:ext cx="1874520" cy="329184"/>
          </a:xfrm>
          <a:prstGeom prst="rect">
            <a:avLst/>
          </a:prstGeom>
          <a:noFill/>
          <a:ln/>
        </p:spPr>
        <p:txBody>
          <a:bodyPr wrap="square" rtlCol="0" anchor="ctr"/>
          <a:lstStyle/>
          <a:p>
            <a:pPr indent="0" marL="0">
              <a:buNone/>
            </a:pPr>
            <a:r>
              <a:rPr lang="en-US" sz="800" dirty="0">
                <a:solidFill>
                  <a:srgbClr val="8EADC7"/>
                </a:solidFill>
                <a:latin typeface="Calibri" pitchFamily="34" charset="0"/>
                <a:ea typeface="Calibri" pitchFamily="34" charset="-122"/>
                <a:cs typeface="Calibri" pitchFamily="34" charset="-120"/>
              </a:rPr>
              <a:t>Avg Delay · Delay Severity Index · Holiday Premium · YoY Growth</a:t>
            </a:r>
            <a:endParaRPr lang="en-US" sz="800" dirty="0"/>
          </a:p>
        </p:txBody>
      </p:sp>
      <p:sp>
        <p:nvSpPr>
          <p:cNvPr id="29" name="Shape 27"/>
          <p:cNvSpPr/>
          <p:nvPr/>
        </p:nvSpPr>
        <p:spPr>
          <a:xfrm>
            <a:off x="2606040" y="2423160"/>
            <a:ext cx="1874520" cy="0"/>
          </a:xfrm>
          <a:prstGeom prst="line">
            <a:avLst/>
          </a:prstGeom>
          <a:noFill/>
          <a:ln w="6350">
            <a:solidFill>
              <a:srgbClr val="4A6080"/>
            </a:solidFill>
            <a:prstDash val="sysDash"/>
          </a:ln>
        </p:spPr>
      </p:sp>
      <p:sp>
        <p:nvSpPr>
          <p:cNvPr id="30" name="Text 28"/>
          <p:cNvSpPr/>
          <p:nvPr/>
        </p:nvSpPr>
        <p:spPr>
          <a:xfrm>
            <a:off x="2606040" y="2487168"/>
            <a:ext cx="731520" cy="182880"/>
          </a:xfrm>
          <a:prstGeom prst="rect">
            <a:avLst/>
          </a:prstGeom>
          <a:noFill/>
          <a:ln/>
        </p:spPr>
        <p:txBody>
          <a:bodyPr wrap="square" rtlCol="0" anchor="ctr"/>
          <a:lstStyle/>
          <a:p>
            <a:pPr indent="0" marL="0">
              <a:buNone/>
            </a:pPr>
            <a:r>
              <a:rPr lang="en-US" sz="750" b="1" spc="100" kern="0" dirty="0">
                <a:solidFill>
                  <a:srgbClr val="2196F3"/>
                </a:solidFill>
                <a:latin typeface="Calibri" pitchFamily="34" charset="0"/>
                <a:ea typeface="Calibri" pitchFamily="34" charset="-122"/>
                <a:cs typeface="Calibri" pitchFamily="34" charset="-120"/>
              </a:rPr>
              <a:t>Visuals</a:t>
            </a:r>
            <a:endParaRPr lang="en-US" sz="750" dirty="0"/>
          </a:p>
        </p:txBody>
      </p:sp>
      <p:sp>
        <p:nvSpPr>
          <p:cNvPr id="31" name="Text 29"/>
          <p:cNvSpPr/>
          <p:nvPr/>
        </p:nvSpPr>
        <p:spPr>
          <a:xfrm>
            <a:off x="2606040" y="2706624"/>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Waterfall: YoY Monthly Flight Change</a:t>
            </a:r>
            <a:endParaRPr lang="en-US" sz="850" dirty="0"/>
          </a:p>
        </p:txBody>
      </p:sp>
      <p:sp>
        <p:nvSpPr>
          <p:cNvPr id="32" name="Text 30"/>
          <p:cNvSpPr/>
          <p:nvPr/>
        </p:nvSpPr>
        <p:spPr>
          <a:xfrm>
            <a:off x="2606040" y="3182112"/>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100% Stacked Bar: Status Mix by Airline</a:t>
            </a:r>
            <a:endParaRPr lang="en-US" sz="850" dirty="0"/>
          </a:p>
        </p:txBody>
      </p:sp>
      <p:sp>
        <p:nvSpPr>
          <p:cNvPr id="33" name="Text 31"/>
          <p:cNvSpPr/>
          <p:nvPr/>
        </p:nvSpPr>
        <p:spPr>
          <a:xfrm>
            <a:off x="2606040" y="3657600"/>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Line + Column Combo: Monthly Delay with 3M Average</a:t>
            </a:r>
            <a:endParaRPr lang="en-US" sz="850" dirty="0"/>
          </a:p>
        </p:txBody>
      </p:sp>
      <p:sp>
        <p:nvSpPr>
          <p:cNvPr id="34" name="Text 32"/>
          <p:cNvSpPr/>
          <p:nvPr/>
        </p:nvSpPr>
        <p:spPr>
          <a:xfrm>
            <a:off x="2606040" y="4133088"/>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Scatter: Delay vs Flight Duration</a:t>
            </a:r>
            <a:endParaRPr lang="en-US" sz="850" dirty="0"/>
          </a:p>
        </p:txBody>
      </p:sp>
      <p:sp>
        <p:nvSpPr>
          <p:cNvPr id="35" name="Shape 33"/>
          <p:cNvSpPr/>
          <p:nvPr/>
        </p:nvSpPr>
        <p:spPr>
          <a:xfrm>
            <a:off x="4663440" y="1417320"/>
            <a:ext cx="2057400" cy="3291840"/>
          </a:xfrm>
          <a:prstGeom prst="rect">
            <a:avLst/>
          </a:prstGeom>
          <a:solidFill>
            <a:srgbClr val="0F2040"/>
          </a:solidFill>
          <a:ln w="6350">
            <a:solidFill>
              <a:srgbClr val="4A6080"/>
            </a:solidFill>
            <a:prstDash val="solid"/>
          </a:ln>
        </p:spPr>
      </p:sp>
      <p:sp>
        <p:nvSpPr>
          <p:cNvPr id="36" name="Shape 34"/>
          <p:cNvSpPr/>
          <p:nvPr/>
        </p:nvSpPr>
        <p:spPr>
          <a:xfrm>
            <a:off x="4663440" y="1417320"/>
            <a:ext cx="2057400" cy="384048"/>
          </a:xfrm>
          <a:prstGeom prst="rect">
            <a:avLst/>
          </a:prstGeom>
          <a:solidFill>
            <a:srgbClr val="4A1515"/>
          </a:solidFill>
          <a:ln w="12700">
            <a:solidFill>
              <a:srgbClr val="FF6B6B"/>
            </a:solidFill>
            <a:prstDash val="solid"/>
          </a:ln>
        </p:spPr>
      </p:sp>
      <p:sp>
        <p:nvSpPr>
          <p:cNvPr id="37" name="Shape 35"/>
          <p:cNvSpPr/>
          <p:nvPr/>
        </p:nvSpPr>
        <p:spPr>
          <a:xfrm>
            <a:off x="4754880" y="1444752"/>
            <a:ext cx="310896" cy="310896"/>
          </a:xfrm>
          <a:prstGeom prst="ellipse">
            <a:avLst/>
          </a:prstGeom>
          <a:solidFill>
            <a:srgbClr val="FF6B6B"/>
          </a:solidFill>
          <a:ln w="12700">
            <a:solidFill>
              <a:srgbClr val="FF6B6B"/>
            </a:solidFill>
            <a:prstDash val="solid"/>
          </a:ln>
        </p:spPr>
      </p:sp>
      <p:sp>
        <p:nvSpPr>
          <p:cNvPr id="38" name="Text 36"/>
          <p:cNvSpPr/>
          <p:nvPr/>
        </p:nvSpPr>
        <p:spPr>
          <a:xfrm>
            <a:off x="4754880" y="1444752"/>
            <a:ext cx="310896" cy="310896"/>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3</a:t>
            </a:r>
            <a:endParaRPr lang="en-US" sz="1300" dirty="0"/>
          </a:p>
        </p:txBody>
      </p:sp>
      <p:sp>
        <p:nvSpPr>
          <p:cNvPr id="39" name="Text 37"/>
          <p:cNvSpPr/>
          <p:nvPr/>
        </p:nvSpPr>
        <p:spPr>
          <a:xfrm>
            <a:off x="5138928" y="1453896"/>
            <a:ext cx="1508760" cy="31089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Airline &amp; Pilot</a:t>
            </a:r>
            <a:endParaRPr lang="en-US" sz="1000" dirty="0"/>
          </a:p>
        </p:txBody>
      </p:sp>
      <p:sp>
        <p:nvSpPr>
          <p:cNvPr id="40" name="Shape 38"/>
          <p:cNvSpPr/>
          <p:nvPr/>
        </p:nvSpPr>
        <p:spPr>
          <a:xfrm>
            <a:off x="4754880" y="1883664"/>
            <a:ext cx="1874520" cy="201168"/>
          </a:xfrm>
          <a:prstGeom prst="rect">
            <a:avLst/>
          </a:prstGeom>
          <a:solidFill>
            <a:srgbClr val="000000"/>
          </a:solidFill>
          <a:ln w="12700">
            <a:solidFill>
              <a:srgbClr val="000000"/>
            </a:solidFill>
            <a:prstDash val="solid"/>
          </a:ln>
        </p:spPr>
      </p:sp>
      <p:sp>
        <p:nvSpPr>
          <p:cNvPr id="41" name="Text 39"/>
          <p:cNvSpPr/>
          <p:nvPr/>
        </p:nvSpPr>
        <p:spPr>
          <a:xfrm>
            <a:off x="4754880" y="1883664"/>
            <a:ext cx="457200" cy="182880"/>
          </a:xfrm>
          <a:prstGeom prst="rect">
            <a:avLst/>
          </a:prstGeom>
          <a:noFill/>
          <a:ln/>
        </p:spPr>
        <p:txBody>
          <a:bodyPr wrap="square" rtlCol="0" anchor="ctr"/>
          <a:lstStyle/>
          <a:p>
            <a:pPr indent="0" marL="0">
              <a:buNone/>
            </a:pPr>
            <a:r>
              <a:rPr lang="en-US" sz="750" b="1" spc="100" kern="0" dirty="0">
                <a:solidFill>
                  <a:srgbClr val="FF6B6B"/>
                </a:solidFill>
                <a:latin typeface="Calibri" pitchFamily="34" charset="0"/>
                <a:ea typeface="Calibri" pitchFamily="34" charset="-122"/>
                <a:cs typeface="Calibri" pitchFamily="34" charset="-120"/>
              </a:rPr>
              <a:t>KPIs</a:t>
            </a:r>
            <a:endParaRPr lang="en-US" sz="750" dirty="0"/>
          </a:p>
        </p:txBody>
      </p:sp>
      <p:sp>
        <p:nvSpPr>
          <p:cNvPr id="42" name="Text 40"/>
          <p:cNvSpPr/>
          <p:nvPr/>
        </p:nvSpPr>
        <p:spPr>
          <a:xfrm>
            <a:off x="4754880" y="2048256"/>
            <a:ext cx="1874520" cy="329184"/>
          </a:xfrm>
          <a:prstGeom prst="rect">
            <a:avLst/>
          </a:prstGeom>
          <a:noFill/>
          <a:ln/>
        </p:spPr>
        <p:txBody>
          <a:bodyPr wrap="square" rtlCol="0" anchor="ctr"/>
          <a:lstStyle/>
          <a:p>
            <a:pPr indent="0" marL="0">
              <a:buNone/>
            </a:pPr>
            <a:r>
              <a:rPr lang="en-US" sz="800" dirty="0">
                <a:solidFill>
                  <a:srgbClr val="8EADC7"/>
                </a:solidFill>
                <a:latin typeface="Calibri" pitchFamily="34" charset="0"/>
                <a:ea typeface="Calibri" pitchFamily="34" charset="-122"/>
                <a:cs typeface="Calibri" pitchFamily="34" charset="-120"/>
              </a:rPr>
              <a:t>Passenger Load Factor · Proxy RASM · Fuel Per PAX · Avg Pilot Rating</a:t>
            </a:r>
            <a:endParaRPr lang="en-US" sz="800" dirty="0"/>
          </a:p>
        </p:txBody>
      </p:sp>
      <p:sp>
        <p:nvSpPr>
          <p:cNvPr id="43" name="Shape 41"/>
          <p:cNvSpPr/>
          <p:nvPr/>
        </p:nvSpPr>
        <p:spPr>
          <a:xfrm>
            <a:off x="4754880" y="2423160"/>
            <a:ext cx="1874520" cy="0"/>
          </a:xfrm>
          <a:prstGeom prst="line">
            <a:avLst/>
          </a:prstGeom>
          <a:noFill/>
          <a:ln w="6350">
            <a:solidFill>
              <a:srgbClr val="4A6080"/>
            </a:solidFill>
            <a:prstDash val="sysDash"/>
          </a:ln>
        </p:spPr>
      </p:sp>
      <p:sp>
        <p:nvSpPr>
          <p:cNvPr id="44" name="Text 42"/>
          <p:cNvSpPr/>
          <p:nvPr/>
        </p:nvSpPr>
        <p:spPr>
          <a:xfrm>
            <a:off x="4754880" y="2487168"/>
            <a:ext cx="731520" cy="182880"/>
          </a:xfrm>
          <a:prstGeom prst="rect">
            <a:avLst/>
          </a:prstGeom>
          <a:noFill/>
          <a:ln/>
        </p:spPr>
        <p:txBody>
          <a:bodyPr wrap="square" rtlCol="0" anchor="ctr"/>
          <a:lstStyle/>
          <a:p>
            <a:pPr indent="0" marL="0">
              <a:buNone/>
            </a:pPr>
            <a:r>
              <a:rPr lang="en-US" sz="750" b="1" spc="100" kern="0" dirty="0">
                <a:solidFill>
                  <a:srgbClr val="FF6B6B"/>
                </a:solidFill>
                <a:latin typeface="Calibri" pitchFamily="34" charset="0"/>
                <a:ea typeface="Calibri" pitchFamily="34" charset="-122"/>
                <a:cs typeface="Calibri" pitchFamily="34" charset="-120"/>
              </a:rPr>
              <a:t>Visuals</a:t>
            </a:r>
            <a:endParaRPr lang="en-US" sz="750" dirty="0"/>
          </a:p>
        </p:txBody>
      </p:sp>
      <p:sp>
        <p:nvSpPr>
          <p:cNvPr id="45" name="Text 43"/>
          <p:cNvSpPr/>
          <p:nvPr/>
        </p:nvSpPr>
        <p:spPr>
          <a:xfrm>
            <a:off x="4754880" y="2706624"/>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Clustered Bar: Load Factor by Aircraft</a:t>
            </a:r>
            <a:endParaRPr lang="en-US" sz="850" dirty="0"/>
          </a:p>
        </p:txBody>
      </p:sp>
      <p:sp>
        <p:nvSpPr>
          <p:cNvPr id="46" name="Text 44"/>
          <p:cNvSpPr/>
          <p:nvPr/>
        </p:nvSpPr>
        <p:spPr>
          <a:xfrm>
            <a:off x="4754880" y="3182112"/>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Scatter: Pilot Rating vs Avg Delay</a:t>
            </a:r>
            <a:endParaRPr lang="en-US" sz="850" dirty="0"/>
          </a:p>
        </p:txBody>
      </p:sp>
      <p:sp>
        <p:nvSpPr>
          <p:cNvPr id="47" name="Text 45"/>
          <p:cNvSpPr/>
          <p:nvPr/>
        </p:nvSpPr>
        <p:spPr>
          <a:xfrm>
            <a:off x="4754880" y="3657600"/>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Clustered Bar: Fuel Efficiency by Airline</a:t>
            </a:r>
            <a:endParaRPr lang="en-US" sz="850" dirty="0"/>
          </a:p>
        </p:txBody>
      </p:sp>
      <p:sp>
        <p:nvSpPr>
          <p:cNvPr id="48" name="Text 46"/>
          <p:cNvSpPr/>
          <p:nvPr/>
        </p:nvSpPr>
        <p:spPr>
          <a:xfrm>
            <a:off x="4754880" y="4133088"/>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Line Chart: Captain vs FO Delay Trend</a:t>
            </a:r>
            <a:endParaRPr lang="en-US" sz="850" dirty="0"/>
          </a:p>
        </p:txBody>
      </p:sp>
      <p:sp>
        <p:nvSpPr>
          <p:cNvPr id="49" name="Shape 47"/>
          <p:cNvSpPr/>
          <p:nvPr/>
        </p:nvSpPr>
        <p:spPr>
          <a:xfrm>
            <a:off x="6812280" y="1417320"/>
            <a:ext cx="2057400" cy="3291840"/>
          </a:xfrm>
          <a:prstGeom prst="rect">
            <a:avLst/>
          </a:prstGeom>
          <a:solidFill>
            <a:srgbClr val="0F2040"/>
          </a:solidFill>
          <a:ln w="6350">
            <a:solidFill>
              <a:srgbClr val="4A6080"/>
            </a:solidFill>
            <a:prstDash val="solid"/>
          </a:ln>
        </p:spPr>
      </p:sp>
      <p:sp>
        <p:nvSpPr>
          <p:cNvPr id="50" name="Shape 48"/>
          <p:cNvSpPr/>
          <p:nvPr/>
        </p:nvSpPr>
        <p:spPr>
          <a:xfrm>
            <a:off x="6812280" y="1417320"/>
            <a:ext cx="2057400" cy="384048"/>
          </a:xfrm>
          <a:prstGeom prst="rect">
            <a:avLst/>
          </a:prstGeom>
          <a:solidFill>
            <a:srgbClr val="3D2800"/>
          </a:solidFill>
          <a:ln w="12700">
            <a:solidFill>
              <a:srgbClr val="FFB300"/>
            </a:solidFill>
            <a:prstDash val="solid"/>
          </a:ln>
        </p:spPr>
      </p:sp>
      <p:sp>
        <p:nvSpPr>
          <p:cNvPr id="51" name="Shape 49"/>
          <p:cNvSpPr/>
          <p:nvPr/>
        </p:nvSpPr>
        <p:spPr>
          <a:xfrm>
            <a:off x="6903720" y="1444752"/>
            <a:ext cx="310896" cy="310896"/>
          </a:xfrm>
          <a:prstGeom prst="ellipse">
            <a:avLst/>
          </a:prstGeom>
          <a:solidFill>
            <a:srgbClr val="FFB300"/>
          </a:solidFill>
          <a:ln w="12700">
            <a:solidFill>
              <a:srgbClr val="FFB300"/>
            </a:solidFill>
            <a:prstDash val="solid"/>
          </a:ln>
        </p:spPr>
      </p:sp>
      <p:sp>
        <p:nvSpPr>
          <p:cNvPr id="52" name="Text 50"/>
          <p:cNvSpPr/>
          <p:nvPr/>
        </p:nvSpPr>
        <p:spPr>
          <a:xfrm>
            <a:off x="6903720" y="1444752"/>
            <a:ext cx="310896" cy="310896"/>
          </a:xfrm>
          <a:prstGeom prst="rect">
            <a:avLst/>
          </a:prstGeom>
          <a:noFill/>
          <a:ln/>
        </p:spPr>
        <p:txBody>
          <a:bodyPr wrap="square" rtlCol="0" anchor="ctr"/>
          <a:lstStyle/>
          <a:p>
            <a:pPr algn="ctr" indent="0" marL="0">
              <a:buNone/>
            </a:pPr>
            <a:r>
              <a:rPr lang="en-US" sz="1300" b="1" dirty="0">
                <a:solidFill>
                  <a:srgbClr val="0A1628"/>
                </a:solidFill>
                <a:latin typeface="Calibri" pitchFamily="34" charset="0"/>
                <a:ea typeface="Calibri" pitchFamily="34" charset="-122"/>
                <a:cs typeface="Calibri" pitchFamily="34" charset="-120"/>
              </a:rPr>
              <a:t>4</a:t>
            </a:r>
            <a:endParaRPr lang="en-US" sz="1300" dirty="0"/>
          </a:p>
        </p:txBody>
      </p:sp>
      <p:sp>
        <p:nvSpPr>
          <p:cNvPr id="53" name="Text 51"/>
          <p:cNvSpPr/>
          <p:nvPr/>
        </p:nvSpPr>
        <p:spPr>
          <a:xfrm>
            <a:off x="7287768" y="1453896"/>
            <a:ext cx="1508760" cy="310896"/>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Weather &amp; Routes</a:t>
            </a:r>
            <a:endParaRPr lang="en-US" sz="1000" dirty="0"/>
          </a:p>
        </p:txBody>
      </p:sp>
      <p:sp>
        <p:nvSpPr>
          <p:cNvPr id="54" name="Shape 52"/>
          <p:cNvSpPr/>
          <p:nvPr/>
        </p:nvSpPr>
        <p:spPr>
          <a:xfrm>
            <a:off x="6903720" y="1883664"/>
            <a:ext cx="1874520" cy="201168"/>
          </a:xfrm>
          <a:prstGeom prst="rect">
            <a:avLst/>
          </a:prstGeom>
          <a:solidFill>
            <a:srgbClr val="000000"/>
          </a:solidFill>
          <a:ln w="12700">
            <a:solidFill>
              <a:srgbClr val="000000"/>
            </a:solidFill>
            <a:prstDash val="solid"/>
          </a:ln>
        </p:spPr>
      </p:sp>
      <p:sp>
        <p:nvSpPr>
          <p:cNvPr id="55" name="Text 53"/>
          <p:cNvSpPr/>
          <p:nvPr/>
        </p:nvSpPr>
        <p:spPr>
          <a:xfrm>
            <a:off x="6903720" y="1883664"/>
            <a:ext cx="457200" cy="182880"/>
          </a:xfrm>
          <a:prstGeom prst="rect">
            <a:avLst/>
          </a:prstGeom>
          <a:noFill/>
          <a:ln/>
        </p:spPr>
        <p:txBody>
          <a:bodyPr wrap="square" rtlCol="0" anchor="ctr"/>
          <a:lstStyle/>
          <a:p>
            <a:pPr indent="0" marL="0">
              <a:buNone/>
            </a:pPr>
            <a:r>
              <a:rPr lang="en-US" sz="750" b="1" spc="100" kern="0" dirty="0">
                <a:solidFill>
                  <a:srgbClr val="FFB300"/>
                </a:solidFill>
                <a:latin typeface="Calibri" pitchFamily="34" charset="0"/>
                <a:ea typeface="Calibri" pitchFamily="34" charset="-122"/>
                <a:cs typeface="Calibri" pitchFamily="34" charset="-120"/>
              </a:rPr>
              <a:t>KPIs</a:t>
            </a:r>
            <a:endParaRPr lang="en-US" sz="750" dirty="0"/>
          </a:p>
        </p:txBody>
      </p:sp>
      <p:sp>
        <p:nvSpPr>
          <p:cNvPr id="56" name="Text 54"/>
          <p:cNvSpPr/>
          <p:nvPr/>
        </p:nvSpPr>
        <p:spPr>
          <a:xfrm>
            <a:off x="6903720" y="2048256"/>
            <a:ext cx="1874520" cy="329184"/>
          </a:xfrm>
          <a:prstGeom prst="rect">
            <a:avLst/>
          </a:prstGeom>
          <a:noFill/>
          <a:ln/>
        </p:spPr>
        <p:txBody>
          <a:bodyPr wrap="square" rtlCol="0" anchor="ctr"/>
          <a:lstStyle/>
          <a:p>
            <a:pPr indent="0" marL="0">
              <a:buNone/>
            </a:pPr>
            <a:r>
              <a:rPr lang="en-US" sz="800" dirty="0">
                <a:solidFill>
                  <a:srgbClr val="8EADC7"/>
                </a:solidFill>
                <a:latin typeface="Calibri" pitchFamily="34" charset="0"/>
                <a:ea typeface="Calibri" pitchFamily="34" charset="-122"/>
                <a:cs typeface="Calibri" pitchFamily="34" charset="-120"/>
              </a:rPr>
              <a:t>Weather Impact Score · Disruption Rate · Monsoon Score · Avg Weather Delay</a:t>
            </a:r>
            <a:endParaRPr lang="en-US" sz="800" dirty="0"/>
          </a:p>
        </p:txBody>
      </p:sp>
      <p:sp>
        <p:nvSpPr>
          <p:cNvPr id="57" name="Shape 55"/>
          <p:cNvSpPr/>
          <p:nvPr/>
        </p:nvSpPr>
        <p:spPr>
          <a:xfrm>
            <a:off x="6903720" y="2423160"/>
            <a:ext cx="1874520" cy="0"/>
          </a:xfrm>
          <a:prstGeom prst="line">
            <a:avLst/>
          </a:prstGeom>
          <a:noFill/>
          <a:ln w="6350">
            <a:solidFill>
              <a:srgbClr val="4A6080"/>
            </a:solidFill>
            <a:prstDash val="sysDash"/>
          </a:ln>
        </p:spPr>
      </p:sp>
      <p:sp>
        <p:nvSpPr>
          <p:cNvPr id="58" name="Text 56"/>
          <p:cNvSpPr/>
          <p:nvPr/>
        </p:nvSpPr>
        <p:spPr>
          <a:xfrm>
            <a:off x="6903720" y="2487168"/>
            <a:ext cx="731520" cy="182880"/>
          </a:xfrm>
          <a:prstGeom prst="rect">
            <a:avLst/>
          </a:prstGeom>
          <a:noFill/>
          <a:ln/>
        </p:spPr>
        <p:txBody>
          <a:bodyPr wrap="square" rtlCol="0" anchor="ctr"/>
          <a:lstStyle/>
          <a:p>
            <a:pPr indent="0" marL="0">
              <a:buNone/>
            </a:pPr>
            <a:r>
              <a:rPr lang="en-US" sz="750" b="1" spc="100" kern="0" dirty="0">
                <a:solidFill>
                  <a:srgbClr val="FFB300"/>
                </a:solidFill>
                <a:latin typeface="Calibri" pitchFamily="34" charset="0"/>
                <a:ea typeface="Calibri" pitchFamily="34" charset="-122"/>
                <a:cs typeface="Calibri" pitchFamily="34" charset="-120"/>
              </a:rPr>
              <a:t>Visuals</a:t>
            </a:r>
            <a:endParaRPr lang="en-US" sz="750" dirty="0"/>
          </a:p>
        </p:txBody>
      </p:sp>
      <p:sp>
        <p:nvSpPr>
          <p:cNvPr id="59" name="Text 57"/>
          <p:cNvSpPr/>
          <p:nvPr/>
        </p:nvSpPr>
        <p:spPr>
          <a:xfrm>
            <a:off x="6903720" y="2706624"/>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Clustered Bar: Impact Score by Condition</a:t>
            </a:r>
            <a:endParaRPr lang="en-US" sz="850" dirty="0"/>
          </a:p>
        </p:txBody>
      </p:sp>
      <p:sp>
        <p:nvSpPr>
          <p:cNvPr id="60" name="Text 58"/>
          <p:cNvSpPr/>
          <p:nvPr/>
        </p:nvSpPr>
        <p:spPr>
          <a:xfrm>
            <a:off x="6903720" y="3182112"/>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100% Stacked Column: Disruption Mix by Season</a:t>
            </a:r>
            <a:endParaRPr lang="en-US" sz="850" dirty="0"/>
          </a:p>
        </p:txBody>
      </p:sp>
      <p:sp>
        <p:nvSpPr>
          <p:cNvPr id="61" name="Text 59"/>
          <p:cNvSpPr/>
          <p:nvPr/>
        </p:nvSpPr>
        <p:spPr>
          <a:xfrm>
            <a:off x="6903720" y="3657600"/>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Treemap: Passenger Volume by Region</a:t>
            </a:r>
            <a:endParaRPr lang="en-US" sz="850" dirty="0"/>
          </a:p>
        </p:txBody>
      </p:sp>
      <p:sp>
        <p:nvSpPr>
          <p:cNvPr id="62" name="Text 60"/>
          <p:cNvSpPr/>
          <p:nvPr/>
        </p:nvSpPr>
        <p:spPr>
          <a:xfrm>
            <a:off x="6903720" y="4133088"/>
            <a:ext cx="1874520" cy="420624"/>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Matrix Heatmap: Delay by Airport × Weather</a:t>
            </a:r>
            <a:endParaRPr lang="en-US" sz="850" dirty="0"/>
          </a:p>
        </p:txBody>
      </p:sp>
      <p:sp>
        <p:nvSpPr>
          <p:cNvPr id="63" name="Shape 61"/>
          <p:cNvSpPr/>
          <p:nvPr/>
        </p:nvSpPr>
        <p:spPr>
          <a:xfrm>
            <a:off x="0" y="4892040"/>
            <a:ext cx="9144000" cy="251460"/>
          </a:xfrm>
          <a:prstGeom prst="rect">
            <a:avLst/>
          </a:prstGeom>
          <a:solidFill>
            <a:srgbClr val="051020"/>
          </a:solidFill>
          <a:ln w="12700">
            <a:solidFill>
              <a:srgbClr val="051020"/>
            </a:solidFill>
            <a:prstDash val="solid"/>
          </a:ln>
        </p:spPr>
      </p:sp>
      <p:sp>
        <p:nvSpPr>
          <p:cNvPr id="64" name="Text 62"/>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09  ·  KEY INSIGHTS</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Insights</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Critical findings from the 2023–2024 India aviation analysis</a:t>
            </a:r>
            <a:endParaRPr lang="en-US" sz="1200" dirty="0"/>
          </a:p>
        </p:txBody>
      </p:sp>
      <p:sp>
        <p:nvSpPr>
          <p:cNvPr id="7" name="Shape 5"/>
          <p:cNvSpPr/>
          <p:nvPr/>
        </p:nvSpPr>
        <p:spPr>
          <a:xfrm>
            <a:off x="365760" y="1389888"/>
            <a:ext cx="2697480" cy="1783080"/>
          </a:xfrm>
          <a:prstGeom prst="rect">
            <a:avLst/>
          </a:prstGeom>
          <a:solidFill>
            <a:srgbClr val="0F2040"/>
          </a:solidFill>
          <a:ln w="6350">
            <a:solidFill>
              <a:srgbClr val="4A6080"/>
            </a:solidFill>
            <a:prstDash val="solid"/>
          </a:ln>
        </p:spPr>
      </p:sp>
      <p:sp>
        <p:nvSpPr>
          <p:cNvPr id="8" name="Text 6"/>
          <p:cNvSpPr/>
          <p:nvPr/>
        </p:nvSpPr>
        <p:spPr>
          <a:xfrm>
            <a:off x="475488" y="1444752"/>
            <a:ext cx="2468880" cy="658368"/>
          </a:xfrm>
          <a:prstGeom prst="rect">
            <a:avLst/>
          </a:prstGeom>
          <a:noFill/>
          <a:ln/>
        </p:spPr>
        <p:txBody>
          <a:bodyPr wrap="square" rtlCol="0" anchor="ctr"/>
          <a:lstStyle/>
          <a:p>
            <a:pPr algn="l" indent="0" marL="0">
              <a:buNone/>
            </a:pPr>
            <a:r>
              <a:rPr lang="en-US" sz="4000" b="1" dirty="0">
                <a:solidFill>
                  <a:srgbClr val="00C9A7"/>
                </a:solidFill>
                <a:latin typeface="Calibri" pitchFamily="34" charset="0"/>
                <a:ea typeface="Calibri" pitchFamily="34" charset="-122"/>
                <a:cs typeface="Calibri" pitchFamily="34" charset="-120"/>
              </a:rPr>
              <a:t>65%+</a:t>
            </a:r>
            <a:endParaRPr lang="en-US" sz="4000" dirty="0"/>
          </a:p>
        </p:txBody>
      </p:sp>
      <p:sp>
        <p:nvSpPr>
          <p:cNvPr id="9" name="Text 7"/>
          <p:cNvSpPr/>
          <p:nvPr/>
        </p:nvSpPr>
        <p:spPr>
          <a:xfrm>
            <a:off x="475488" y="2084832"/>
            <a:ext cx="2468880" cy="201168"/>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On-Time Rate Target</a:t>
            </a:r>
            <a:endParaRPr lang="en-US" sz="950" dirty="0"/>
          </a:p>
        </p:txBody>
      </p:sp>
      <p:sp>
        <p:nvSpPr>
          <p:cNvPr id="10" name="Text 8"/>
          <p:cNvSpPr/>
          <p:nvPr/>
        </p:nvSpPr>
        <p:spPr>
          <a:xfrm>
            <a:off x="475488" y="2331720"/>
            <a:ext cx="2468880" cy="21945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OTP Benchmark Gap</a:t>
            </a:r>
            <a:endParaRPr lang="en-US" sz="1100" dirty="0"/>
          </a:p>
        </p:txBody>
      </p:sp>
      <p:sp>
        <p:nvSpPr>
          <p:cNvPr id="11" name="Text 9"/>
          <p:cNvSpPr/>
          <p:nvPr/>
        </p:nvSpPr>
        <p:spPr>
          <a:xfrm>
            <a:off x="475488" y="2578608"/>
            <a:ext cx="2468880" cy="53035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Most LCC airlines fall below the 80% OTP benchmark. IndiGo leads, Alliance Air and GoFirst show the largest gaps — structural delay issues vs weather noise.</a:t>
            </a:r>
            <a:endParaRPr lang="en-US" sz="900" dirty="0"/>
          </a:p>
        </p:txBody>
      </p:sp>
      <p:sp>
        <p:nvSpPr>
          <p:cNvPr id="12" name="Shape 10"/>
          <p:cNvSpPr/>
          <p:nvPr/>
        </p:nvSpPr>
        <p:spPr>
          <a:xfrm>
            <a:off x="3182112" y="1389888"/>
            <a:ext cx="2697480" cy="1783080"/>
          </a:xfrm>
          <a:prstGeom prst="rect">
            <a:avLst/>
          </a:prstGeom>
          <a:solidFill>
            <a:srgbClr val="0F2040"/>
          </a:solidFill>
          <a:ln w="6350">
            <a:solidFill>
              <a:srgbClr val="4A6080"/>
            </a:solidFill>
            <a:prstDash val="solid"/>
          </a:ln>
        </p:spPr>
      </p:sp>
      <p:sp>
        <p:nvSpPr>
          <p:cNvPr id="13" name="Text 11"/>
          <p:cNvSpPr/>
          <p:nvPr/>
        </p:nvSpPr>
        <p:spPr>
          <a:xfrm>
            <a:off x="3291840" y="1444752"/>
            <a:ext cx="2468880" cy="658368"/>
          </a:xfrm>
          <a:prstGeom prst="rect">
            <a:avLst/>
          </a:prstGeom>
          <a:noFill/>
          <a:ln/>
        </p:spPr>
        <p:txBody>
          <a:bodyPr wrap="square" rtlCol="0" anchor="ctr"/>
          <a:lstStyle/>
          <a:p>
            <a:pPr algn="l" indent="0" marL="0">
              <a:buNone/>
            </a:pPr>
            <a:r>
              <a:rPr lang="en-US" sz="4000" b="1" dirty="0">
                <a:solidFill>
                  <a:srgbClr val="2196F3"/>
                </a:solidFill>
                <a:latin typeface="Calibri" pitchFamily="34" charset="0"/>
                <a:ea typeface="Calibri" pitchFamily="34" charset="-122"/>
                <a:cs typeface="Calibri" pitchFamily="34" charset="-120"/>
              </a:rPr>
              <a:t>4×</a:t>
            </a:r>
            <a:endParaRPr lang="en-US" sz="4000" dirty="0"/>
          </a:p>
        </p:txBody>
      </p:sp>
      <p:sp>
        <p:nvSpPr>
          <p:cNvPr id="14" name="Text 12"/>
          <p:cNvSpPr/>
          <p:nvPr/>
        </p:nvSpPr>
        <p:spPr>
          <a:xfrm>
            <a:off x="3291840" y="2084832"/>
            <a:ext cx="2468880" cy="201168"/>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Monsoon vs Winter</a:t>
            </a:r>
            <a:endParaRPr lang="en-US" sz="950" dirty="0"/>
          </a:p>
        </p:txBody>
      </p:sp>
      <p:sp>
        <p:nvSpPr>
          <p:cNvPr id="15" name="Text 13"/>
          <p:cNvSpPr/>
          <p:nvPr/>
        </p:nvSpPr>
        <p:spPr>
          <a:xfrm>
            <a:off x="3291840" y="2331720"/>
            <a:ext cx="2468880" cy="21945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Monsoon Impact</a:t>
            </a:r>
            <a:endParaRPr lang="en-US" sz="1100" dirty="0"/>
          </a:p>
        </p:txBody>
      </p:sp>
      <p:sp>
        <p:nvSpPr>
          <p:cNvPr id="16" name="Text 14"/>
          <p:cNvSpPr/>
          <p:nvPr/>
        </p:nvSpPr>
        <p:spPr>
          <a:xfrm>
            <a:off x="3291840" y="2578608"/>
            <a:ext cx="2468880" cy="53035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Weather Impact Score is 4× higher in Monsoon vs Winter. Foggy conditions cause the longest average delays — above 60 mins per affected flight.</a:t>
            </a:r>
            <a:endParaRPr lang="en-US" sz="900" dirty="0"/>
          </a:p>
        </p:txBody>
      </p:sp>
      <p:sp>
        <p:nvSpPr>
          <p:cNvPr id="17" name="Shape 15"/>
          <p:cNvSpPr/>
          <p:nvPr/>
        </p:nvSpPr>
        <p:spPr>
          <a:xfrm>
            <a:off x="5998464" y="1389888"/>
            <a:ext cx="2697480" cy="1783080"/>
          </a:xfrm>
          <a:prstGeom prst="rect">
            <a:avLst/>
          </a:prstGeom>
          <a:solidFill>
            <a:srgbClr val="0F2040"/>
          </a:solidFill>
          <a:ln w="6350">
            <a:solidFill>
              <a:srgbClr val="4A6080"/>
            </a:solidFill>
            <a:prstDash val="solid"/>
          </a:ln>
        </p:spPr>
      </p:sp>
      <p:sp>
        <p:nvSpPr>
          <p:cNvPr id="18" name="Text 16"/>
          <p:cNvSpPr/>
          <p:nvPr/>
        </p:nvSpPr>
        <p:spPr>
          <a:xfrm>
            <a:off x="6108192" y="1444752"/>
            <a:ext cx="2468880" cy="658368"/>
          </a:xfrm>
          <a:prstGeom prst="rect">
            <a:avLst/>
          </a:prstGeom>
          <a:noFill/>
          <a:ln/>
        </p:spPr>
        <p:txBody>
          <a:bodyPr wrap="square" rtlCol="0" anchor="ctr"/>
          <a:lstStyle/>
          <a:p>
            <a:pPr algn="l" indent="0" marL="0">
              <a:buNone/>
            </a:pPr>
            <a:r>
              <a:rPr lang="en-US" sz="4000" b="1" dirty="0">
                <a:solidFill>
                  <a:srgbClr val="FF6B6B"/>
                </a:solidFill>
                <a:latin typeface="Calibri" pitchFamily="34" charset="0"/>
                <a:ea typeface="Calibri" pitchFamily="34" charset="-122"/>
                <a:cs typeface="Calibri" pitchFamily="34" charset="-120"/>
              </a:rPr>
              <a:t>80%+</a:t>
            </a:r>
            <a:endParaRPr lang="en-US" sz="4000" dirty="0"/>
          </a:p>
        </p:txBody>
      </p:sp>
      <p:sp>
        <p:nvSpPr>
          <p:cNvPr id="19" name="Text 17"/>
          <p:cNvSpPr/>
          <p:nvPr/>
        </p:nvSpPr>
        <p:spPr>
          <a:xfrm>
            <a:off x="6108192" y="2084832"/>
            <a:ext cx="2468880" cy="201168"/>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Load Factor Goal</a:t>
            </a:r>
            <a:endParaRPr lang="en-US" sz="950" dirty="0"/>
          </a:p>
        </p:txBody>
      </p:sp>
      <p:sp>
        <p:nvSpPr>
          <p:cNvPr id="20" name="Text 18"/>
          <p:cNvSpPr/>
          <p:nvPr/>
        </p:nvSpPr>
        <p:spPr>
          <a:xfrm>
            <a:off x="6108192" y="2331720"/>
            <a:ext cx="2468880" cy="21945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Seat Fill Efficiency</a:t>
            </a:r>
            <a:endParaRPr lang="en-US" sz="1100" dirty="0"/>
          </a:p>
        </p:txBody>
      </p:sp>
      <p:sp>
        <p:nvSpPr>
          <p:cNvPr id="21" name="Text 19"/>
          <p:cNvSpPr/>
          <p:nvPr/>
        </p:nvSpPr>
        <p:spPr>
          <a:xfrm>
            <a:off x="6108192" y="2578608"/>
            <a:ext cx="2468880" cy="530352"/>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Full Service carriers (Air India, Vistara) show higher load factors on wide-body aircraft. ATR 72 regional routes consistently underperform on passenger fill.</a:t>
            </a:r>
            <a:endParaRPr lang="en-US" sz="900" dirty="0"/>
          </a:p>
        </p:txBody>
      </p:sp>
      <p:sp>
        <p:nvSpPr>
          <p:cNvPr id="22" name="Shape 20"/>
          <p:cNvSpPr/>
          <p:nvPr/>
        </p:nvSpPr>
        <p:spPr>
          <a:xfrm>
            <a:off x="365760" y="3291840"/>
            <a:ext cx="4160520" cy="1389888"/>
          </a:xfrm>
          <a:prstGeom prst="rect">
            <a:avLst/>
          </a:prstGeom>
          <a:solidFill>
            <a:srgbClr val="0F2040"/>
          </a:solidFill>
          <a:ln w="6350">
            <a:solidFill>
              <a:srgbClr val="4A6080"/>
            </a:solidFill>
            <a:prstDash val="solid"/>
          </a:ln>
        </p:spPr>
      </p:sp>
      <p:sp>
        <p:nvSpPr>
          <p:cNvPr id="23" name="Shape 21"/>
          <p:cNvSpPr/>
          <p:nvPr/>
        </p:nvSpPr>
        <p:spPr>
          <a:xfrm>
            <a:off x="365760" y="3291840"/>
            <a:ext cx="54864" cy="1389888"/>
          </a:xfrm>
          <a:prstGeom prst="rect">
            <a:avLst/>
          </a:prstGeom>
          <a:solidFill>
            <a:srgbClr val="FFB300"/>
          </a:solidFill>
          <a:ln w="12700">
            <a:solidFill>
              <a:srgbClr val="FFB300"/>
            </a:solidFill>
            <a:prstDash val="solid"/>
          </a:ln>
        </p:spPr>
      </p:sp>
      <p:sp>
        <p:nvSpPr>
          <p:cNvPr id="24" name="Text 22"/>
          <p:cNvSpPr/>
          <p:nvPr/>
        </p:nvSpPr>
        <p:spPr>
          <a:xfrm>
            <a:off x="530352" y="3346704"/>
            <a:ext cx="1097280" cy="594360"/>
          </a:xfrm>
          <a:prstGeom prst="rect">
            <a:avLst/>
          </a:prstGeom>
          <a:noFill/>
          <a:ln/>
        </p:spPr>
        <p:txBody>
          <a:bodyPr wrap="square" rtlCol="0" anchor="ctr"/>
          <a:lstStyle/>
          <a:p>
            <a:pPr indent="0" marL="0">
              <a:buNone/>
            </a:pPr>
            <a:r>
              <a:rPr lang="en-US" sz="3400" b="1" dirty="0">
                <a:solidFill>
                  <a:srgbClr val="FFB300"/>
                </a:solidFill>
                <a:latin typeface="Calibri" pitchFamily="34" charset="0"/>
                <a:ea typeface="Calibri" pitchFamily="34" charset="-122"/>
                <a:cs typeface="Calibri" pitchFamily="34" charset="-120"/>
              </a:rPr>
              <a:t>2×</a:t>
            </a:r>
            <a:endParaRPr lang="en-US" sz="3400" dirty="0"/>
          </a:p>
        </p:txBody>
      </p:sp>
      <p:sp>
        <p:nvSpPr>
          <p:cNvPr id="25" name="Text 23"/>
          <p:cNvSpPr/>
          <p:nvPr/>
        </p:nvSpPr>
        <p:spPr>
          <a:xfrm>
            <a:off x="530352" y="3950208"/>
            <a:ext cx="1371600" cy="201168"/>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Captain vs FO Delay</a:t>
            </a:r>
            <a:endParaRPr lang="en-US" sz="900" dirty="0"/>
          </a:p>
        </p:txBody>
      </p:sp>
      <p:sp>
        <p:nvSpPr>
          <p:cNvPr id="26" name="Text 24"/>
          <p:cNvSpPr/>
          <p:nvPr/>
        </p:nvSpPr>
        <p:spPr>
          <a:xfrm>
            <a:off x="1828800" y="3364992"/>
            <a:ext cx="256032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Crew Experience Effect</a:t>
            </a:r>
            <a:endParaRPr lang="en-US" sz="1200" dirty="0"/>
          </a:p>
        </p:txBody>
      </p:sp>
      <p:sp>
        <p:nvSpPr>
          <p:cNvPr id="27" name="Text 25"/>
          <p:cNvSpPr/>
          <p:nvPr/>
        </p:nvSpPr>
        <p:spPr>
          <a:xfrm>
            <a:off x="1828800" y="3639312"/>
            <a:ext cx="2560320" cy="896112"/>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Captains with 16+ years experience show nearly 2× lower average delays than First Officers under 5 years. Experience band is a significant predictor of punctuality.</a:t>
            </a:r>
            <a:endParaRPr lang="en-US" sz="950" dirty="0"/>
          </a:p>
        </p:txBody>
      </p:sp>
      <p:sp>
        <p:nvSpPr>
          <p:cNvPr id="28" name="Shape 26"/>
          <p:cNvSpPr/>
          <p:nvPr/>
        </p:nvSpPr>
        <p:spPr>
          <a:xfrm>
            <a:off x="4663440" y="3291840"/>
            <a:ext cx="4160520" cy="1389888"/>
          </a:xfrm>
          <a:prstGeom prst="rect">
            <a:avLst/>
          </a:prstGeom>
          <a:solidFill>
            <a:srgbClr val="0F2040"/>
          </a:solidFill>
          <a:ln w="6350">
            <a:solidFill>
              <a:srgbClr val="4A6080"/>
            </a:solidFill>
            <a:prstDash val="solid"/>
          </a:ln>
        </p:spPr>
      </p:sp>
      <p:sp>
        <p:nvSpPr>
          <p:cNvPr id="29" name="Shape 27"/>
          <p:cNvSpPr/>
          <p:nvPr/>
        </p:nvSpPr>
        <p:spPr>
          <a:xfrm>
            <a:off x="4663440" y="3291840"/>
            <a:ext cx="54864" cy="1389888"/>
          </a:xfrm>
          <a:prstGeom prst="rect">
            <a:avLst/>
          </a:prstGeom>
          <a:solidFill>
            <a:srgbClr val="00C9A7"/>
          </a:solidFill>
          <a:ln w="12700">
            <a:solidFill>
              <a:srgbClr val="00C9A7"/>
            </a:solidFill>
            <a:prstDash val="solid"/>
          </a:ln>
        </p:spPr>
      </p:sp>
      <p:sp>
        <p:nvSpPr>
          <p:cNvPr id="30" name="Text 28"/>
          <p:cNvSpPr/>
          <p:nvPr/>
        </p:nvSpPr>
        <p:spPr>
          <a:xfrm>
            <a:off x="4828032" y="3346704"/>
            <a:ext cx="1097280" cy="594360"/>
          </a:xfrm>
          <a:prstGeom prst="rect">
            <a:avLst/>
          </a:prstGeom>
          <a:noFill/>
          <a:ln/>
        </p:spPr>
        <p:txBody>
          <a:bodyPr wrap="square" rtlCol="0" anchor="ctr"/>
          <a:lstStyle/>
          <a:p>
            <a:pPr indent="0" marL="0">
              <a:buNone/>
            </a:pPr>
            <a:r>
              <a:rPr lang="en-US" sz="3400" b="1" dirty="0">
                <a:solidFill>
                  <a:srgbClr val="00C9A7"/>
                </a:solidFill>
                <a:latin typeface="Calibri" pitchFamily="34" charset="0"/>
                <a:ea typeface="Calibri" pitchFamily="34" charset="-122"/>
                <a:cs typeface="Calibri" pitchFamily="34" charset="-120"/>
              </a:rPr>
              <a:t>&gt;12%</a:t>
            </a:r>
            <a:endParaRPr lang="en-US" sz="3400" dirty="0"/>
          </a:p>
        </p:txBody>
      </p:sp>
      <p:sp>
        <p:nvSpPr>
          <p:cNvPr id="31" name="Text 29"/>
          <p:cNvSpPr/>
          <p:nvPr/>
        </p:nvSpPr>
        <p:spPr>
          <a:xfrm>
            <a:off x="4828032" y="3950208"/>
            <a:ext cx="1371600" cy="201168"/>
          </a:xfrm>
          <a:prstGeom prst="rect">
            <a:avLst/>
          </a:prstGeom>
          <a:noFill/>
          <a:ln/>
        </p:spPr>
        <p:txBody>
          <a:bodyPr wrap="square" rtlCol="0" anchor="ctr"/>
          <a:lstStyle/>
          <a:p>
            <a:pPr indent="0" marL="0">
              <a:buNone/>
            </a:pPr>
            <a:r>
              <a:rPr lang="en-US" sz="900" dirty="0">
                <a:solidFill>
                  <a:srgbClr val="8EADC7"/>
                </a:solidFill>
                <a:latin typeface="Calibri" pitchFamily="34" charset="0"/>
                <a:ea typeface="Calibri" pitchFamily="34" charset="-122"/>
                <a:cs typeface="Calibri" pitchFamily="34" charset="-120"/>
              </a:rPr>
              <a:t>Cancellation Rate</a:t>
            </a:r>
            <a:endParaRPr lang="en-US" sz="900" dirty="0"/>
          </a:p>
        </p:txBody>
      </p:sp>
      <p:sp>
        <p:nvSpPr>
          <p:cNvPr id="32" name="Text 30"/>
          <p:cNvSpPr/>
          <p:nvPr/>
        </p:nvSpPr>
        <p:spPr>
          <a:xfrm>
            <a:off x="6126480" y="3364992"/>
            <a:ext cx="2560320" cy="25603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Storm Cancellation</a:t>
            </a:r>
            <a:endParaRPr lang="en-US" sz="1200" dirty="0"/>
          </a:p>
        </p:txBody>
      </p:sp>
      <p:sp>
        <p:nvSpPr>
          <p:cNvPr id="33" name="Text 31"/>
          <p:cNvSpPr/>
          <p:nvPr/>
        </p:nvSpPr>
        <p:spPr>
          <a:xfrm>
            <a:off x="6126480" y="3639312"/>
            <a:ext cx="2560320" cy="896112"/>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Stormy weather drives cancellation rates above 12% — more than triple the rate in clear conditions. Southern airports (COK, GOI) most vulnerable.</a:t>
            </a:r>
            <a:endParaRPr lang="en-US" sz="950" dirty="0"/>
          </a:p>
        </p:txBody>
      </p:sp>
      <p:sp>
        <p:nvSpPr>
          <p:cNvPr id="34" name="Shape 32"/>
          <p:cNvSpPr/>
          <p:nvPr/>
        </p:nvSpPr>
        <p:spPr>
          <a:xfrm>
            <a:off x="0" y="4892040"/>
            <a:ext cx="9144000" cy="251460"/>
          </a:xfrm>
          <a:prstGeom prst="rect">
            <a:avLst/>
          </a:prstGeom>
          <a:solidFill>
            <a:srgbClr val="051020"/>
          </a:solidFill>
          <a:ln w="12700">
            <a:solidFill>
              <a:srgbClr val="051020"/>
            </a:solidFill>
            <a:prstDash val="solid"/>
          </a:ln>
        </p:spPr>
      </p:sp>
      <p:sp>
        <p:nvSpPr>
          <p:cNvPr id="35" name="Text 33"/>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10  ·  STORYTELLING</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Storytelling &amp; Business Impact</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The data narrative in four acts</a:t>
            </a:r>
            <a:endParaRPr lang="en-US" sz="1200" dirty="0"/>
          </a:p>
        </p:txBody>
      </p:sp>
      <p:sp>
        <p:nvSpPr>
          <p:cNvPr id="7" name="Shape 5"/>
          <p:cNvSpPr/>
          <p:nvPr/>
        </p:nvSpPr>
        <p:spPr>
          <a:xfrm>
            <a:off x="365760" y="1417320"/>
            <a:ext cx="2057400" cy="3273552"/>
          </a:xfrm>
          <a:prstGeom prst="rect">
            <a:avLst/>
          </a:prstGeom>
          <a:solidFill>
            <a:srgbClr val="0F2040"/>
          </a:solidFill>
          <a:ln w="6350">
            <a:solidFill>
              <a:srgbClr val="4A6080"/>
            </a:solidFill>
            <a:prstDash val="solid"/>
          </a:ln>
        </p:spPr>
      </p:sp>
      <p:sp>
        <p:nvSpPr>
          <p:cNvPr id="8" name="Shape 6"/>
          <p:cNvSpPr/>
          <p:nvPr/>
        </p:nvSpPr>
        <p:spPr>
          <a:xfrm>
            <a:off x="365760" y="1417320"/>
            <a:ext cx="2057400" cy="73152"/>
          </a:xfrm>
          <a:prstGeom prst="rect">
            <a:avLst/>
          </a:prstGeom>
          <a:solidFill>
            <a:srgbClr val="00C9A7"/>
          </a:solidFill>
          <a:ln w="12700">
            <a:solidFill>
              <a:srgbClr val="00C9A7"/>
            </a:solidFill>
            <a:prstDash val="solid"/>
          </a:ln>
        </p:spPr>
      </p:sp>
      <p:sp>
        <p:nvSpPr>
          <p:cNvPr id="9" name="Shape 7"/>
          <p:cNvSpPr/>
          <p:nvPr/>
        </p:nvSpPr>
        <p:spPr>
          <a:xfrm>
            <a:off x="932688" y="1572768"/>
            <a:ext cx="914400" cy="274320"/>
          </a:xfrm>
          <a:prstGeom prst="roundRect">
            <a:avLst>
              <a:gd name="adj" fmla="val 26667"/>
            </a:avLst>
          </a:prstGeom>
          <a:solidFill>
            <a:srgbClr val="004D40"/>
          </a:solidFill>
          <a:ln w="10160">
            <a:solidFill>
              <a:srgbClr val="00C9A7"/>
            </a:solidFill>
            <a:prstDash val="solid"/>
          </a:ln>
        </p:spPr>
      </p:sp>
      <p:sp>
        <p:nvSpPr>
          <p:cNvPr id="10" name="Text 8"/>
          <p:cNvSpPr/>
          <p:nvPr/>
        </p:nvSpPr>
        <p:spPr>
          <a:xfrm>
            <a:off x="932688" y="1572768"/>
            <a:ext cx="914400" cy="274320"/>
          </a:xfrm>
          <a:prstGeom prst="rect">
            <a:avLst/>
          </a:prstGeom>
          <a:noFill/>
          <a:ln/>
        </p:spPr>
        <p:txBody>
          <a:bodyPr wrap="square" rtlCol="0" anchor="ctr"/>
          <a:lstStyle/>
          <a:p>
            <a:pPr algn="ctr" indent="0" marL="0">
              <a:buNone/>
            </a:pPr>
            <a:r>
              <a:rPr lang="en-US" sz="950" b="1" dirty="0">
                <a:solidFill>
                  <a:srgbClr val="00C9A7"/>
                </a:solidFill>
                <a:latin typeface="Calibri" pitchFamily="34" charset="0"/>
                <a:ea typeface="Calibri" pitchFamily="34" charset="-122"/>
                <a:cs typeface="Calibri" pitchFamily="34" charset="-120"/>
              </a:rPr>
              <a:t>2023 Q1</a:t>
            </a:r>
            <a:endParaRPr lang="en-US" sz="950" dirty="0"/>
          </a:p>
        </p:txBody>
      </p:sp>
      <p:sp>
        <p:nvSpPr>
          <p:cNvPr id="11" name="Text 9"/>
          <p:cNvSpPr/>
          <p:nvPr/>
        </p:nvSpPr>
        <p:spPr>
          <a:xfrm>
            <a:off x="475488" y="1938528"/>
            <a:ext cx="1847088"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Baseline</a:t>
            </a:r>
            <a:endParaRPr lang="en-US" sz="1400" dirty="0"/>
          </a:p>
        </p:txBody>
      </p:sp>
      <p:sp>
        <p:nvSpPr>
          <p:cNvPr id="12" name="Shape 10"/>
          <p:cNvSpPr/>
          <p:nvPr/>
        </p:nvSpPr>
        <p:spPr>
          <a:xfrm>
            <a:off x="1143000" y="2304288"/>
            <a:ext cx="502920" cy="0"/>
          </a:xfrm>
          <a:prstGeom prst="line">
            <a:avLst/>
          </a:prstGeom>
          <a:noFill/>
          <a:ln w="19050">
            <a:solidFill>
              <a:srgbClr val="00C9A7"/>
            </a:solidFill>
            <a:prstDash val="solid"/>
          </a:ln>
        </p:spPr>
      </p:sp>
      <p:sp>
        <p:nvSpPr>
          <p:cNvPr id="13" name="Text 11"/>
          <p:cNvSpPr/>
          <p:nvPr/>
        </p:nvSpPr>
        <p:spPr>
          <a:xfrm>
            <a:off x="475488" y="2468880"/>
            <a:ext cx="1847088" cy="2148840"/>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Operations open with 2,000 flights across 10 Indian airports. IndiGo dominates with 30%+ market share. Avg delay sits at 34 minutes. OTP% at 65.4% — well below the 80% industry benchmark.</a:t>
            </a:r>
            <a:endParaRPr lang="en-US" sz="950" dirty="0"/>
          </a:p>
        </p:txBody>
      </p:sp>
      <p:sp>
        <p:nvSpPr>
          <p:cNvPr id="14" name="Shape 12"/>
          <p:cNvSpPr/>
          <p:nvPr/>
        </p:nvSpPr>
        <p:spPr>
          <a:xfrm>
            <a:off x="2514600" y="1417320"/>
            <a:ext cx="2057400" cy="3273552"/>
          </a:xfrm>
          <a:prstGeom prst="rect">
            <a:avLst/>
          </a:prstGeom>
          <a:solidFill>
            <a:srgbClr val="0F2040"/>
          </a:solidFill>
          <a:ln w="6350">
            <a:solidFill>
              <a:srgbClr val="4A6080"/>
            </a:solidFill>
            <a:prstDash val="solid"/>
          </a:ln>
        </p:spPr>
      </p:sp>
      <p:sp>
        <p:nvSpPr>
          <p:cNvPr id="15" name="Shape 13"/>
          <p:cNvSpPr/>
          <p:nvPr/>
        </p:nvSpPr>
        <p:spPr>
          <a:xfrm>
            <a:off x="2514600" y="1417320"/>
            <a:ext cx="2057400" cy="73152"/>
          </a:xfrm>
          <a:prstGeom prst="rect">
            <a:avLst/>
          </a:prstGeom>
          <a:solidFill>
            <a:srgbClr val="2196F3"/>
          </a:solidFill>
          <a:ln w="12700">
            <a:solidFill>
              <a:srgbClr val="2196F3"/>
            </a:solidFill>
            <a:prstDash val="solid"/>
          </a:ln>
        </p:spPr>
      </p:sp>
      <p:sp>
        <p:nvSpPr>
          <p:cNvPr id="16" name="Shape 14"/>
          <p:cNvSpPr/>
          <p:nvPr/>
        </p:nvSpPr>
        <p:spPr>
          <a:xfrm>
            <a:off x="3081528" y="1572768"/>
            <a:ext cx="914400" cy="274320"/>
          </a:xfrm>
          <a:prstGeom prst="roundRect">
            <a:avLst>
              <a:gd name="adj" fmla="val 26667"/>
            </a:avLst>
          </a:prstGeom>
          <a:solidFill>
            <a:srgbClr val="0D3060"/>
          </a:solidFill>
          <a:ln w="10160">
            <a:solidFill>
              <a:srgbClr val="2196F3"/>
            </a:solidFill>
            <a:prstDash val="solid"/>
          </a:ln>
        </p:spPr>
      </p:sp>
      <p:sp>
        <p:nvSpPr>
          <p:cNvPr id="17" name="Text 15"/>
          <p:cNvSpPr/>
          <p:nvPr/>
        </p:nvSpPr>
        <p:spPr>
          <a:xfrm>
            <a:off x="3081528" y="1572768"/>
            <a:ext cx="914400" cy="274320"/>
          </a:xfrm>
          <a:prstGeom prst="rect">
            <a:avLst/>
          </a:prstGeom>
          <a:noFill/>
          <a:ln/>
        </p:spPr>
        <p:txBody>
          <a:bodyPr wrap="square" rtlCol="0" anchor="ctr"/>
          <a:lstStyle/>
          <a:p>
            <a:pPr algn="ctr" indent="0" marL="0">
              <a:buNone/>
            </a:pPr>
            <a:r>
              <a:rPr lang="en-US" sz="950" b="1" dirty="0">
                <a:solidFill>
                  <a:srgbClr val="2196F3"/>
                </a:solidFill>
                <a:latin typeface="Calibri" pitchFamily="34" charset="0"/>
                <a:ea typeface="Calibri" pitchFamily="34" charset="-122"/>
                <a:cs typeface="Calibri" pitchFamily="34" charset="-120"/>
              </a:rPr>
              <a:t>2023 FW</a:t>
            </a:r>
            <a:endParaRPr lang="en-US" sz="950" dirty="0"/>
          </a:p>
        </p:txBody>
      </p:sp>
      <p:sp>
        <p:nvSpPr>
          <p:cNvPr id="18" name="Text 16"/>
          <p:cNvSpPr/>
          <p:nvPr/>
        </p:nvSpPr>
        <p:spPr>
          <a:xfrm>
            <a:off x="2624328" y="1938528"/>
            <a:ext cx="1847088"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Monsoon Disruption</a:t>
            </a:r>
            <a:endParaRPr lang="en-US" sz="1400" dirty="0"/>
          </a:p>
        </p:txBody>
      </p:sp>
      <p:sp>
        <p:nvSpPr>
          <p:cNvPr id="19" name="Shape 17"/>
          <p:cNvSpPr/>
          <p:nvPr/>
        </p:nvSpPr>
        <p:spPr>
          <a:xfrm>
            <a:off x="3291840" y="2304288"/>
            <a:ext cx="502920" cy="0"/>
          </a:xfrm>
          <a:prstGeom prst="line">
            <a:avLst/>
          </a:prstGeom>
          <a:noFill/>
          <a:ln w="19050">
            <a:solidFill>
              <a:srgbClr val="2196F3"/>
            </a:solidFill>
            <a:prstDash val="solid"/>
          </a:ln>
        </p:spPr>
      </p:sp>
      <p:sp>
        <p:nvSpPr>
          <p:cNvPr id="20" name="Text 18"/>
          <p:cNvSpPr/>
          <p:nvPr/>
        </p:nvSpPr>
        <p:spPr>
          <a:xfrm>
            <a:off x="2624328" y="2468880"/>
            <a:ext cx="1847088" cy="2148840"/>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June–September brings a 4× surge in Weather Impact Score. Stormy and foggy conditions drive cancellation rates above 12% in southern airports. DEL and BOM show highest delay severity.</a:t>
            </a:r>
            <a:endParaRPr lang="en-US" sz="950" dirty="0"/>
          </a:p>
        </p:txBody>
      </p:sp>
      <p:sp>
        <p:nvSpPr>
          <p:cNvPr id="21" name="Shape 19"/>
          <p:cNvSpPr/>
          <p:nvPr/>
        </p:nvSpPr>
        <p:spPr>
          <a:xfrm>
            <a:off x="4663440" y="1417320"/>
            <a:ext cx="2057400" cy="3273552"/>
          </a:xfrm>
          <a:prstGeom prst="rect">
            <a:avLst/>
          </a:prstGeom>
          <a:solidFill>
            <a:srgbClr val="0F2040"/>
          </a:solidFill>
          <a:ln w="6350">
            <a:solidFill>
              <a:srgbClr val="4A6080"/>
            </a:solidFill>
            <a:prstDash val="solid"/>
          </a:ln>
        </p:spPr>
      </p:sp>
      <p:sp>
        <p:nvSpPr>
          <p:cNvPr id="22" name="Shape 20"/>
          <p:cNvSpPr/>
          <p:nvPr/>
        </p:nvSpPr>
        <p:spPr>
          <a:xfrm>
            <a:off x="4663440" y="1417320"/>
            <a:ext cx="2057400" cy="73152"/>
          </a:xfrm>
          <a:prstGeom prst="rect">
            <a:avLst/>
          </a:prstGeom>
          <a:solidFill>
            <a:srgbClr val="FF6B6B"/>
          </a:solidFill>
          <a:ln w="12700">
            <a:solidFill>
              <a:srgbClr val="FF6B6B"/>
            </a:solidFill>
            <a:prstDash val="solid"/>
          </a:ln>
        </p:spPr>
      </p:sp>
      <p:sp>
        <p:nvSpPr>
          <p:cNvPr id="23" name="Shape 21"/>
          <p:cNvSpPr/>
          <p:nvPr/>
        </p:nvSpPr>
        <p:spPr>
          <a:xfrm>
            <a:off x="5230368" y="1572768"/>
            <a:ext cx="914400" cy="274320"/>
          </a:xfrm>
          <a:prstGeom prst="roundRect">
            <a:avLst>
              <a:gd name="adj" fmla="val 26667"/>
            </a:avLst>
          </a:prstGeom>
          <a:solidFill>
            <a:srgbClr val="4A1515"/>
          </a:solidFill>
          <a:ln w="10160">
            <a:solidFill>
              <a:srgbClr val="FF6B6B"/>
            </a:solidFill>
            <a:prstDash val="solid"/>
          </a:ln>
        </p:spPr>
      </p:sp>
      <p:sp>
        <p:nvSpPr>
          <p:cNvPr id="24" name="Text 22"/>
          <p:cNvSpPr/>
          <p:nvPr/>
        </p:nvSpPr>
        <p:spPr>
          <a:xfrm>
            <a:off x="5230368" y="1572768"/>
            <a:ext cx="914400" cy="274320"/>
          </a:xfrm>
          <a:prstGeom prst="rect">
            <a:avLst/>
          </a:prstGeom>
          <a:noFill/>
          <a:ln/>
        </p:spPr>
        <p:txBody>
          <a:bodyPr wrap="square" rtlCol="0" anchor="ctr"/>
          <a:lstStyle/>
          <a:p>
            <a:pPr algn="ctr" indent="0" marL="0">
              <a:buNone/>
            </a:pPr>
            <a:r>
              <a:rPr lang="en-US" sz="950" b="1" dirty="0">
                <a:solidFill>
                  <a:srgbClr val="FF6B6B"/>
                </a:solidFill>
                <a:latin typeface="Calibri" pitchFamily="34" charset="0"/>
                <a:ea typeface="Calibri" pitchFamily="34" charset="-122"/>
                <a:cs typeface="Calibri" pitchFamily="34" charset="-120"/>
              </a:rPr>
              <a:t>2024 Q1</a:t>
            </a:r>
            <a:endParaRPr lang="en-US" sz="950" dirty="0"/>
          </a:p>
        </p:txBody>
      </p:sp>
      <p:sp>
        <p:nvSpPr>
          <p:cNvPr id="25" name="Text 23"/>
          <p:cNvSpPr/>
          <p:nvPr/>
        </p:nvSpPr>
        <p:spPr>
          <a:xfrm>
            <a:off x="4773168" y="1938528"/>
            <a:ext cx="1847088"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Efficiency Inflection</a:t>
            </a:r>
            <a:endParaRPr lang="en-US" sz="1400" dirty="0"/>
          </a:p>
        </p:txBody>
      </p:sp>
      <p:sp>
        <p:nvSpPr>
          <p:cNvPr id="26" name="Shape 24"/>
          <p:cNvSpPr/>
          <p:nvPr/>
        </p:nvSpPr>
        <p:spPr>
          <a:xfrm>
            <a:off x="5440680" y="2304288"/>
            <a:ext cx="502920" cy="0"/>
          </a:xfrm>
          <a:prstGeom prst="line">
            <a:avLst/>
          </a:prstGeom>
          <a:noFill/>
          <a:ln w="19050">
            <a:solidFill>
              <a:srgbClr val="FF6B6B"/>
            </a:solidFill>
            <a:prstDash val="solid"/>
          </a:ln>
        </p:spPr>
      </p:sp>
      <p:sp>
        <p:nvSpPr>
          <p:cNvPr id="27" name="Text 25"/>
          <p:cNvSpPr/>
          <p:nvPr/>
        </p:nvSpPr>
        <p:spPr>
          <a:xfrm>
            <a:off x="4773168" y="2468880"/>
            <a:ext cx="1847088" cy="2148840"/>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Full service carriers show Load Factor &gt;80% on wide-body routes. Captain-ranked pilots with 16+ years experience show 2× better punctuality vs junior First Officers — a critical retention insight.</a:t>
            </a:r>
            <a:endParaRPr lang="en-US" sz="950" dirty="0"/>
          </a:p>
        </p:txBody>
      </p:sp>
      <p:sp>
        <p:nvSpPr>
          <p:cNvPr id="28" name="Shape 26"/>
          <p:cNvSpPr/>
          <p:nvPr/>
        </p:nvSpPr>
        <p:spPr>
          <a:xfrm>
            <a:off x="6812280" y="1417320"/>
            <a:ext cx="2057400" cy="3273552"/>
          </a:xfrm>
          <a:prstGeom prst="rect">
            <a:avLst/>
          </a:prstGeom>
          <a:solidFill>
            <a:srgbClr val="0F2040"/>
          </a:solidFill>
          <a:ln w="6350">
            <a:solidFill>
              <a:srgbClr val="4A6080"/>
            </a:solidFill>
            <a:prstDash val="solid"/>
          </a:ln>
        </p:spPr>
      </p:sp>
      <p:sp>
        <p:nvSpPr>
          <p:cNvPr id="29" name="Shape 27"/>
          <p:cNvSpPr/>
          <p:nvPr/>
        </p:nvSpPr>
        <p:spPr>
          <a:xfrm>
            <a:off x="6812280" y="1417320"/>
            <a:ext cx="2057400" cy="73152"/>
          </a:xfrm>
          <a:prstGeom prst="rect">
            <a:avLst/>
          </a:prstGeom>
          <a:solidFill>
            <a:srgbClr val="FFB300"/>
          </a:solidFill>
          <a:ln w="12700">
            <a:solidFill>
              <a:srgbClr val="FFB300"/>
            </a:solidFill>
            <a:prstDash val="solid"/>
          </a:ln>
        </p:spPr>
      </p:sp>
      <p:sp>
        <p:nvSpPr>
          <p:cNvPr id="30" name="Shape 28"/>
          <p:cNvSpPr/>
          <p:nvPr/>
        </p:nvSpPr>
        <p:spPr>
          <a:xfrm>
            <a:off x="7379208" y="1572768"/>
            <a:ext cx="914400" cy="274320"/>
          </a:xfrm>
          <a:prstGeom prst="roundRect">
            <a:avLst>
              <a:gd name="adj" fmla="val 26667"/>
            </a:avLst>
          </a:prstGeom>
          <a:solidFill>
            <a:srgbClr val="3D2800"/>
          </a:solidFill>
          <a:ln w="10160">
            <a:solidFill>
              <a:srgbClr val="FFB300"/>
            </a:solidFill>
            <a:prstDash val="solid"/>
          </a:ln>
        </p:spPr>
      </p:sp>
      <p:sp>
        <p:nvSpPr>
          <p:cNvPr id="31" name="Text 29"/>
          <p:cNvSpPr/>
          <p:nvPr/>
        </p:nvSpPr>
        <p:spPr>
          <a:xfrm>
            <a:off x="7379208" y="1572768"/>
            <a:ext cx="914400" cy="274320"/>
          </a:xfrm>
          <a:prstGeom prst="rect">
            <a:avLst/>
          </a:prstGeom>
          <a:noFill/>
          <a:ln/>
        </p:spPr>
        <p:txBody>
          <a:bodyPr wrap="square" rtlCol="0" anchor="ctr"/>
          <a:lstStyle/>
          <a:p>
            <a:pPr algn="ctr" indent="0" marL="0">
              <a:buNone/>
            </a:pPr>
            <a:r>
              <a:rPr lang="en-US" sz="950" b="1" dirty="0">
                <a:solidFill>
                  <a:srgbClr val="FFB300"/>
                </a:solidFill>
                <a:latin typeface="Calibri" pitchFamily="34" charset="0"/>
                <a:ea typeface="Calibri" pitchFamily="34" charset="-122"/>
                <a:cs typeface="Calibri" pitchFamily="34" charset="-120"/>
              </a:rPr>
              <a:t>Action</a:t>
            </a:r>
            <a:endParaRPr lang="en-US" sz="950" dirty="0"/>
          </a:p>
        </p:txBody>
      </p:sp>
      <p:sp>
        <p:nvSpPr>
          <p:cNvPr id="32" name="Text 30"/>
          <p:cNvSpPr/>
          <p:nvPr/>
        </p:nvSpPr>
        <p:spPr>
          <a:xfrm>
            <a:off x="6922008" y="1938528"/>
            <a:ext cx="1847088"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Prescription</a:t>
            </a:r>
            <a:endParaRPr lang="en-US" sz="1400" dirty="0"/>
          </a:p>
        </p:txBody>
      </p:sp>
      <p:sp>
        <p:nvSpPr>
          <p:cNvPr id="33" name="Shape 31"/>
          <p:cNvSpPr/>
          <p:nvPr/>
        </p:nvSpPr>
        <p:spPr>
          <a:xfrm>
            <a:off x="7589520" y="2304288"/>
            <a:ext cx="502920" cy="0"/>
          </a:xfrm>
          <a:prstGeom prst="line">
            <a:avLst/>
          </a:prstGeom>
          <a:noFill/>
          <a:ln w="19050">
            <a:solidFill>
              <a:srgbClr val="FFB300"/>
            </a:solidFill>
            <a:prstDash val="solid"/>
          </a:ln>
        </p:spPr>
      </p:sp>
      <p:sp>
        <p:nvSpPr>
          <p:cNvPr id="34" name="Text 32"/>
          <p:cNvSpPr/>
          <p:nvPr/>
        </p:nvSpPr>
        <p:spPr>
          <a:xfrm>
            <a:off x="6922008" y="2468880"/>
            <a:ext cx="1847088" cy="2148840"/>
          </a:xfrm>
          <a:prstGeom prst="rect">
            <a:avLst/>
          </a:prstGeom>
          <a:noFill/>
          <a:ln/>
        </p:spPr>
        <p:txBody>
          <a:bodyPr wrap="square" rtlCol="0" anchor="ctr"/>
          <a:lstStyle/>
          <a:p>
            <a:pPr indent="0" marL="0">
              <a:buNone/>
            </a:pPr>
            <a:r>
              <a:rPr lang="en-US" sz="950" dirty="0">
                <a:solidFill>
                  <a:srgbClr val="8EADC7"/>
                </a:solidFill>
                <a:latin typeface="Calibri" pitchFamily="34" charset="0"/>
                <a:ea typeface="Calibri" pitchFamily="34" charset="-122"/>
                <a:cs typeface="Calibri" pitchFamily="34" charset="-120"/>
              </a:rPr>
              <a:t>Three interventions: (1) Invest in pre-monsoon ground ops at COK and GOI. (2) Accelerate Captain promotions for high-rating FOs. (3) Rebalance fleet mix toward A321 and B787 on high-demand routes.</a:t>
            </a:r>
            <a:endParaRPr lang="en-US" sz="950" dirty="0"/>
          </a:p>
        </p:txBody>
      </p:sp>
      <p:sp>
        <p:nvSpPr>
          <p:cNvPr id="35" name="Shape 33"/>
          <p:cNvSpPr/>
          <p:nvPr/>
        </p:nvSpPr>
        <p:spPr>
          <a:xfrm>
            <a:off x="0" y="4892040"/>
            <a:ext cx="9144000" cy="251460"/>
          </a:xfrm>
          <a:prstGeom prst="rect">
            <a:avLst/>
          </a:prstGeom>
          <a:solidFill>
            <a:srgbClr val="051020"/>
          </a:solidFill>
          <a:ln w="12700">
            <a:solidFill>
              <a:srgbClr val="051020"/>
            </a:solidFill>
            <a:prstDash val="solid"/>
          </a:ln>
        </p:spPr>
      </p:sp>
      <p:sp>
        <p:nvSpPr>
          <p:cNvPr id="36" name="Text 34"/>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11  ·  REPORT DESIGN</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Report Design &amp; Visual Layout</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Canvas specifications, visual types, and Power BI feature usage</a:t>
            </a:r>
            <a:endParaRPr lang="en-US" sz="1200" dirty="0"/>
          </a:p>
        </p:txBody>
      </p:sp>
      <p:sp>
        <p:nvSpPr>
          <p:cNvPr id="7" name="Shape 5"/>
          <p:cNvSpPr/>
          <p:nvPr/>
        </p:nvSpPr>
        <p:spPr>
          <a:xfrm>
            <a:off x="365760" y="1417320"/>
            <a:ext cx="2743200" cy="1143000"/>
          </a:xfrm>
          <a:prstGeom prst="rect">
            <a:avLst/>
          </a:prstGeom>
          <a:solidFill>
            <a:srgbClr val="0F2040"/>
          </a:solidFill>
          <a:ln w="10160">
            <a:solidFill>
              <a:srgbClr val="00C9A7"/>
            </a:solidFill>
            <a:prstDash val="solid"/>
          </a:ln>
        </p:spPr>
      </p:sp>
      <p:sp>
        <p:nvSpPr>
          <p:cNvPr id="8" name="Text 6"/>
          <p:cNvSpPr/>
          <p:nvPr/>
        </p:nvSpPr>
        <p:spPr>
          <a:xfrm>
            <a:off x="502920" y="1481328"/>
            <a:ext cx="2468880" cy="219456"/>
          </a:xfrm>
          <a:prstGeom prst="rect">
            <a:avLst/>
          </a:prstGeom>
          <a:noFill/>
          <a:ln/>
        </p:spPr>
        <p:txBody>
          <a:bodyPr wrap="square" rtlCol="0" anchor="ctr"/>
          <a:lstStyle/>
          <a:p>
            <a:pPr indent="0" marL="0">
              <a:buNone/>
            </a:pPr>
            <a:r>
              <a:rPr lang="en-US" sz="900" b="1" spc="100" kern="0" dirty="0">
                <a:solidFill>
                  <a:srgbClr val="00C9A7"/>
                </a:solidFill>
                <a:latin typeface="Calibri" pitchFamily="34" charset="0"/>
                <a:ea typeface="Calibri" pitchFamily="34" charset="-122"/>
                <a:cs typeface="Calibri" pitchFamily="34" charset="-120"/>
              </a:rPr>
              <a:t>Canvas</a:t>
            </a:r>
            <a:endParaRPr lang="en-US" sz="900" dirty="0"/>
          </a:p>
        </p:txBody>
      </p:sp>
      <p:sp>
        <p:nvSpPr>
          <p:cNvPr id="9" name="Text 7"/>
          <p:cNvSpPr/>
          <p:nvPr/>
        </p:nvSpPr>
        <p:spPr>
          <a:xfrm>
            <a:off x="502920" y="1737360"/>
            <a:ext cx="2468880" cy="713232"/>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1280 × 720 px  ·  16:9 ratio</a:t>
            </a:r>
            <a:endParaRPr lang="en-US" sz="1000" dirty="0"/>
          </a:p>
          <a:p>
            <a:pPr indent="0" marL="0">
              <a:buNone/>
            </a:pPr>
            <a:r>
              <a:rPr lang="en-US" sz="1000" dirty="0">
                <a:solidFill>
                  <a:srgbClr val="E8F4FD"/>
                </a:solidFill>
                <a:latin typeface="Calibri" pitchFamily="34" charset="0"/>
                <a:ea typeface="Calibri" pitchFamily="34" charset="-122"/>
                <a:cs typeface="Calibri" pitchFamily="34" charset="-120"/>
              </a:rPr>
              <a:t>Theme: Teal #00C9A7 + Deep Navy #0A1628</a:t>
            </a:r>
            <a:endParaRPr lang="en-US" sz="1000" dirty="0"/>
          </a:p>
          <a:p>
            <a:pPr indent="0" marL="0">
              <a:buNone/>
            </a:pPr>
            <a:r>
              <a:rPr lang="en-US" sz="1000" dirty="0">
                <a:solidFill>
                  <a:srgbClr val="E8F4FD"/>
                </a:solidFill>
                <a:latin typeface="Calibri" pitchFamily="34" charset="0"/>
                <a:ea typeface="Calibri" pitchFamily="34" charset="-122"/>
                <a:cs typeface="Calibri" pitchFamily="34" charset="-120"/>
              </a:rPr>
              <a:t>Font pairing: Calibri + Consolas (DAX)</a:t>
            </a:r>
            <a:endParaRPr lang="en-US" sz="1000" dirty="0"/>
          </a:p>
        </p:txBody>
      </p:sp>
      <p:sp>
        <p:nvSpPr>
          <p:cNvPr id="10" name="Shape 8"/>
          <p:cNvSpPr/>
          <p:nvPr/>
        </p:nvSpPr>
        <p:spPr>
          <a:xfrm>
            <a:off x="3291840" y="1417320"/>
            <a:ext cx="5468112" cy="1143000"/>
          </a:xfrm>
          <a:prstGeom prst="rect">
            <a:avLst/>
          </a:prstGeom>
          <a:solidFill>
            <a:srgbClr val="0F2040"/>
          </a:solidFill>
          <a:ln w="10160">
            <a:solidFill>
              <a:srgbClr val="2196F3"/>
            </a:solidFill>
            <a:prstDash val="solid"/>
          </a:ln>
        </p:spPr>
      </p:sp>
      <p:sp>
        <p:nvSpPr>
          <p:cNvPr id="11" name="Text 9"/>
          <p:cNvSpPr/>
          <p:nvPr/>
        </p:nvSpPr>
        <p:spPr>
          <a:xfrm>
            <a:off x="3401568" y="1481328"/>
            <a:ext cx="5212080" cy="219456"/>
          </a:xfrm>
          <a:prstGeom prst="rect">
            <a:avLst/>
          </a:prstGeom>
          <a:noFill/>
          <a:ln/>
        </p:spPr>
        <p:txBody>
          <a:bodyPr wrap="square" rtlCol="0" anchor="ctr"/>
          <a:lstStyle/>
          <a:p>
            <a:pPr indent="0" marL="0">
              <a:buNone/>
            </a:pPr>
            <a:r>
              <a:rPr lang="en-US" sz="900" b="1" spc="100" kern="0" dirty="0">
                <a:solidFill>
                  <a:srgbClr val="2196F3"/>
                </a:solidFill>
                <a:latin typeface="Calibri" pitchFamily="34" charset="0"/>
                <a:ea typeface="Calibri" pitchFamily="34" charset="-122"/>
                <a:cs typeface="Calibri" pitchFamily="34" charset="-120"/>
              </a:rPr>
              <a:t>Power BI Features Used</a:t>
            </a:r>
            <a:endParaRPr lang="en-US" sz="900" dirty="0"/>
          </a:p>
        </p:txBody>
      </p:sp>
      <p:sp>
        <p:nvSpPr>
          <p:cNvPr id="12" name="Text 10"/>
          <p:cNvSpPr/>
          <p:nvPr/>
        </p:nvSpPr>
        <p:spPr>
          <a:xfrm>
            <a:off x="3401568" y="1737360"/>
            <a:ext cx="5212080" cy="749808"/>
          </a:xfrm>
          <a:prstGeom prst="rect">
            <a:avLst/>
          </a:prstGeom>
          <a:noFill/>
          <a:ln/>
        </p:spPr>
        <p:txBody>
          <a:bodyPr wrap="square" rtlCol="0" anchor="ctr"/>
          <a:lstStyle/>
          <a:p>
            <a:pPr indent="0" marL="0">
              <a:buNone/>
            </a:pPr>
            <a:r>
              <a:rPr lang="en-US" sz="950" dirty="0">
                <a:solidFill>
                  <a:srgbClr val="E8F4FD"/>
                </a:solidFill>
                <a:latin typeface="Calibri" pitchFamily="34" charset="0"/>
                <a:ea typeface="Calibri" pitchFamily="34" charset="-122"/>
                <a:cs typeface="Calibri" pitchFamily="34" charset="-120"/>
              </a:rPr>
              <a:t>·  Drill-down: Region → Airport → Weather condition</a:t>
            </a:r>
            <a:endParaRPr lang="en-US" sz="950" dirty="0"/>
          </a:p>
          <a:p>
            <a:pPr indent="0" marL="0">
              <a:buNone/>
            </a:pPr>
            <a:r>
              <a:rPr lang="en-US" sz="950" dirty="0">
                <a:solidFill>
                  <a:srgbClr val="E8F4FD"/>
                </a:solidFill>
                <a:latin typeface="Calibri" pitchFamily="34" charset="0"/>
                <a:ea typeface="Calibri" pitchFamily="34" charset="-122"/>
                <a:cs typeface="Calibri" pitchFamily="34" charset="-120"/>
              </a:rPr>
              <a:t>·  USERELATIONSHIP for ArrivalAirportKey inactive relationship</a:t>
            </a:r>
            <a:endParaRPr lang="en-US" sz="950" dirty="0"/>
          </a:p>
          <a:p>
            <a:pPr indent="0" marL="0">
              <a:buNone/>
            </a:pPr>
            <a:r>
              <a:rPr lang="en-US" sz="950" dirty="0">
                <a:solidFill>
                  <a:srgbClr val="E8F4FD"/>
                </a:solidFill>
                <a:latin typeface="Calibri" pitchFamily="34" charset="0"/>
                <a:ea typeface="Calibri" pitchFamily="34" charset="-122"/>
                <a:cs typeface="Calibri" pitchFamily="34" charset="-120"/>
              </a:rPr>
              <a:t>·  Conditional formatting on Matrix heatmap (white → dark red)</a:t>
            </a:r>
            <a:endParaRPr lang="en-US" sz="950" dirty="0"/>
          </a:p>
          <a:p>
            <a:pPr indent="0" marL="0">
              <a:buNone/>
            </a:pPr>
            <a:r>
              <a:rPr lang="en-US" sz="950" dirty="0">
                <a:solidFill>
                  <a:srgbClr val="E8F4FD"/>
                </a:solidFill>
                <a:latin typeface="Calibri" pitchFamily="34" charset="0"/>
                <a:ea typeface="Calibri" pitchFamily="34" charset="-122"/>
                <a:cs typeface="Calibri" pitchFamily="34" charset="-120"/>
              </a:rPr>
              <a:t>·  Page Navigator buttons  ·  Custom tooltip on scatter plots  ·  RANKX for top/bottom airline analysis</a:t>
            </a:r>
            <a:endParaRPr lang="en-US" sz="950" dirty="0"/>
          </a:p>
        </p:txBody>
      </p:sp>
      <p:sp>
        <p:nvSpPr>
          <p:cNvPr id="13" name="Shape 11"/>
          <p:cNvSpPr/>
          <p:nvPr/>
        </p:nvSpPr>
        <p:spPr>
          <a:xfrm>
            <a:off x="365760" y="2670048"/>
            <a:ext cx="8412480" cy="274320"/>
          </a:xfrm>
          <a:prstGeom prst="rect">
            <a:avLst/>
          </a:prstGeom>
          <a:solidFill>
            <a:srgbClr val="004D40"/>
          </a:solidFill>
          <a:ln w="6350">
            <a:solidFill>
              <a:srgbClr val="00C9A7"/>
            </a:solidFill>
            <a:prstDash val="solid"/>
          </a:ln>
        </p:spPr>
      </p:sp>
      <p:sp>
        <p:nvSpPr>
          <p:cNvPr id="14" name="Text 12"/>
          <p:cNvSpPr/>
          <p:nvPr/>
        </p:nvSpPr>
        <p:spPr>
          <a:xfrm>
            <a:off x="457200" y="2679192"/>
            <a:ext cx="1280160" cy="237744"/>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Page</a:t>
            </a:r>
            <a:endParaRPr lang="en-US" sz="900" dirty="0"/>
          </a:p>
        </p:txBody>
      </p:sp>
      <p:sp>
        <p:nvSpPr>
          <p:cNvPr id="15" name="Text 13"/>
          <p:cNvSpPr/>
          <p:nvPr/>
        </p:nvSpPr>
        <p:spPr>
          <a:xfrm>
            <a:off x="1828800" y="2679192"/>
            <a:ext cx="2057400" cy="237744"/>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Visual Type</a:t>
            </a:r>
            <a:endParaRPr lang="en-US" sz="900" dirty="0"/>
          </a:p>
        </p:txBody>
      </p:sp>
      <p:sp>
        <p:nvSpPr>
          <p:cNvPr id="16" name="Text 14"/>
          <p:cNvSpPr/>
          <p:nvPr/>
        </p:nvSpPr>
        <p:spPr>
          <a:xfrm>
            <a:off x="3977640" y="2679192"/>
            <a:ext cx="2606040" cy="237744"/>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Measure / Field</a:t>
            </a:r>
            <a:endParaRPr lang="en-US" sz="900" dirty="0"/>
          </a:p>
        </p:txBody>
      </p:sp>
      <p:sp>
        <p:nvSpPr>
          <p:cNvPr id="17" name="Text 15"/>
          <p:cNvSpPr/>
          <p:nvPr/>
        </p:nvSpPr>
        <p:spPr>
          <a:xfrm>
            <a:off x="6675120" y="2679192"/>
            <a:ext cx="2011680" cy="237744"/>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Key Setting</a:t>
            </a:r>
            <a:endParaRPr lang="en-US" sz="900" dirty="0"/>
          </a:p>
        </p:txBody>
      </p:sp>
      <p:sp>
        <p:nvSpPr>
          <p:cNvPr id="18" name="Shape 16"/>
          <p:cNvSpPr/>
          <p:nvPr/>
        </p:nvSpPr>
        <p:spPr>
          <a:xfrm>
            <a:off x="365760" y="2999232"/>
            <a:ext cx="8412480" cy="192024"/>
          </a:xfrm>
          <a:prstGeom prst="rect">
            <a:avLst/>
          </a:prstGeom>
          <a:solidFill>
            <a:srgbClr val="0F2040"/>
          </a:solidFill>
          <a:ln w="3810">
            <a:solidFill>
              <a:srgbClr val="4A6080"/>
            </a:solidFill>
            <a:prstDash val="solid"/>
          </a:ln>
        </p:spPr>
      </p:sp>
      <p:sp>
        <p:nvSpPr>
          <p:cNvPr id="19" name="Text 17"/>
          <p:cNvSpPr/>
          <p:nvPr/>
        </p:nvSpPr>
        <p:spPr>
          <a:xfrm>
            <a:off x="457200" y="3017520"/>
            <a:ext cx="1280160" cy="164592"/>
          </a:xfrm>
          <a:prstGeom prst="rect">
            <a:avLst/>
          </a:prstGeom>
          <a:noFill/>
          <a:ln/>
        </p:spPr>
        <p:txBody>
          <a:bodyPr wrap="square" rtlCol="0" anchor="ctr"/>
          <a:lstStyle/>
          <a:p>
            <a:pPr indent="0" marL="0">
              <a:buNone/>
            </a:pPr>
            <a:r>
              <a:rPr lang="en-US" sz="850" b="1" dirty="0">
                <a:solidFill>
                  <a:srgbClr val="00C9A7"/>
                </a:solidFill>
                <a:latin typeface="Calibri" pitchFamily="34" charset="0"/>
                <a:ea typeface="Calibri" pitchFamily="34" charset="-122"/>
                <a:cs typeface="Calibri" pitchFamily="34" charset="-120"/>
              </a:rPr>
              <a:t>P1 — Overview</a:t>
            </a:r>
            <a:endParaRPr lang="en-US" sz="850" dirty="0"/>
          </a:p>
        </p:txBody>
      </p:sp>
      <p:sp>
        <p:nvSpPr>
          <p:cNvPr id="20" name="Text 18"/>
          <p:cNvSpPr/>
          <p:nvPr/>
        </p:nvSpPr>
        <p:spPr>
          <a:xfrm>
            <a:off x="1828800" y="3017520"/>
            <a:ext cx="2057400" cy="164592"/>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KPI Card × 4</a:t>
            </a:r>
            <a:endParaRPr lang="en-US" sz="850" dirty="0"/>
          </a:p>
        </p:txBody>
      </p:sp>
      <p:sp>
        <p:nvSpPr>
          <p:cNvPr id="21" name="Text 19"/>
          <p:cNvSpPr/>
          <p:nvPr/>
        </p:nvSpPr>
        <p:spPr>
          <a:xfrm>
            <a:off x="3977640" y="3017520"/>
            <a:ext cx="2606040" cy="16459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Total Flights · OTP% · Passengers · Cancel Rate</a:t>
            </a:r>
            <a:endParaRPr lang="en-US" sz="850" dirty="0"/>
          </a:p>
        </p:txBody>
      </p:sp>
      <p:sp>
        <p:nvSpPr>
          <p:cNvPr id="22" name="Text 20"/>
          <p:cNvSpPr/>
          <p:nvPr/>
        </p:nvSpPr>
        <p:spPr>
          <a:xfrm>
            <a:off x="6675120" y="3017520"/>
            <a:ext cx="2011680" cy="164592"/>
          </a:xfrm>
          <a:prstGeom prst="rect">
            <a:avLst/>
          </a:prstGeom>
          <a:noFill/>
          <a:ln/>
        </p:spPr>
        <p:txBody>
          <a:bodyPr wrap="square" rtlCol="0" anchor="ctr"/>
          <a:lstStyle/>
          <a:p>
            <a:pPr indent="0" marL="0">
              <a:buNone/>
            </a:pPr>
            <a:r>
              <a:rPr lang="en-US" sz="850" dirty="0">
                <a:solidFill>
                  <a:srgbClr val="8EADC7"/>
                </a:solidFill>
                <a:latin typeface="Calibri" pitchFamily="34" charset="0"/>
                <a:ea typeface="Calibri" pitchFamily="34" charset="-122"/>
                <a:cs typeface="Calibri" pitchFamily="34" charset="-120"/>
              </a:rPr>
              <a:t>Teal top border · delta label</a:t>
            </a:r>
            <a:endParaRPr lang="en-US" sz="850" dirty="0"/>
          </a:p>
        </p:txBody>
      </p:sp>
      <p:sp>
        <p:nvSpPr>
          <p:cNvPr id="23" name="Shape 21"/>
          <p:cNvSpPr/>
          <p:nvPr/>
        </p:nvSpPr>
        <p:spPr>
          <a:xfrm>
            <a:off x="365760" y="3204972"/>
            <a:ext cx="8412480" cy="192024"/>
          </a:xfrm>
          <a:prstGeom prst="rect">
            <a:avLst/>
          </a:prstGeom>
          <a:solidFill>
            <a:srgbClr val="0D1A35"/>
          </a:solidFill>
          <a:ln w="3810">
            <a:solidFill>
              <a:srgbClr val="4A6080"/>
            </a:solidFill>
            <a:prstDash val="solid"/>
          </a:ln>
        </p:spPr>
      </p:sp>
      <p:sp>
        <p:nvSpPr>
          <p:cNvPr id="24" name="Text 22"/>
          <p:cNvSpPr/>
          <p:nvPr/>
        </p:nvSpPr>
        <p:spPr>
          <a:xfrm>
            <a:off x="457200" y="3223260"/>
            <a:ext cx="1280160" cy="164592"/>
          </a:xfrm>
          <a:prstGeom prst="rect">
            <a:avLst/>
          </a:prstGeom>
          <a:noFill/>
          <a:ln/>
        </p:spPr>
        <p:txBody>
          <a:bodyPr wrap="square" rtlCol="0" anchor="ctr"/>
          <a:lstStyle/>
          <a:p>
            <a:pPr indent="0" marL="0">
              <a:buNone/>
            </a:pPr>
            <a:r>
              <a:rPr lang="en-US" sz="850" b="1" dirty="0">
                <a:solidFill>
                  <a:srgbClr val="00C9A7"/>
                </a:solidFill>
                <a:latin typeface="Calibri" pitchFamily="34" charset="0"/>
                <a:ea typeface="Calibri" pitchFamily="34" charset="-122"/>
                <a:cs typeface="Calibri" pitchFamily="34" charset="-120"/>
              </a:rPr>
              <a:t>P1 — Overview</a:t>
            </a:r>
            <a:endParaRPr lang="en-US" sz="850" dirty="0"/>
          </a:p>
        </p:txBody>
      </p:sp>
      <p:sp>
        <p:nvSpPr>
          <p:cNvPr id="25" name="Text 23"/>
          <p:cNvSpPr/>
          <p:nvPr/>
        </p:nvSpPr>
        <p:spPr>
          <a:xfrm>
            <a:off x="1828800" y="3223260"/>
            <a:ext cx="2057400" cy="164592"/>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Bubble Map</a:t>
            </a:r>
            <a:endParaRPr lang="en-US" sz="850" dirty="0"/>
          </a:p>
        </p:txBody>
      </p:sp>
      <p:sp>
        <p:nvSpPr>
          <p:cNvPr id="26" name="Text 24"/>
          <p:cNvSpPr/>
          <p:nvPr/>
        </p:nvSpPr>
        <p:spPr>
          <a:xfrm>
            <a:off x="3977640" y="3223260"/>
            <a:ext cx="2606040" cy="16459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Lat/Lon + Total Flights + Avg Delay</a:t>
            </a:r>
            <a:endParaRPr lang="en-US" sz="850" dirty="0"/>
          </a:p>
        </p:txBody>
      </p:sp>
      <p:sp>
        <p:nvSpPr>
          <p:cNvPr id="27" name="Text 25"/>
          <p:cNvSpPr/>
          <p:nvPr/>
        </p:nvSpPr>
        <p:spPr>
          <a:xfrm>
            <a:off x="6675120" y="3223260"/>
            <a:ext cx="2011680" cy="164592"/>
          </a:xfrm>
          <a:prstGeom prst="rect">
            <a:avLst/>
          </a:prstGeom>
          <a:noFill/>
          <a:ln/>
        </p:spPr>
        <p:txBody>
          <a:bodyPr wrap="square" rtlCol="0" anchor="ctr"/>
          <a:lstStyle/>
          <a:p>
            <a:pPr indent="0" marL="0">
              <a:buNone/>
            </a:pPr>
            <a:r>
              <a:rPr lang="en-US" sz="850" dirty="0">
                <a:solidFill>
                  <a:srgbClr val="8EADC7"/>
                </a:solidFill>
                <a:latin typeface="Calibri" pitchFamily="34" charset="0"/>
                <a:ea typeface="Calibri" pitchFamily="34" charset="-122"/>
                <a:cs typeface="Calibri" pitchFamily="34" charset="-120"/>
              </a:rPr>
              <a:t>Color saturation = Avg Delay</a:t>
            </a:r>
            <a:endParaRPr lang="en-US" sz="850" dirty="0"/>
          </a:p>
        </p:txBody>
      </p:sp>
      <p:sp>
        <p:nvSpPr>
          <p:cNvPr id="28" name="Shape 26"/>
          <p:cNvSpPr/>
          <p:nvPr/>
        </p:nvSpPr>
        <p:spPr>
          <a:xfrm>
            <a:off x="365760" y="3410712"/>
            <a:ext cx="8412480" cy="192024"/>
          </a:xfrm>
          <a:prstGeom prst="rect">
            <a:avLst/>
          </a:prstGeom>
          <a:solidFill>
            <a:srgbClr val="0F2040"/>
          </a:solidFill>
          <a:ln w="3810">
            <a:solidFill>
              <a:srgbClr val="4A6080"/>
            </a:solidFill>
            <a:prstDash val="solid"/>
          </a:ln>
        </p:spPr>
      </p:sp>
      <p:sp>
        <p:nvSpPr>
          <p:cNvPr id="29" name="Text 27"/>
          <p:cNvSpPr/>
          <p:nvPr/>
        </p:nvSpPr>
        <p:spPr>
          <a:xfrm>
            <a:off x="457200" y="3429000"/>
            <a:ext cx="1280160" cy="164592"/>
          </a:xfrm>
          <a:prstGeom prst="rect">
            <a:avLst/>
          </a:prstGeom>
          <a:noFill/>
          <a:ln/>
        </p:spPr>
        <p:txBody>
          <a:bodyPr wrap="square" rtlCol="0" anchor="ctr"/>
          <a:lstStyle/>
          <a:p>
            <a:pPr indent="0" marL="0">
              <a:buNone/>
            </a:pPr>
            <a:r>
              <a:rPr lang="en-US" sz="850" b="1" dirty="0">
                <a:solidFill>
                  <a:srgbClr val="00C9A7"/>
                </a:solidFill>
                <a:latin typeface="Calibri" pitchFamily="34" charset="0"/>
                <a:ea typeface="Calibri" pitchFamily="34" charset="-122"/>
                <a:cs typeface="Calibri" pitchFamily="34" charset="-120"/>
              </a:rPr>
              <a:t>P1 — Overview</a:t>
            </a:r>
            <a:endParaRPr lang="en-US" sz="850" dirty="0"/>
          </a:p>
        </p:txBody>
      </p:sp>
      <p:sp>
        <p:nvSpPr>
          <p:cNvPr id="30" name="Text 28"/>
          <p:cNvSpPr/>
          <p:nvPr/>
        </p:nvSpPr>
        <p:spPr>
          <a:xfrm>
            <a:off x="1828800" y="3429000"/>
            <a:ext cx="2057400" cy="164592"/>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Ribbon Chart</a:t>
            </a:r>
            <a:endParaRPr lang="en-US" sz="850" dirty="0"/>
          </a:p>
        </p:txBody>
      </p:sp>
      <p:sp>
        <p:nvSpPr>
          <p:cNvPr id="31" name="Text 29"/>
          <p:cNvSpPr/>
          <p:nvPr/>
        </p:nvSpPr>
        <p:spPr>
          <a:xfrm>
            <a:off x="3977640" y="3429000"/>
            <a:ext cx="2606040" cy="16459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Total Flights by Airline (monthly)</a:t>
            </a:r>
            <a:endParaRPr lang="en-US" sz="850" dirty="0"/>
          </a:p>
        </p:txBody>
      </p:sp>
      <p:sp>
        <p:nvSpPr>
          <p:cNvPr id="32" name="Text 30"/>
          <p:cNvSpPr/>
          <p:nvPr/>
        </p:nvSpPr>
        <p:spPr>
          <a:xfrm>
            <a:off x="6675120" y="3429000"/>
            <a:ext cx="2011680" cy="164592"/>
          </a:xfrm>
          <a:prstGeom prst="rect">
            <a:avLst/>
          </a:prstGeom>
          <a:noFill/>
          <a:ln/>
        </p:spPr>
        <p:txBody>
          <a:bodyPr wrap="square" rtlCol="0" anchor="ctr"/>
          <a:lstStyle/>
          <a:p>
            <a:pPr indent="0" marL="0">
              <a:buNone/>
            </a:pPr>
            <a:r>
              <a:rPr lang="en-US" sz="850" dirty="0">
                <a:solidFill>
                  <a:srgbClr val="8EADC7"/>
                </a:solidFill>
                <a:latin typeface="Calibri" pitchFamily="34" charset="0"/>
                <a:ea typeface="Calibri" pitchFamily="34" charset="-122"/>
                <a:cs typeface="Calibri" pitchFamily="34" charset="-120"/>
              </a:rPr>
              <a:t>Rank shift across seasons</a:t>
            </a:r>
            <a:endParaRPr lang="en-US" sz="850" dirty="0"/>
          </a:p>
        </p:txBody>
      </p:sp>
      <p:sp>
        <p:nvSpPr>
          <p:cNvPr id="33" name="Shape 31"/>
          <p:cNvSpPr/>
          <p:nvPr/>
        </p:nvSpPr>
        <p:spPr>
          <a:xfrm>
            <a:off x="365760" y="3616452"/>
            <a:ext cx="8412480" cy="192024"/>
          </a:xfrm>
          <a:prstGeom prst="rect">
            <a:avLst/>
          </a:prstGeom>
          <a:solidFill>
            <a:srgbClr val="0D1A35"/>
          </a:solidFill>
          <a:ln w="3810">
            <a:solidFill>
              <a:srgbClr val="4A6080"/>
            </a:solidFill>
            <a:prstDash val="solid"/>
          </a:ln>
        </p:spPr>
      </p:sp>
      <p:sp>
        <p:nvSpPr>
          <p:cNvPr id="34" name="Text 32"/>
          <p:cNvSpPr/>
          <p:nvPr/>
        </p:nvSpPr>
        <p:spPr>
          <a:xfrm>
            <a:off x="457200" y="3634740"/>
            <a:ext cx="1280160" cy="164592"/>
          </a:xfrm>
          <a:prstGeom prst="rect">
            <a:avLst/>
          </a:prstGeom>
          <a:noFill/>
          <a:ln/>
        </p:spPr>
        <p:txBody>
          <a:bodyPr wrap="square" rtlCol="0" anchor="ctr"/>
          <a:lstStyle/>
          <a:p>
            <a:pPr indent="0" marL="0">
              <a:buNone/>
            </a:pPr>
            <a:r>
              <a:rPr lang="en-US" sz="850" b="1" dirty="0">
                <a:solidFill>
                  <a:srgbClr val="00C9A7"/>
                </a:solidFill>
                <a:latin typeface="Calibri" pitchFamily="34" charset="0"/>
                <a:ea typeface="Calibri" pitchFamily="34" charset="-122"/>
                <a:cs typeface="Calibri" pitchFamily="34" charset="-120"/>
              </a:rPr>
              <a:t>P2 — Delay</a:t>
            </a:r>
            <a:endParaRPr lang="en-US" sz="850" dirty="0"/>
          </a:p>
        </p:txBody>
      </p:sp>
      <p:sp>
        <p:nvSpPr>
          <p:cNvPr id="35" name="Text 33"/>
          <p:cNvSpPr/>
          <p:nvPr/>
        </p:nvSpPr>
        <p:spPr>
          <a:xfrm>
            <a:off x="1828800" y="3634740"/>
            <a:ext cx="2057400" cy="164592"/>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Waterfall Chart</a:t>
            </a:r>
            <a:endParaRPr lang="en-US" sz="850" dirty="0"/>
          </a:p>
        </p:txBody>
      </p:sp>
      <p:sp>
        <p:nvSpPr>
          <p:cNvPr id="36" name="Text 34"/>
          <p:cNvSpPr/>
          <p:nvPr/>
        </p:nvSpPr>
        <p:spPr>
          <a:xfrm>
            <a:off x="3977640" y="3634740"/>
            <a:ext cx="2606040" cy="16459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YoY Growth %</a:t>
            </a:r>
            <a:endParaRPr lang="en-US" sz="850" dirty="0"/>
          </a:p>
        </p:txBody>
      </p:sp>
      <p:sp>
        <p:nvSpPr>
          <p:cNvPr id="37" name="Text 35"/>
          <p:cNvSpPr/>
          <p:nvPr/>
        </p:nvSpPr>
        <p:spPr>
          <a:xfrm>
            <a:off x="6675120" y="3634740"/>
            <a:ext cx="2011680" cy="164592"/>
          </a:xfrm>
          <a:prstGeom prst="rect">
            <a:avLst/>
          </a:prstGeom>
          <a:noFill/>
          <a:ln/>
        </p:spPr>
        <p:txBody>
          <a:bodyPr wrap="square" rtlCol="0" anchor="ctr"/>
          <a:lstStyle/>
          <a:p>
            <a:pPr indent="0" marL="0">
              <a:buNone/>
            </a:pPr>
            <a:r>
              <a:rPr lang="en-US" sz="850" dirty="0">
                <a:solidFill>
                  <a:srgbClr val="8EADC7"/>
                </a:solidFill>
                <a:latin typeface="Calibri" pitchFamily="34" charset="0"/>
                <a:ea typeface="Calibri" pitchFamily="34" charset="-122"/>
                <a:cs typeface="Calibri" pitchFamily="34" charset="-120"/>
              </a:rPr>
              <a:t>Green/red positive/negative bars</a:t>
            </a:r>
            <a:endParaRPr lang="en-US" sz="850" dirty="0"/>
          </a:p>
        </p:txBody>
      </p:sp>
      <p:sp>
        <p:nvSpPr>
          <p:cNvPr id="38" name="Shape 36"/>
          <p:cNvSpPr/>
          <p:nvPr/>
        </p:nvSpPr>
        <p:spPr>
          <a:xfrm>
            <a:off x="365760" y="3822192"/>
            <a:ext cx="8412480" cy="192024"/>
          </a:xfrm>
          <a:prstGeom prst="rect">
            <a:avLst/>
          </a:prstGeom>
          <a:solidFill>
            <a:srgbClr val="0F2040"/>
          </a:solidFill>
          <a:ln w="3810">
            <a:solidFill>
              <a:srgbClr val="4A6080"/>
            </a:solidFill>
            <a:prstDash val="solid"/>
          </a:ln>
        </p:spPr>
      </p:sp>
      <p:sp>
        <p:nvSpPr>
          <p:cNvPr id="39" name="Text 37"/>
          <p:cNvSpPr/>
          <p:nvPr/>
        </p:nvSpPr>
        <p:spPr>
          <a:xfrm>
            <a:off x="457200" y="3840480"/>
            <a:ext cx="1280160" cy="164592"/>
          </a:xfrm>
          <a:prstGeom prst="rect">
            <a:avLst/>
          </a:prstGeom>
          <a:noFill/>
          <a:ln/>
        </p:spPr>
        <p:txBody>
          <a:bodyPr wrap="square" rtlCol="0" anchor="ctr"/>
          <a:lstStyle/>
          <a:p>
            <a:pPr indent="0" marL="0">
              <a:buNone/>
            </a:pPr>
            <a:r>
              <a:rPr lang="en-US" sz="850" b="1" dirty="0">
                <a:solidFill>
                  <a:srgbClr val="00C9A7"/>
                </a:solidFill>
                <a:latin typeface="Calibri" pitchFamily="34" charset="0"/>
                <a:ea typeface="Calibri" pitchFamily="34" charset="-122"/>
                <a:cs typeface="Calibri" pitchFamily="34" charset="-120"/>
              </a:rPr>
              <a:t>P2 — Delay</a:t>
            </a:r>
            <a:endParaRPr lang="en-US" sz="850" dirty="0"/>
          </a:p>
        </p:txBody>
      </p:sp>
      <p:sp>
        <p:nvSpPr>
          <p:cNvPr id="40" name="Text 38"/>
          <p:cNvSpPr/>
          <p:nvPr/>
        </p:nvSpPr>
        <p:spPr>
          <a:xfrm>
            <a:off x="1828800" y="3840480"/>
            <a:ext cx="2057400" cy="164592"/>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Line + Column</a:t>
            </a:r>
            <a:endParaRPr lang="en-US" sz="850" dirty="0"/>
          </a:p>
        </p:txBody>
      </p:sp>
      <p:sp>
        <p:nvSpPr>
          <p:cNvPr id="41" name="Text 39"/>
          <p:cNvSpPr/>
          <p:nvPr/>
        </p:nvSpPr>
        <p:spPr>
          <a:xfrm>
            <a:off x="3977640" y="3840480"/>
            <a:ext cx="2606040" cy="16459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Avg Delay + Rolling 3M Avg Delay</a:t>
            </a:r>
            <a:endParaRPr lang="en-US" sz="850" dirty="0"/>
          </a:p>
        </p:txBody>
      </p:sp>
      <p:sp>
        <p:nvSpPr>
          <p:cNvPr id="42" name="Text 40"/>
          <p:cNvSpPr/>
          <p:nvPr/>
        </p:nvSpPr>
        <p:spPr>
          <a:xfrm>
            <a:off x="6675120" y="3840480"/>
            <a:ext cx="2011680" cy="164592"/>
          </a:xfrm>
          <a:prstGeom prst="rect">
            <a:avLst/>
          </a:prstGeom>
          <a:noFill/>
          <a:ln/>
        </p:spPr>
        <p:txBody>
          <a:bodyPr wrap="square" rtlCol="0" anchor="ctr"/>
          <a:lstStyle/>
          <a:p>
            <a:pPr indent="0" marL="0">
              <a:buNone/>
            </a:pPr>
            <a:r>
              <a:rPr lang="en-US" sz="850" dirty="0">
                <a:solidFill>
                  <a:srgbClr val="8EADC7"/>
                </a:solidFill>
                <a:latin typeface="Calibri" pitchFamily="34" charset="0"/>
                <a:ea typeface="Calibri" pitchFamily="34" charset="-122"/>
                <a:cs typeface="Calibri" pitchFamily="34" charset="-120"/>
              </a:rPr>
              <a:t>Dual axis combo chart</a:t>
            </a:r>
            <a:endParaRPr lang="en-US" sz="850" dirty="0"/>
          </a:p>
        </p:txBody>
      </p:sp>
      <p:sp>
        <p:nvSpPr>
          <p:cNvPr id="43" name="Shape 41"/>
          <p:cNvSpPr/>
          <p:nvPr/>
        </p:nvSpPr>
        <p:spPr>
          <a:xfrm>
            <a:off x="365760" y="4027932"/>
            <a:ext cx="8412480" cy="192024"/>
          </a:xfrm>
          <a:prstGeom prst="rect">
            <a:avLst/>
          </a:prstGeom>
          <a:solidFill>
            <a:srgbClr val="0D1A35"/>
          </a:solidFill>
          <a:ln w="3810">
            <a:solidFill>
              <a:srgbClr val="4A6080"/>
            </a:solidFill>
            <a:prstDash val="solid"/>
          </a:ln>
        </p:spPr>
      </p:sp>
      <p:sp>
        <p:nvSpPr>
          <p:cNvPr id="44" name="Text 42"/>
          <p:cNvSpPr/>
          <p:nvPr/>
        </p:nvSpPr>
        <p:spPr>
          <a:xfrm>
            <a:off x="457200" y="4046220"/>
            <a:ext cx="1280160" cy="164592"/>
          </a:xfrm>
          <a:prstGeom prst="rect">
            <a:avLst/>
          </a:prstGeom>
          <a:noFill/>
          <a:ln/>
        </p:spPr>
        <p:txBody>
          <a:bodyPr wrap="square" rtlCol="0" anchor="ctr"/>
          <a:lstStyle/>
          <a:p>
            <a:pPr indent="0" marL="0">
              <a:buNone/>
            </a:pPr>
            <a:r>
              <a:rPr lang="en-US" sz="850" b="1" dirty="0">
                <a:solidFill>
                  <a:srgbClr val="00C9A7"/>
                </a:solidFill>
                <a:latin typeface="Calibri" pitchFamily="34" charset="0"/>
                <a:ea typeface="Calibri" pitchFamily="34" charset="-122"/>
                <a:cs typeface="Calibri" pitchFamily="34" charset="-120"/>
              </a:rPr>
              <a:t>P3 — Airline</a:t>
            </a:r>
            <a:endParaRPr lang="en-US" sz="850" dirty="0"/>
          </a:p>
        </p:txBody>
      </p:sp>
      <p:sp>
        <p:nvSpPr>
          <p:cNvPr id="45" name="Text 43"/>
          <p:cNvSpPr/>
          <p:nvPr/>
        </p:nvSpPr>
        <p:spPr>
          <a:xfrm>
            <a:off x="1828800" y="4046220"/>
            <a:ext cx="2057400" cy="164592"/>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Scatter Plot</a:t>
            </a:r>
            <a:endParaRPr lang="en-US" sz="850" dirty="0"/>
          </a:p>
        </p:txBody>
      </p:sp>
      <p:sp>
        <p:nvSpPr>
          <p:cNvPr id="46" name="Text 44"/>
          <p:cNvSpPr/>
          <p:nvPr/>
        </p:nvSpPr>
        <p:spPr>
          <a:xfrm>
            <a:off x="3977640" y="4046220"/>
            <a:ext cx="2606040" cy="16459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Pilot Rating vs Avg Delay Minutes</a:t>
            </a:r>
            <a:endParaRPr lang="en-US" sz="850" dirty="0"/>
          </a:p>
        </p:txBody>
      </p:sp>
      <p:sp>
        <p:nvSpPr>
          <p:cNvPr id="47" name="Text 45"/>
          <p:cNvSpPr/>
          <p:nvPr/>
        </p:nvSpPr>
        <p:spPr>
          <a:xfrm>
            <a:off x="6675120" y="4046220"/>
            <a:ext cx="2011680" cy="164592"/>
          </a:xfrm>
          <a:prstGeom prst="rect">
            <a:avLst/>
          </a:prstGeom>
          <a:noFill/>
          <a:ln/>
        </p:spPr>
        <p:txBody>
          <a:bodyPr wrap="square" rtlCol="0" anchor="ctr"/>
          <a:lstStyle/>
          <a:p>
            <a:pPr indent="0" marL="0">
              <a:buNone/>
            </a:pPr>
            <a:r>
              <a:rPr lang="en-US" sz="850" dirty="0">
                <a:solidFill>
                  <a:srgbClr val="8EADC7"/>
                </a:solidFill>
                <a:latin typeface="Calibri" pitchFamily="34" charset="0"/>
                <a:ea typeface="Calibri" pitchFamily="34" charset="-122"/>
                <a:cs typeface="Calibri" pitchFamily="34" charset="-120"/>
              </a:rPr>
              <a:t>Bubble size = Total Flights</a:t>
            </a:r>
            <a:endParaRPr lang="en-US" sz="850" dirty="0"/>
          </a:p>
        </p:txBody>
      </p:sp>
      <p:sp>
        <p:nvSpPr>
          <p:cNvPr id="48" name="Shape 46"/>
          <p:cNvSpPr/>
          <p:nvPr/>
        </p:nvSpPr>
        <p:spPr>
          <a:xfrm>
            <a:off x="365760" y="4233672"/>
            <a:ext cx="8412480" cy="192024"/>
          </a:xfrm>
          <a:prstGeom prst="rect">
            <a:avLst/>
          </a:prstGeom>
          <a:solidFill>
            <a:srgbClr val="0F2040"/>
          </a:solidFill>
          <a:ln w="3810">
            <a:solidFill>
              <a:srgbClr val="4A6080"/>
            </a:solidFill>
            <a:prstDash val="solid"/>
          </a:ln>
        </p:spPr>
      </p:sp>
      <p:sp>
        <p:nvSpPr>
          <p:cNvPr id="49" name="Text 47"/>
          <p:cNvSpPr/>
          <p:nvPr/>
        </p:nvSpPr>
        <p:spPr>
          <a:xfrm>
            <a:off x="457200" y="4251960"/>
            <a:ext cx="1280160" cy="164592"/>
          </a:xfrm>
          <a:prstGeom prst="rect">
            <a:avLst/>
          </a:prstGeom>
          <a:noFill/>
          <a:ln/>
        </p:spPr>
        <p:txBody>
          <a:bodyPr wrap="square" rtlCol="0" anchor="ctr"/>
          <a:lstStyle/>
          <a:p>
            <a:pPr indent="0" marL="0">
              <a:buNone/>
            </a:pPr>
            <a:r>
              <a:rPr lang="en-US" sz="850" b="1" dirty="0">
                <a:solidFill>
                  <a:srgbClr val="00C9A7"/>
                </a:solidFill>
                <a:latin typeface="Calibri" pitchFamily="34" charset="0"/>
                <a:ea typeface="Calibri" pitchFamily="34" charset="-122"/>
                <a:cs typeface="Calibri" pitchFamily="34" charset="-120"/>
              </a:rPr>
              <a:t>P3 — Airline</a:t>
            </a:r>
            <a:endParaRPr lang="en-US" sz="850" dirty="0"/>
          </a:p>
        </p:txBody>
      </p:sp>
      <p:sp>
        <p:nvSpPr>
          <p:cNvPr id="50" name="Text 48"/>
          <p:cNvSpPr/>
          <p:nvPr/>
        </p:nvSpPr>
        <p:spPr>
          <a:xfrm>
            <a:off x="1828800" y="4251960"/>
            <a:ext cx="2057400" cy="164592"/>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Line Chart</a:t>
            </a:r>
            <a:endParaRPr lang="en-US" sz="850" dirty="0"/>
          </a:p>
        </p:txBody>
      </p:sp>
      <p:sp>
        <p:nvSpPr>
          <p:cNvPr id="51" name="Text 49"/>
          <p:cNvSpPr/>
          <p:nvPr/>
        </p:nvSpPr>
        <p:spPr>
          <a:xfrm>
            <a:off x="3977640" y="4251960"/>
            <a:ext cx="2606040" cy="16459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Captain Avg Delay + FO Avg Delay</a:t>
            </a:r>
            <a:endParaRPr lang="en-US" sz="850" dirty="0"/>
          </a:p>
        </p:txBody>
      </p:sp>
      <p:sp>
        <p:nvSpPr>
          <p:cNvPr id="52" name="Text 50"/>
          <p:cNvSpPr/>
          <p:nvPr/>
        </p:nvSpPr>
        <p:spPr>
          <a:xfrm>
            <a:off x="6675120" y="4251960"/>
            <a:ext cx="2011680" cy="164592"/>
          </a:xfrm>
          <a:prstGeom prst="rect">
            <a:avLst/>
          </a:prstGeom>
          <a:noFill/>
          <a:ln/>
        </p:spPr>
        <p:txBody>
          <a:bodyPr wrap="square" rtlCol="0" anchor="ctr"/>
          <a:lstStyle/>
          <a:p>
            <a:pPr indent="0" marL="0">
              <a:buNone/>
            </a:pPr>
            <a:r>
              <a:rPr lang="en-US" sz="850" dirty="0">
                <a:solidFill>
                  <a:srgbClr val="8EADC7"/>
                </a:solidFill>
                <a:latin typeface="Calibri" pitchFamily="34" charset="0"/>
                <a:ea typeface="Calibri" pitchFamily="34" charset="-122"/>
                <a:cs typeface="Calibri" pitchFamily="34" charset="-120"/>
              </a:rPr>
              <a:t>Two line series by month</a:t>
            </a:r>
            <a:endParaRPr lang="en-US" sz="850" dirty="0"/>
          </a:p>
        </p:txBody>
      </p:sp>
      <p:sp>
        <p:nvSpPr>
          <p:cNvPr id="53" name="Shape 51"/>
          <p:cNvSpPr/>
          <p:nvPr/>
        </p:nvSpPr>
        <p:spPr>
          <a:xfrm>
            <a:off x="365760" y="4439412"/>
            <a:ext cx="8412480" cy="192024"/>
          </a:xfrm>
          <a:prstGeom prst="rect">
            <a:avLst/>
          </a:prstGeom>
          <a:solidFill>
            <a:srgbClr val="0D1A35"/>
          </a:solidFill>
          <a:ln w="3810">
            <a:solidFill>
              <a:srgbClr val="4A6080"/>
            </a:solidFill>
            <a:prstDash val="solid"/>
          </a:ln>
        </p:spPr>
      </p:sp>
      <p:sp>
        <p:nvSpPr>
          <p:cNvPr id="54" name="Text 52"/>
          <p:cNvSpPr/>
          <p:nvPr/>
        </p:nvSpPr>
        <p:spPr>
          <a:xfrm>
            <a:off x="457200" y="4457700"/>
            <a:ext cx="1280160" cy="164592"/>
          </a:xfrm>
          <a:prstGeom prst="rect">
            <a:avLst/>
          </a:prstGeom>
          <a:noFill/>
          <a:ln/>
        </p:spPr>
        <p:txBody>
          <a:bodyPr wrap="square" rtlCol="0" anchor="ctr"/>
          <a:lstStyle/>
          <a:p>
            <a:pPr indent="0" marL="0">
              <a:buNone/>
            </a:pPr>
            <a:r>
              <a:rPr lang="en-US" sz="850" b="1" dirty="0">
                <a:solidFill>
                  <a:srgbClr val="00C9A7"/>
                </a:solidFill>
                <a:latin typeface="Calibri" pitchFamily="34" charset="0"/>
                <a:ea typeface="Calibri" pitchFamily="34" charset="-122"/>
                <a:cs typeface="Calibri" pitchFamily="34" charset="-120"/>
              </a:rPr>
              <a:t>P4 — Weather</a:t>
            </a:r>
            <a:endParaRPr lang="en-US" sz="850" dirty="0"/>
          </a:p>
        </p:txBody>
      </p:sp>
      <p:sp>
        <p:nvSpPr>
          <p:cNvPr id="55" name="Text 53"/>
          <p:cNvSpPr/>
          <p:nvPr/>
        </p:nvSpPr>
        <p:spPr>
          <a:xfrm>
            <a:off x="1828800" y="4457700"/>
            <a:ext cx="2057400" cy="164592"/>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Matrix Visual</a:t>
            </a:r>
            <a:endParaRPr lang="en-US" sz="850" dirty="0"/>
          </a:p>
        </p:txBody>
      </p:sp>
      <p:sp>
        <p:nvSpPr>
          <p:cNvPr id="56" name="Text 54"/>
          <p:cNvSpPr/>
          <p:nvPr/>
        </p:nvSpPr>
        <p:spPr>
          <a:xfrm>
            <a:off x="3977640" y="4457700"/>
            <a:ext cx="2606040" cy="16459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Avg Delay by Airport × Weather</a:t>
            </a:r>
            <a:endParaRPr lang="en-US" sz="850" dirty="0"/>
          </a:p>
        </p:txBody>
      </p:sp>
      <p:sp>
        <p:nvSpPr>
          <p:cNvPr id="57" name="Text 55"/>
          <p:cNvSpPr/>
          <p:nvPr/>
        </p:nvSpPr>
        <p:spPr>
          <a:xfrm>
            <a:off x="6675120" y="4457700"/>
            <a:ext cx="2011680" cy="164592"/>
          </a:xfrm>
          <a:prstGeom prst="rect">
            <a:avLst/>
          </a:prstGeom>
          <a:noFill/>
          <a:ln/>
        </p:spPr>
        <p:txBody>
          <a:bodyPr wrap="square" rtlCol="0" anchor="ctr"/>
          <a:lstStyle/>
          <a:p>
            <a:pPr indent="0" marL="0">
              <a:buNone/>
            </a:pPr>
            <a:r>
              <a:rPr lang="en-US" sz="850" dirty="0">
                <a:solidFill>
                  <a:srgbClr val="8EADC7"/>
                </a:solidFill>
                <a:latin typeface="Calibri" pitchFamily="34" charset="0"/>
                <a:ea typeface="Calibri" pitchFamily="34" charset="-122"/>
                <a:cs typeface="Calibri" pitchFamily="34" charset="-120"/>
              </a:rPr>
              <a:t>Conditional format: white→dark red</a:t>
            </a:r>
            <a:endParaRPr lang="en-US" sz="850" dirty="0"/>
          </a:p>
        </p:txBody>
      </p:sp>
      <p:sp>
        <p:nvSpPr>
          <p:cNvPr id="58" name="Shape 56"/>
          <p:cNvSpPr/>
          <p:nvPr/>
        </p:nvSpPr>
        <p:spPr>
          <a:xfrm>
            <a:off x="365760" y="4645152"/>
            <a:ext cx="8412480" cy="192024"/>
          </a:xfrm>
          <a:prstGeom prst="rect">
            <a:avLst/>
          </a:prstGeom>
          <a:solidFill>
            <a:srgbClr val="0F2040"/>
          </a:solidFill>
          <a:ln w="3810">
            <a:solidFill>
              <a:srgbClr val="4A6080"/>
            </a:solidFill>
            <a:prstDash val="solid"/>
          </a:ln>
        </p:spPr>
      </p:sp>
      <p:sp>
        <p:nvSpPr>
          <p:cNvPr id="59" name="Text 57"/>
          <p:cNvSpPr/>
          <p:nvPr/>
        </p:nvSpPr>
        <p:spPr>
          <a:xfrm>
            <a:off x="457200" y="4663440"/>
            <a:ext cx="1280160" cy="164592"/>
          </a:xfrm>
          <a:prstGeom prst="rect">
            <a:avLst/>
          </a:prstGeom>
          <a:noFill/>
          <a:ln/>
        </p:spPr>
        <p:txBody>
          <a:bodyPr wrap="square" rtlCol="0" anchor="ctr"/>
          <a:lstStyle/>
          <a:p>
            <a:pPr indent="0" marL="0">
              <a:buNone/>
            </a:pPr>
            <a:r>
              <a:rPr lang="en-US" sz="850" b="1" dirty="0">
                <a:solidFill>
                  <a:srgbClr val="00C9A7"/>
                </a:solidFill>
                <a:latin typeface="Calibri" pitchFamily="34" charset="0"/>
                <a:ea typeface="Calibri" pitchFamily="34" charset="-122"/>
                <a:cs typeface="Calibri" pitchFamily="34" charset="-120"/>
              </a:rPr>
              <a:t>P4 — Weather</a:t>
            </a:r>
            <a:endParaRPr lang="en-US" sz="850" dirty="0"/>
          </a:p>
        </p:txBody>
      </p:sp>
      <p:sp>
        <p:nvSpPr>
          <p:cNvPr id="60" name="Text 58"/>
          <p:cNvSpPr/>
          <p:nvPr/>
        </p:nvSpPr>
        <p:spPr>
          <a:xfrm>
            <a:off x="1828800" y="4663440"/>
            <a:ext cx="2057400" cy="164592"/>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Treemap</a:t>
            </a:r>
            <a:endParaRPr lang="en-US" sz="850" dirty="0"/>
          </a:p>
        </p:txBody>
      </p:sp>
      <p:sp>
        <p:nvSpPr>
          <p:cNvPr id="61" name="Text 59"/>
          <p:cNvSpPr/>
          <p:nvPr/>
        </p:nvSpPr>
        <p:spPr>
          <a:xfrm>
            <a:off x="3977640" y="4663440"/>
            <a:ext cx="2606040" cy="164592"/>
          </a:xfrm>
          <a:prstGeom prst="rect">
            <a:avLst/>
          </a:prstGeom>
          <a:noFill/>
          <a:ln/>
        </p:spPr>
        <p:txBody>
          <a:bodyPr wrap="square" rtlCol="0" anchor="ctr"/>
          <a:lstStyle/>
          <a:p>
            <a:pPr indent="0" marL="0">
              <a:buNone/>
            </a:pPr>
            <a:r>
              <a:rPr lang="en-US" sz="850" dirty="0">
                <a:solidFill>
                  <a:srgbClr val="E8F4FD"/>
                </a:solidFill>
                <a:latin typeface="Calibri" pitchFamily="34" charset="0"/>
                <a:ea typeface="Calibri" pitchFamily="34" charset="-122"/>
                <a:cs typeface="Calibri" pitchFamily="34" charset="-120"/>
              </a:rPr>
              <a:t>Total Passengers by Region→Airport</a:t>
            </a:r>
            <a:endParaRPr lang="en-US" sz="850" dirty="0"/>
          </a:p>
        </p:txBody>
      </p:sp>
      <p:sp>
        <p:nvSpPr>
          <p:cNvPr id="62" name="Text 60"/>
          <p:cNvSpPr/>
          <p:nvPr/>
        </p:nvSpPr>
        <p:spPr>
          <a:xfrm>
            <a:off x="6675120" y="4663440"/>
            <a:ext cx="2011680" cy="164592"/>
          </a:xfrm>
          <a:prstGeom prst="rect">
            <a:avLst/>
          </a:prstGeom>
          <a:noFill/>
          <a:ln/>
        </p:spPr>
        <p:txBody>
          <a:bodyPr wrap="square" rtlCol="0" anchor="ctr"/>
          <a:lstStyle/>
          <a:p>
            <a:pPr indent="0" marL="0">
              <a:buNone/>
            </a:pPr>
            <a:r>
              <a:rPr lang="en-US" sz="850" dirty="0">
                <a:solidFill>
                  <a:srgbClr val="8EADC7"/>
                </a:solidFill>
                <a:latin typeface="Calibri" pitchFamily="34" charset="0"/>
                <a:ea typeface="Calibri" pitchFamily="34" charset="-122"/>
                <a:cs typeface="Calibri" pitchFamily="34" charset="-120"/>
              </a:rPr>
              <a:t>Drill: Region → Airport level</a:t>
            </a:r>
            <a:endParaRPr lang="en-US" sz="850" dirty="0"/>
          </a:p>
        </p:txBody>
      </p:sp>
      <p:sp>
        <p:nvSpPr>
          <p:cNvPr id="63" name="Shape 61"/>
          <p:cNvSpPr/>
          <p:nvPr/>
        </p:nvSpPr>
        <p:spPr>
          <a:xfrm>
            <a:off x="0" y="4892040"/>
            <a:ext cx="9144000" cy="251460"/>
          </a:xfrm>
          <a:prstGeom prst="rect">
            <a:avLst/>
          </a:prstGeom>
          <a:solidFill>
            <a:srgbClr val="051020"/>
          </a:solidFill>
          <a:ln w="12700">
            <a:solidFill>
              <a:srgbClr val="051020"/>
            </a:solidFill>
            <a:prstDash val="solid"/>
          </a:ln>
        </p:spPr>
      </p:sp>
      <p:sp>
        <p:nvSpPr>
          <p:cNvPr id="64" name="Text 62"/>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365760" y="164592"/>
            <a:ext cx="2011680" cy="292608"/>
          </a:xfrm>
          <a:prstGeom prst="rect">
            <a:avLst/>
          </a:prstGeom>
          <a:solidFill>
            <a:srgbClr val="004D40"/>
          </a:solidFill>
          <a:ln w="12700">
            <a:solidFill>
              <a:srgbClr val="00C9A7"/>
            </a:solidFill>
            <a:prstDash val="solid"/>
          </a:ln>
        </p:spPr>
      </p:sp>
      <p:sp>
        <p:nvSpPr>
          <p:cNvPr id="4" name="Text 2"/>
          <p:cNvSpPr/>
          <p:nvPr/>
        </p:nvSpPr>
        <p:spPr>
          <a:xfrm>
            <a:off x="365760" y="164592"/>
            <a:ext cx="2011680" cy="292608"/>
          </a:xfrm>
          <a:prstGeom prst="rect">
            <a:avLst/>
          </a:prstGeom>
          <a:noFill/>
          <a:ln/>
        </p:spPr>
        <p:txBody>
          <a:bodyPr wrap="square" rtlCol="0" anchor="ctr"/>
          <a:lstStyle/>
          <a:p>
            <a:pPr algn="ctr" indent="0" marL="0">
              <a:buNone/>
            </a:pPr>
            <a:r>
              <a:rPr lang="en-US" sz="850" b="1" spc="150" kern="0" dirty="0">
                <a:solidFill>
                  <a:srgbClr val="00C9A7"/>
                </a:solidFill>
                <a:latin typeface="Calibri" pitchFamily="34" charset="0"/>
                <a:ea typeface="Calibri" pitchFamily="34" charset="-122"/>
                <a:cs typeface="Calibri" pitchFamily="34" charset="-120"/>
              </a:rPr>
              <a:t>12  ·  CONCLUSION</a:t>
            </a:r>
            <a:endParaRPr lang="en-US" sz="850" dirty="0"/>
          </a:p>
        </p:txBody>
      </p:sp>
      <p:sp>
        <p:nvSpPr>
          <p:cNvPr id="5" name="Text 3"/>
          <p:cNvSpPr/>
          <p:nvPr/>
        </p:nvSpPr>
        <p:spPr>
          <a:xfrm>
            <a:off x="365760" y="566928"/>
            <a:ext cx="8412480" cy="59436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6" name="Text 4"/>
          <p:cNvSpPr/>
          <p:nvPr/>
        </p:nvSpPr>
        <p:spPr>
          <a:xfrm>
            <a:off x="365760" y="1115568"/>
            <a:ext cx="8412480" cy="256032"/>
          </a:xfrm>
          <a:prstGeom prst="rect">
            <a:avLst/>
          </a:prstGeom>
          <a:noFill/>
          <a:ln/>
        </p:spPr>
        <p:txBody>
          <a:bodyPr wrap="square" rtlCol="0" anchor="ctr"/>
          <a:lstStyle/>
          <a:p>
            <a:pPr indent="0" marL="0">
              <a:buNone/>
            </a:pPr>
            <a:r>
              <a:rPr lang="en-US" sz="1200" dirty="0">
                <a:solidFill>
                  <a:srgbClr val="8EADC7"/>
                </a:solidFill>
                <a:latin typeface="Calibri" pitchFamily="34" charset="0"/>
                <a:ea typeface="Calibri" pitchFamily="34" charset="-122"/>
                <a:cs typeface="Calibri" pitchFamily="34" charset="-120"/>
              </a:rPr>
              <a:t>Key takeaways from the 2023–2024 RunwayInsights Aviation Data Report</a:t>
            </a:r>
            <a:endParaRPr lang="en-US" sz="1200" dirty="0"/>
          </a:p>
        </p:txBody>
      </p:sp>
      <p:sp>
        <p:nvSpPr>
          <p:cNvPr id="7" name="Shape 5"/>
          <p:cNvSpPr/>
          <p:nvPr/>
        </p:nvSpPr>
        <p:spPr>
          <a:xfrm>
            <a:off x="365760" y="1417320"/>
            <a:ext cx="4160520" cy="1280160"/>
          </a:xfrm>
          <a:prstGeom prst="rect">
            <a:avLst/>
          </a:prstGeom>
          <a:solidFill>
            <a:srgbClr val="0F2040"/>
          </a:solidFill>
          <a:ln w="6350">
            <a:solidFill>
              <a:srgbClr val="4A6080"/>
            </a:solidFill>
            <a:prstDash val="solid"/>
          </a:ln>
        </p:spPr>
      </p:sp>
      <p:sp>
        <p:nvSpPr>
          <p:cNvPr id="8" name="Shape 6"/>
          <p:cNvSpPr/>
          <p:nvPr/>
        </p:nvSpPr>
        <p:spPr>
          <a:xfrm>
            <a:off x="365760" y="1417320"/>
            <a:ext cx="54864" cy="1280160"/>
          </a:xfrm>
          <a:prstGeom prst="rect">
            <a:avLst/>
          </a:prstGeom>
          <a:solidFill>
            <a:srgbClr val="00C9A7"/>
          </a:solidFill>
          <a:ln w="12700">
            <a:solidFill>
              <a:srgbClr val="00C9A7"/>
            </a:solidFill>
            <a:prstDash val="solid"/>
          </a:ln>
        </p:spPr>
      </p:sp>
      <p:sp>
        <p:nvSpPr>
          <p:cNvPr id="9" name="Text 7"/>
          <p:cNvSpPr/>
          <p:nvPr/>
        </p:nvSpPr>
        <p:spPr>
          <a:xfrm>
            <a:off x="512064" y="1508760"/>
            <a:ext cx="3886200" cy="256032"/>
          </a:xfrm>
          <a:prstGeom prst="rect">
            <a:avLst/>
          </a:prstGeom>
          <a:noFill/>
          <a:ln/>
        </p:spPr>
        <p:txBody>
          <a:bodyPr wrap="square"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Data Model &amp; Schema</a:t>
            </a:r>
            <a:endParaRPr lang="en-US" sz="1200" dirty="0"/>
          </a:p>
        </p:txBody>
      </p:sp>
      <p:sp>
        <p:nvSpPr>
          <p:cNvPr id="10" name="Text 8"/>
          <p:cNvSpPr/>
          <p:nvPr/>
        </p:nvSpPr>
        <p:spPr>
          <a:xfrm>
            <a:off x="512064" y="1801368"/>
            <a:ext cx="3886200" cy="822960"/>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A Star schema across 5 Excel tables powers the analytics layer. FactFlights at the centre links to DimDate, DimAirport, DimAirline, and DimPilot via clean foreign key relationships.</a:t>
            </a:r>
            <a:endParaRPr lang="en-US" sz="1000" dirty="0"/>
          </a:p>
        </p:txBody>
      </p:sp>
      <p:sp>
        <p:nvSpPr>
          <p:cNvPr id="11" name="Shape 9"/>
          <p:cNvSpPr/>
          <p:nvPr/>
        </p:nvSpPr>
        <p:spPr>
          <a:xfrm>
            <a:off x="4663440" y="1417320"/>
            <a:ext cx="4160520" cy="1280160"/>
          </a:xfrm>
          <a:prstGeom prst="rect">
            <a:avLst/>
          </a:prstGeom>
          <a:solidFill>
            <a:srgbClr val="0F2040"/>
          </a:solidFill>
          <a:ln w="6350">
            <a:solidFill>
              <a:srgbClr val="4A6080"/>
            </a:solidFill>
            <a:prstDash val="solid"/>
          </a:ln>
        </p:spPr>
      </p:sp>
      <p:sp>
        <p:nvSpPr>
          <p:cNvPr id="12" name="Shape 10"/>
          <p:cNvSpPr/>
          <p:nvPr/>
        </p:nvSpPr>
        <p:spPr>
          <a:xfrm>
            <a:off x="4663440" y="1417320"/>
            <a:ext cx="54864" cy="1280160"/>
          </a:xfrm>
          <a:prstGeom prst="rect">
            <a:avLst/>
          </a:prstGeom>
          <a:solidFill>
            <a:srgbClr val="2196F3"/>
          </a:solidFill>
          <a:ln w="12700">
            <a:solidFill>
              <a:srgbClr val="2196F3"/>
            </a:solidFill>
            <a:prstDash val="solid"/>
          </a:ln>
        </p:spPr>
      </p:sp>
      <p:sp>
        <p:nvSpPr>
          <p:cNvPr id="13" name="Text 11"/>
          <p:cNvSpPr/>
          <p:nvPr/>
        </p:nvSpPr>
        <p:spPr>
          <a:xfrm>
            <a:off x="4809744" y="1508760"/>
            <a:ext cx="3886200" cy="256032"/>
          </a:xfrm>
          <a:prstGeom prst="rect">
            <a:avLst/>
          </a:prstGeom>
          <a:noFill/>
          <a:ln/>
        </p:spPr>
        <p:txBody>
          <a:bodyPr wrap="square" rtlCol="0" anchor="ctr"/>
          <a:lstStyle/>
          <a:p>
            <a:pPr indent="0" marL="0">
              <a:buNone/>
            </a:pPr>
            <a:r>
              <a:rPr lang="en-US" sz="1200" b="1" dirty="0">
                <a:solidFill>
                  <a:srgbClr val="2196F3"/>
                </a:solidFill>
                <a:latin typeface="Calibri" pitchFamily="34" charset="0"/>
                <a:ea typeface="Calibri" pitchFamily="34" charset="-122"/>
                <a:cs typeface="Calibri" pitchFamily="34" charset="-120"/>
              </a:rPr>
              <a:t>DAX Measures &amp; KPIs</a:t>
            </a:r>
            <a:endParaRPr lang="en-US" sz="1200" dirty="0"/>
          </a:p>
        </p:txBody>
      </p:sp>
      <p:sp>
        <p:nvSpPr>
          <p:cNvPr id="14" name="Text 12"/>
          <p:cNvSpPr/>
          <p:nvPr/>
        </p:nvSpPr>
        <p:spPr>
          <a:xfrm>
            <a:off x="4809744" y="1801368"/>
            <a:ext cx="3886200" cy="822960"/>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21 DAX measures including OTP%, Delay Severity Index, Weather Impact Score, Passenger Load Factor, Proxy RASM, and Holiday Delay Premium deliver an aviation-specific KPI framework.</a:t>
            </a:r>
            <a:endParaRPr lang="en-US" sz="1000" dirty="0"/>
          </a:p>
        </p:txBody>
      </p:sp>
      <p:sp>
        <p:nvSpPr>
          <p:cNvPr id="15" name="Shape 13"/>
          <p:cNvSpPr/>
          <p:nvPr/>
        </p:nvSpPr>
        <p:spPr>
          <a:xfrm>
            <a:off x="365760" y="2834640"/>
            <a:ext cx="4160520" cy="1280160"/>
          </a:xfrm>
          <a:prstGeom prst="rect">
            <a:avLst/>
          </a:prstGeom>
          <a:solidFill>
            <a:srgbClr val="0F2040"/>
          </a:solidFill>
          <a:ln w="6350">
            <a:solidFill>
              <a:srgbClr val="4A6080"/>
            </a:solidFill>
            <a:prstDash val="solid"/>
          </a:ln>
        </p:spPr>
      </p:sp>
      <p:sp>
        <p:nvSpPr>
          <p:cNvPr id="16" name="Shape 14"/>
          <p:cNvSpPr/>
          <p:nvPr/>
        </p:nvSpPr>
        <p:spPr>
          <a:xfrm>
            <a:off x="365760" y="2834640"/>
            <a:ext cx="54864" cy="1280160"/>
          </a:xfrm>
          <a:prstGeom prst="rect">
            <a:avLst/>
          </a:prstGeom>
          <a:solidFill>
            <a:srgbClr val="FF6B6B"/>
          </a:solidFill>
          <a:ln w="12700">
            <a:solidFill>
              <a:srgbClr val="FF6B6B"/>
            </a:solidFill>
            <a:prstDash val="solid"/>
          </a:ln>
        </p:spPr>
      </p:sp>
      <p:sp>
        <p:nvSpPr>
          <p:cNvPr id="17" name="Text 15"/>
          <p:cNvSpPr/>
          <p:nvPr/>
        </p:nvSpPr>
        <p:spPr>
          <a:xfrm>
            <a:off x="512064" y="2926080"/>
            <a:ext cx="3886200" cy="256032"/>
          </a:xfrm>
          <a:prstGeom prst="rect">
            <a:avLst/>
          </a:prstGeom>
          <a:noFill/>
          <a:ln/>
        </p:spPr>
        <p:txBody>
          <a:bodyPr wrap="square"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Key Operational Findings</a:t>
            </a:r>
            <a:endParaRPr lang="en-US" sz="1200" dirty="0"/>
          </a:p>
        </p:txBody>
      </p:sp>
      <p:sp>
        <p:nvSpPr>
          <p:cNvPr id="18" name="Text 16"/>
          <p:cNvSpPr/>
          <p:nvPr/>
        </p:nvSpPr>
        <p:spPr>
          <a:xfrm>
            <a:off x="512064" y="3218688"/>
            <a:ext cx="3886200" cy="822960"/>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Monsoon weather drives 4× higher disruption scores. Experienced Captains show 2× better punctuality. Full-service carriers maintain higher load factors on wide-body routes.</a:t>
            </a:r>
            <a:endParaRPr lang="en-US" sz="1000" dirty="0"/>
          </a:p>
        </p:txBody>
      </p:sp>
      <p:sp>
        <p:nvSpPr>
          <p:cNvPr id="19" name="Shape 17"/>
          <p:cNvSpPr/>
          <p:nvPr/>
        </p:nvSpPr>
        <p:spPr>
          <a:xfrm>
            <a:off x="4663440" y="2834640"/>
            <a:ext cx="4160520" cy="1280160"/>
          </a:xfrm>
          <a:prstGeom prst="rect">
            <a:avLst/>
          </a:prstGeom>
          <a:solidFill>
            <a:srgbClr val="0F2040"/>
          </a:solidFill>
          <a:ln w="6350">
            <a:solidFill>
              <a:srgbClr val="4A6080"/>
            </a:solidFill>
            <a:prstDash val="solid"/>
          </a:ln>
        </p:spPr>
      </p:sp>
      <p:sp>
        <p:nvSpPr>
          <p:cNvPr id="20" name="Shape 18"/>
          <p:cNvSpPr/>
          <p:nvPr/>
        </p:nvSpPr>
        <p:spPr>
          <a:xfrm>
            <a:off x="4663440" y="2834640"/>
            <a:ext cx="54864" cy="1280160"/>
          </a:xfrm>
          <a:prstGeom prst="rect">
            <a:avLst/>
          </a:prstGeom>
          <a:solidFill>
            <a:srgbClr val="FFB300"/>
          </a:solidFill>
          <a:ln w="12700">
            <a:solidFill>
              <a:srgbClr val="FFB300"/>
            </a:solidFill>
            <a:prstDash val="solid"/>
          </a:ln>
        </p:spPr>
      </p:sp>
      <p:sp>
        <p:nvSpPr>
          <p:cNvPr id="21" name="Text 19"/>
          <p:cNvSpPr/>
          <p:nvPr/>
        </p:nvSpPr>
        <p:spPr>
          <a:xfrm>
            <a:off x="4809744" y="2926080"/>
            <a:ext cx="3886200" cy="256032"/>
          </a:xfrm>
          <a:prstGeom prst="rect">
            <a:avLst/>
          </a:prstGeom>
          <a:noFill/>
          <a:ln/>
        </p:spPr>
        <p:txBody>
          <a:bodyPr wrap="square" rtlCol="0" anchor="ctr"/>
          <a:lstStyle/>
          <a:p>
            <a:pPr indent="0" marL="0">
              <a:buNone/>
            </a:pPr>
            <a:r>
              <a:rPr lang="en-US" sz="1200" b="1" dirty="0">
                <a:solidFill>
                  <a:srgbClr val="FFB300"/>
                </a:solidFill>
                <a:latin typeface="Calibri" pitchFamily="34" charset="0"/>
                <a:ea typeface="Calibri" pitchFamily="34" charset="-122"/>
                <a:cs typeface="Calibri" pitchFamily="34" charset="-120"/>
              </a:rPr>
              <a:t>4-Page Power BI Dashboard</a:t>
            </a:r>
            <a:endParaRPr lang="en-US" sz="1200" dirty="0"/>
          </a:p>
        </p:txBody>
      </p:sp>
      <p:sp>
        <p:nvSpPr>
          <p:cNvPr id="22" name="Text 20"/>
          <p:cNvSpPr/>
          <p:nvPr/>
        </p:nvSpPr>
        <p:spPr>
          <a:xfrm>
            <a:off x="4809744" y="3218688"/>
            <a:ext cx="3886200" cy="822960"/>
          </a:xfrm>
          <a:prstGeom prst="rect">
            <a:avLst/>
          </a:prstGeom>
          <a:noFill/>
          <a:ln/>
        </p:spPr>
        <p:txBody>
          <a:bodyPr wrap="square" rtlCol="0" anchor="ctr"/>
          <a:lstStyle/>
          <a:p>
            <a:pPr indent="0" marL="0">
              <a:buNone/>
            </a:pPr>
            <a:r>
              <a:rPr lang="en-US" sz="1000" dirty="0">
                <a:solidFill>
                  <a:srgbClr val="E8F4FD"/>
                </a:solidFill>
                <a:latin typeface="Calibri" pitchFamily="34" charset="0"/>
                <a:ea typeface="Calibri" pitchFamily="34" charset="-122"/>
                <a:cs typeface="Calibri" pitchFamily="34" charset="-120"/>
              </a:rPr>
              <a:t>Four analytical views — Operations Overview, Delay Intelligence, Airline &amp; Pilot Performance, and Weather &amp; Route Impact — each with interactive slicers and drill-down capabilities.</a:t>
            </a:r>
            <a:endParaRPr lang="en-US" sz="1000" dirty="0"/>
          </a:p>
        </p:txBody>
      </p:sp>
      <p:sp>
        <p:nvSpPr>
          <p:cNvPr id="23" name="Shape 21"/>
          <p:cNvSpPr/>
          <p:nvPr/>
        </p:nvSpPr>
        <p:spPr>
          <a:xfrm>
            <a:off x="365760" y="4297680"/>
            <a:ext cx="2057400" cy="594360"/>
          </a:xfrm>
          <a:prstGeom prst="rect">
            <a:avLst/>
          </a:prstGeom>
          <a:solidFill>
            <a:srgbClr val="0D1A35"/>
          </a:solidFill>
          <a:ln w="6350">
            <a:solidFill>
              <a:srgbClr val="4A6080"/>
            </a:solidFill>
            <a:prstDash val="solid"/>
          </a:ln>
        </p:spPr>
      </p:sp>
      <p:sp>
        <p:nvSpPr>
          <p:cNvPr id="24" name="Text 22"/>
          <p:cNvSpPr/>
          <p:nvPr/>
        </p:nvSpPr>
        <p:spPr>
          <a:xfrm>
            <a:off x="365760" y="4315968"/>
            <a:ext cx="2057400" cy="320040"/>
          </a:xfrm>
          <a:prstGeom prst="rect">
            <a:avLst/>
          </a:prstGeom>
          <a:noFill/>
          <a:ln/>
        </p:spPr>
        <p:txBody>
          <a:bodyPr wrap="square" rtlCol="0" anchor="ctr"/>
          <a:lstStyle/>
          <a:p>
            <a:pPr algn="ctr" indent="0" marL="0">
              <a:buNone/>
            </a:pPr>
            <a:r>
              <a:rPr lang="en-US" sz="2200" b="1" dirty="0">
                <a:solidFill>
                  <a:srgbClr val="00C9A7"/>
                </a:solidFill>
                <a:latin typeface="Calibri" pitchFamily="34" charset="0"/>
                <a:ea typeface="Calibri" pitchFamily="34" charset="-122"/>
                <a:cs typeface="Calibri" pitchFamily="34" charset="-120"/>
              </a:rPr>
              <a:t>2,000</a:t>
            </a:r>
            <a:endParaRPr lang="en-US" sz="2200" dirty="0"/>
          </a:p>
        </p:txBody>
      </p:sp>
      <p:sp>
        <p:nvSpPr>
          <p:cNvPr id="25" name="Text 23"/>
          <p:cNvSpPr/>
          <p:nvPr/>
        </p:nvSpPr>
        <p:spPr>
          <a:xfrm>
            <a:off x="365760" y="4626864"/>
            <a:ext cx="2057400" cy="201168"/>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Total Flights Analysed</a:t>
            </a:r>
            <a:endParaRPr lang="en-US" sz="900" dirty="0"/>
          </a:p>
        </p:txBody>
      </p:sp>
      <p:sp>
        <p:nvSpPr>
          <p:cNvPr id="26" name="Shape 24"/>
          <p:cNvSpPr/>
          <p:nvPr/>
        </p:nvSpPr>
        <p:spPr>
          <a:xfrm>
            <a:off x="2514600" y="4297680"/>
            <a:ext cx="2057400" cy="594360"/>
          </a:xfrm>
          <a:prstGeom prst="rect">
            <a:avLst/>
          </a:prstGeom>
          <a:solidFill>
            <a:srgbClr val="0D1A35"/>
          </a:solidFill>
          <a:ln w="6350">
            <a:solidFill>
              <a:srgbClr val="4A6080"/>
            </a:solidFill>
            <a:prstDash val="solid"/>
          </a:ln>
        </p:spPr>
      </p:sp>
      <p:sp>
        <p:nvSpPr>
          <p:cNvPr id="27" name="Text 25"/>
          <p:cNvSpPr/>
          <p:nvPr/>
        </p:nvSpPr>
        <p:spPr>
          <a:xfrm>
            <a:off x="2514600" y="4315968"/>
            <a:ext cx="2057400" cy="320040"/>
          </a:xfrm>
          <a:prstGeom prst="rect">
            <a:avLst/>
          </a:prstGeom>
          <a:noFill/>
          <a:ln/>
        </p:spPr>
        <p:txBody>
          <a:bodyPr wrap="square" rtlCol="0" anchor="ctr"/>
          <a:lstStyle/>
          <a:p>
            <a:pPr algn="ctr" indent="0" marL="0">
              <a:buNone/>
            </a:pPr>
            <a:r>
              <a:rPr lang="en-US" sz="2200" b="1" dirty="0">
                <a:solidFill>
                  <a:srgbClr val="00C9A7"/>
                </a:solidFill>
                <a:latin typeface="Calibri" pitchFamily="34" charset="0"/>
                <a:ea typeface="Calibri" pitchFamily="34" charset="-122"/>
                <a:cs typeface="Calibri" pitchFamily="34" charset="-120"/>
              </a:rPr>
              <a:t>65.4%</a:t>
            </a:r>
            <a:endParaRPr lang="en-US" sz="2200" dirty="0"/>
          </a:p>
        </p:txBody>
      </p:sp>
      <p:sp>
        <p:nvSpPr>
          <p:cNvPr id="28" name="Text 26"/>
          <p:cNvSpPr/>
          <p:nvPr/>
        </p:nvSpPr>
        <p:spPr>
          <a:xfrm>
            <a:off x="2514600" y="4626864"/>
            <a:ext cx="2057400" cy="201168"/>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Baseline OTP Rate</a:t>
            </a:r>
            <a:endParaRPr lang="en-US" sz="900" dirty="0"/>
          </a:p>
        </p:txBody>
      </p:sp>
      <p:sp>
        <p:nvSpPr>
          <p:cNvPr id="29" name="Shape 27"/>
          <p:cNvSpPr/>
          <p:nvPr/>
        </p:nvSpPr>
        <p:spPr>
          <a:xfrm>
            <a:off x="4663440" y="4297680"/>
            <a:ext cx="2057400" cy="594360"/>
          </a:xfrm>
          <a:prstGeom prst="rect">
            <a:avLst/>
          </a:prstGeom>
          <a:solidFill>
            <a:srgbClr val="0D1A35"/>
          </a:solidFill>
          <a:ln w="6350">
            <a:solidFill>
              <a:srgbClr val="4A6080"/>
            </a:solidFill>
            <a:prstDash val="solid"/>
          </a:ln>
        </p:spPr>
      </p:sp>
      <p:sp>
        <p:nvSpPr>
          <p:cNvPr id="30" name="Text 28"/>
          <p:cNvSpPr/>
          <p:nvPr/>
        </p:nvSpPr>
        <p:spPr>
          <a:xfrm>
            <a:off x="4663440" y="4315968"/>
            <a:ext cx="2057400" cy="320040"/>
          </a:xfrm>
          <a:prstGeom prst="rect">
            <a:avLst/>
          </a:prstGeom>
          <a:noFill/>
          <a:ln/>
        </p:spPr>
        <p:txBody>
          <a:bodyPr wrap="square" rtlCol="0" anchor="ctr"/>
          <a:lstStyle/>
          <a:p>
            <a:pPr algn="ctr" indent="0" marL="0">
              <a:buNone/>
            </a:pPr>
            <a:r>
              <a:rPr lang="en-US" sz="2200" b="1" dirty="0">
                <a:solidFill>
                  <a:srgbClr val="00C9A7"/>
                </a:solidFill>
                <a:latin typeface="Calibri" pitchFamily="34" charset="0"/>
                <a:ea typeface="Calibri" pitchFamily="34" charset="-122"/>
                <a:cs typeface="Calibri" pitchFamily="34" charset="-120"/>
              </a:rPr>
              <a:t>4×</a:t>
            </a:r>
            <a:endParaRPr lang="en-US" sz="2200" dirty="0"/>
          </a:p>
        </p:txBody>
      </p:sp>
      <p:sp>
        <p:nvSpPr>
          <p:cNvPr id="31" name="Text 29"/>
          <p:cNvSpPr/>
          <p:nvPr/>
        </p:nvSpPr>
        <p:spPr>
          <a:xfrm>
            <a:off x="4663440" y="4626864"/>
            <a:ext cx="2057400" cy="201168"/>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Monsoon Impact Score</a:t>
            </a:r>
            <a:endParaRPr lang="en-US" sz="900" dirty="0"/>
          </a:p>
        </p:txBody>
      </p:sp>
      <p:sp>
        <p:nvSpPr>
          <p:cNvPr id="32" name="Shape 30"/>
          <p:cNvSpPr/>
          <p:nvPr/>
        </p:nvSpPr>
        <p:spPr>
          <a:xfrm>
            <a:off x="6812280" y="4297680"/>
            <a:ext cx="2057400" cy="594360"/>
          </a:xfrm>
          <a:prstGeom prst="rect">
            <a:avLst/>
          </a:prstGeom>
          <a:solidFill>
            <a:srgbClr val="0D1A35"/>
          </a:solidFill>
          <a:ln w="6350">
            <a:solidFill>
              <a:srgbClr val="4A6080"/>
            </a:solidFill>
            <a:prstDash val="solid"/>
          </a:ln>
        </p:spPr>
      </p:sp>
      <p:sp>
        <p:nvSpPr>
          <p:cNvPr id="33" name="Text 31"/>
          <p:cNvSpPr/>
          <p:nvPr/>
        </p:nvSpPr>
        <p:spPr>
          <a:xfrm>
            <a:off x="6812280" y="4315968"/>
            <a:ext cx="2057400" cy="320040"/>
          </a:xfrm>
          <a:prstGeom prst="rect">
            <a:avLst/>
          </a:prstGeom>
          <a:noFill/>
          <a:ln/>
        </p:spPr>
        <p:txBody>
          <a:bodyPr wrap="square" rtlCol="0" anchor="ctr"/>
          <a:lstStyle/>
          <a:p>
            <a:pPr algn="ctr" indent="0" marL="0">
              <a:buNone/>
            </a:pPr>
            <a:r>
              <a:rPr lang="en-US" sz="2200" b="1" dirty="0">
                <a:solidFill>
                  <a:srgbClr val="00C9A7"/>
                </a:solidFill>
                <a:latin typeface="Calibri" pitchFamily="34" charset="0"/>
                <a:ea typeface="Calibri" pitchFamily="34" charset="-122"/>
                <a:cs typeface="Calibri" pitchFamily="34" charset="-120"/>
              </a:rPr>
              <a:t>21</a:t>
            </a:r>
            <a:endParaRPr lang="en-US" sz="2200" dirty="0"/>
          </a:p>
        </p:txBody>
      </p:sp>
      <p:sp>
        <p:nvSpPr>
          <p:cNvPr id="34" name="Text 32"/>
          <p:cNvSpPr/>
          <p:nvPr/>
        </p:nvSpPr>
        <p:spPr>
          <a:xfrm>
            <a:off x="6812280" y="4626864"/>
            <a:ext cx="2057400" cy="201168"/>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DAX Measures Built</a:t>
            </a:r>
            <a:endParaRPr lang="en-US" sz="900" dirty="0"/>
          </a:p>
        </p:txBody>
      </p:sp>
      <p:sp>
        <p:nvSpPr>
          <p:cNvPr id="35" name="Shape 33"/>
          <p:cNvSpPr/>
          <p:nvPr/>
        </p:nvSpPr>
        <p:spPr>
          <a:xfrm>
            <a:off x="0" y="4892040"/>
            <a:ext cx="9144000" cy="251460"/>
          </a:xfrm>
          <a:prstGeom prst="rect">
            <a:avLst/>
          </a:prstGeom>
          <a:solidFill>
            <a:srgbClr val="051020"/>
          </a:solidFill>
          <a:ln w="12700">
            <a:solidFill>
              <a:srgbClr val="051020"/>
            </a:solidFill>
            <a:prstDash val="solid"/>
          </a:ln>
        </p:spPr>
      </p:sp>
      <p:sp>
        <p:nvSpPr>
          <p:cNvPr id="36" name="Text 34"/>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C9A7"/>
          </a:solidFill>
          <a:ln w="12700">
            <a:solidFill>
              <a:srgbClr val="00C9A7"/>
            </a:solidFill>
            <a:prstDash val="solid"/>
          </a:ln>
        </p:spPr>
      </p:sp>
      <p:sp>
        <p:nvSpPr>
          <p:cNvPr id="3" name="Shape 1"/>
          <p:cNvSpPr/>
          <p:nvPr/>
        </p:nvSpPr>
        <p:spPr>
          <a:xfrm>
            <a:off x="0" y="73152"/>
            <a:ext cx="164592" cy="4818888"/>
          </a:xfrm>
          <a:prstGeom prst="rect">
            <a:avLst/>
          </a:prstGeom>
          <a:solidFill>
            <a:srgbClr val="00C9A7"/>
          </a:solidFill>
          <a:ln w="12700">
            <a:solidFill>
              <a:srgbClr val="00C9A7"/>
            </a:solidFill>
            <a:prstDash val="solid"/>
          </a:ln>
        </p:spPr>
      </p:sp>
      <p:sp>
        <p:nvSpPr>
          <p:cNvPr id="4" name="Text 2"/>
          <p:cNvSpPr/>
          <p:nvPr/>
        </p:nvSpPr>
        <p:spPr>
          <a:xfrm>
            <a:off x="457200" y="1097280"/>
            <a:ext cx="8229600" cy="1005840"/>
          </a:xfrm>
          <a:prstGeom prst="rect">
            <a:avLst/>
          </a:prstGeom>
          <a:noFill/>
          <a:ln/>
        </p:spPr>
        <p:txBody>
          <a:bodyPr wrap="square" rtlCol="0" anchor="ctr"/>
          <a:lstStyle/>
          <a:p>
            <a:pPr algn="ctr" indent="0" marL="0">
              <a:buNone/>
            </a:pPr>
            <a:r>
              <a:rPr lang="en-US" sz="6200" b="1" dirty="0">
                <a:solidFill>
                  <a:srgbClr val="FFFFFF"/>
                </a:solidFill>
                <a:latin typeface="Calibri" pitchFamily="34" charset="0"/>
                <a:ea typeface="Calibri" pitchFamily="34" charset="-122"/>
                <a:cs typeface="Calibri" pitchFamily="34" charset="-120"/>
              </a:rPr>
              <a:t>THANK YOU</a:t>
            </a:r>
            <a:endParaRPr lang="en-US" sz="6200" dirty="0"/>
          </a:p>
        </p:txBody>
      </p:sp>
      <p:sp>
        <p:nvSpPr>
          <p:cNvPr id="5" name="Text 3"/>
          <p:cNvSpPr/>
          <p:nvPr/>
        </p:nvSpPr>
        <p:spPr>
          <a:xfrm>
            <a:off x="457200" y="2148840"/>
            <a:ext cx="8229600" cy="411480"/>
          </a:xfrm>
          <a:prstGeom prst="rect">
            <a:avLst/>
          </a:prstGeom>
          <a:noFill/>
          <a:ln/>
        </p:spPr>
        <p:txBody>
          <a:bodyPr wrap="square" rtlCol="0" anchor="ctr"/>
          <a:lstStyle/>
          <a:p>
            <a:pPr algn="ctr" indent="0" marL="0">
              <a:buNone/>
            </a:pPr>
            <a:r>
              <a:rPr lang="en-US" sz="1800" dirty="0">
                <a:solidFill>
                  <a:srgbClr val="00C9A7"/>
                </a:solidFill>
                <a:latin typeface="Calibri" pitchFamily="34" charset="0"/>
                <a:ea typeface="Calibri" pitchFamily="34" charset="-122"/>
                <a:cs typeface="Calibri" pitchFamily="34" charset="-120"/>
              </a:rPr>
              <a:t>RunwayInsights — Aviation Data Report</a:t>
            </a:r>
            <a:endParaRPr lang="en-US" sz="1800" dirty="0"/>
          </a:p>
        </p:txBody>
      </p:sp>
      <p:sp>
        <p:nvSpPr>
          <p:cNvPr id="6" name="Text 4"/>
          <p:cNvSpPr/>
          <p:nvPr/>
        </p:nvSpPr>
        <p:spPr>
          <a:xfrm>
            <a:off x="457200" y="2606040"/>
            <a:ext cx="8229600" cy="274320"/>
          </a:xfrm>
          <a:prstGeom prst="rect">
            <a:avLst/>
          </a:prstGeom>
          <a:noFill/>
          <a:ln/>
        </p:spPr>
        <p:txBody>
          <a:bodyPr wrap="square" rtlCol="0" anchor="ctr"/>
          <a:lstStyle/>
          <a:p>
            <a:pPr algn="ctr" indent="0" marL="0">
              <a:buNone/>
            </a:pPr>
            <a:r>
              <a:rPr lang="en-US" sz="1200" dirty="0">
                <a:solidFill>
                  <a:srgbClr val="8EADC7"/>
                </a:solidFill>
                <a:latin typeface="Calibri" pitchFamily="34" charset="0"/>
                <a:ea typeface="Calibri" pitchFamily="34" charset="-122"/>
                <a:cs typeface="Calibri" pitchFamily="34" charset="-120"/>
              </a:rPr>
              <a:t>Power BI Project  ·  India Airport Operations  ·  2023–2024</a:t>
            </a:r>
            <a:endParaRPr lang="en-US" sz="1200" dirty="0"/>
          </a:p>
        </p:txBody>
      </p:sp>
      <p:sp>
        <p:nvSpPr>
          <p:cNvPr id="7" name="Shape 5"/>
          <p:cNvSpPr/>
          <p:nvPr/>
        </p:nvSpPr>
        <p:spPr>
          <a:xfrm>
            <a:off x="457200" y="3474720"/>
            <a:ext cx="1298448" cy="777240"/>
          </a:xfrm>
          <a:prstGeom prst="rect">
            <a:avLst/>
          </a:prstGeom>
          <a:solidFill>
            <a:srgbClr val="0F2040"/>
          </a:solidFill>
          <a:ln w="10160">
            <a:solidFill>
              <a:srgbClr val="004D40"/>
            </a:solidFill>
            <a:prstDash val="solid"/>
          </a:ln>
        </p:spPr>
      </p:sp>
      <p:sp>
        <p:nvSpPr>
          <p:cNvPr id="8" name="Text 6"/>
          <p:cNvSpPr/>
          <p:nvPr/>
        </p:nvSpPr>
        <p:spPr>
          <a:xfrm>
            <a:off x="457200" y="3502152"/>
            <a:ext cx="1298448" cy="411480"/>
          </a:xfrm>
          <a:prstGeom prst="rect">
            <a:avLst/>
          </a:prstGeom>
          <a:noFill/>
          <a:ln/>
        </p:spPr>
        <p:txBody>
          <a:bodyPr wrap="square" rtlCol="0" anchor="ctr"/>
          <a:lstStyle/>
          <a:p>
            <a:pPr algn="ctr" indent="0" marL="0">
              <a:buNone/>
            </a:pPr>
            <a:r>
              <a:rPr lang="en-US" sz="2400" b="1" dirty="0">
                <a:solidFill>
                  <a:srgbClr val="00C9A7"/>
                </a:solidFill>
                <a:latin typeface="Calibri" pitchFamily="34" charset="0"/>
                <a:ea typeface="Calibri" pitchFamily="34" charset="-122"/>
                <a:cs typeface="Calibri" pitchFamily="34" charset="-120"/>
              </a:rPr>
              <a:t>2,000</a:t>
            </a:r>
            <a:endParaRPr lang="en-US" sz="2400" dirty="0"/>
          </a:p>
        </p:txBody>
      </p:sp>
      <p:sp>
        <p:nvSpPr>
          <p:cNvPr id="9" name="Text 7"/>
          <p:cNvSpPr/>
          <p:nvPr/>
        </p:nvSpPr>
        <p:spPr>
          <a:xfrm>
            <a:off x="457200" y="3913632"/>
            <a:ext cx="1298448" cy="201168"/>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Flights</a:t>
            </a:r>
            <a:endParaRPr lang="en-US" sz="900" dirty="0"/>
          </a:p>
        </p:txBody>
      </p:sp>
      <p:sp>
        <p:nvSpPr>
          <p:cNvPr id="10" name="Shape 8"/>
          <p:cNvSpPr/>
          <p:nvPr/>
        </p:nvSpPr>
        <p:spPr>
          <a:xfrm>
            <a:off x="1874520" y="3474720"/>
            <a:ext cx="1298448" cy="777240"/>
          </a:xfrm>
          <a:prstGeom prst="rect">
            <a:avLst/>
          </a:prstGeom>
          <a:solidFill>
            <a:srgbClr val="0F2040"/>
          </a:solidFill>
          <a:ln w="10160">
            <a:solidFill>
              <a:srgbClr val="004D40"/>
            </a:solidFill>
            <a:prstDash val="solid"/>
          </a:ln>
        </p:spPr>
      </p:sp>
      <p:sp>
        <p:nvSpPr>
          <p:cNvPr id="11" name="Text 9"/>
          <p:cNvSpPr/>
          <p:nvPr/>
        </p:nvSpPr>
        <p:spPr>
          <a:xfrm>
            <a:off x="1874520" y="3502152"/>
            <a:ext cx="1298448" cy="411480"/>
          </a:xfrm>
          <a:prstGeom prst="rect">
            <a:avLst/>
          </a:prstGeom>
          <a:noFill/>
          <a:ln/>
        </p:spPr>
        <p:txBody>
          <a:bodyPr wrap="square" rtlCol="0" anchor="ctr"/>
          <a:lstStyle/>
          <a:p>
            <a:pPr algn="ctr" indent="0" marL="0">
              <a:buNone/>
            </a:pPr>
            <a:r>
              <a:rPr lang="en-US" sz="2400" b="1" dirty="0">
                <a:solidFill>
                  <a:srgbClr val="00C9A7"/>
                </a:solidFill>
                <a:latin typeface="Calibri" pitchFamily="34" charset="0"/>
                <a:ea typeface="Calibri" pitchFamily="34" charset="-122"/>
                <a:cs typeface="Calibri" pitchFamily="34" charset="-120"/>
              </a:rPr>
              <a:t>10</a:t>
            </a:r>
            <a:endParaRPr lang="en-US" sz="2400" dirty="0"/>
          </a:p>
        </p:txBody>
      </p:sp>
      <p:sp>
        <p:nvSpPr>
          <p:cNvPr id="12" name="Text 10"/>
          <p:cNvSpPr/>
          <p:nvPr/>
        </p:nvSpPr>
        <p:spPr>
          <a:xfrm>
            <a:off x="1874520" y="3913632"/>
            <a:ext cx="1298448" cy="201168"/>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Airports</a:t>
            </a:r>
            <a:endParaRPr lang="en-US" sz="900" dirty="0"/>
          </a:p>
        </p:txBody>
      </p:sp>
      <p:sp>
        <p:nvSpPr>
          <p:cNvPr id="13" name="Shape 11"/>
          <p:cNvSpPr/>
          <p:nvPr/>
        </p:nvSpPr>
        <p:spPr>
          <a:xfrm>
            <a:off x="3291840" y="3474720"/>
            <a:ext cx="1298448" cy="777240"/>
          </a:xfrm>
          <a:prstGeom prst="rect">
            <a:avLst/>
          </a:prstGeom>
          <a:solidFill>
            <a:srgbClr val="0F2040"/>
          </a:solidFill>
          <a:ln w="10160">
            <a:solidFill>
              <a:srgbClr val="004D40"/>
            </a:solidFill>
            <a:prstDash val="solid"/>
          </a:ln>
        </p:spPr>
      </p:sp>
      <p:sp>
        <p:nvSpPr>
          <p:cNvPr id="14" name="Text 12"/>
          <p:cNvSpPr/>
          <p:nvPr/>
        </p:nvSpPr>
        <p:spPr>
          <a:xfrm>
            <a:off x="3291840" y="3502152"/>
            <a:ext cx="1298448" cy="411480"/>
          </a:xfrm>
          <a:prstGeom prst="rect">
            <a:avLst/>
          </a:prstGeom>
          <a:noFill/>
          <a:ln/>
        </p:spPr>
        <p:txBody>
          <a:bodyPr wrap="square" rtlCol="0" anchor="ctr"/>
          <a:lstStyle/>
          <a:p>
            <a:pPr algn="ctr" indent="0" marL="0">
              <a:buNone/>
            </a:pPr>
            <a:r>
              <a:rPr lang="en-US" sz="2400" b="1" dirty="0">
                <a:solidFill>
                  <a:srgbClr val="00C9A7"/>
                </a:solidFill>
                <a:latin typeface="Calibri" pitchFamily="34" charset="0"/>
                <a:ea typeface="Calibri" pitchFamily="34" charset="-122"/>
                <a:cs typeface="Calibri" pitchFamily="34" charset="-120"/>
              </a:rPr>
              <a:t>8</a:t>
            </a:r>
            <a:endParaRPr lang="en-US" sz="2400" dirty="0"/>
          </a:p>
        </p:txBody>
      </p:sp>
      <p:sp>
        <p:nvSpPr>
          <p:cNvPr id="15" name="Text 13"/>
          <p:cNvSpPr/>
          <p:nvPr/>
        </p:nvSpPr>
        <p:spPr>
          <a:xfrm>
            <a:off x="3291840" y="3913632"/>
            <a:ext cx="1298448" cy="201168"/>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Airlines</a:t>
            </a:r>
            <a:endParaRPr lang="en-US" sz="900" dirty="0"/>
          </a:p>
        </p:txBody>
      </p:sp>
      <p:sp>
        <p:nvSpPr>
          <p:cNvPr id="16" name="Shape 14"/>
          <p:cNvSpPr/>
          <p:nvPr/>
        </p:nvSpPr>
        <p:spPr>
          <a:xfrm>
            <a:off x="4709160" y="3474720"/>
            <a:ext cx="1298448" cy="777240"/>
          </a:xfrm>
          <a:prstGeom prst="rect">
            <a:avLst/>
          </a:prstGeom>
          <a:solidFill>
            <a:srgbClr val="0F2040"/>
          </a:solidFill>
          <a:ln w="10160">
            <a:solidFill>
              <a:srgbClr val="004D40"/>
            </a:solidFill>
            <a:prstDash val="solid"/>
          </a:ln>
        </p:spPr>
      </p:sp>
      <p:sp>
        <p:nvSpPr>
          <p:cNvPr id="17" name="Text 15"/>
          <p:cNvSpPr/>
          <p:nvPr/>
        </p:nvSpPr>
        <p:spPr>
          <a:xfrm>
            <a:off x="4709160" y="3502152"/>
            <a:ext cx="1298448" cy="411480"/>
          </a:xfrm>
          <a:prstGeom prst="rect">
            <a:avLst/>
          </a:prstGeom>
          <a:noFill/>
          <a:ln/>
        </p:spPr>
        <p:txBody>
          <a:bodyPr wrap="square" rtlCol="0" anchor="ctr"/>
          <a:lstStyle/>
          <a:p>
            <a:pPr algn="ctr" indent="0" marL="0">
              <a:buNone/>
            </a:pPr>
            <a:r>
              <a:rPr lang="en-US" sz="2400" b="1" dirty="0">
                <a:solidFill>
                  <a:srgbClr val="00C9A7"/>
                </a:solidFill>
                <a:latin typeface="Calibri" pitchFamily="34" charset="0"/>
                <a:ea typeface="Calibri" pitchFamily="34" charset="-122"/>
                <a:cs typeface="Calibri" pitchFamily="34" charset="-120"/>
              </a:rPr>
              <a:t>80</a:t>
            </a:r>
            <a:endParaRPr lang="en-US" sz="2400" dirty="0"/>
          </a:p>
        </p:txBody>
      </p:sp>
      <p:sp>
        <p:nvSpPr>
          <p:cNvPr id="18" name="Text 16"/>
          <p:cNvSpPr/>
          <p:nvPr/>
        </p:nvSpPr>
        <p:spPr>
          <a:xfrm>
            <a:off x="4709160" y="3913632"/>
            <a:ext cx="1298448" cy="201168"/>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Pilots</a:t>
            </a:r>
            <a:endParaRPr lang="en-US" sz="900" dirty="0"/>
          </a:p>
        </p:txBody>
      </p:sp>
      <p:sp>
        <p:nvSpPr>
          <p:cNvPr id="19" name="Shape 17"/>
          <p:cNvSpPr/>
          <p:nvPr/>
        </p:nvSpPr>
        <p:spPr>
          <a:xfrm>
            <a:off x="6126480" y="3474720"/>
            <a:ext cx="1298448" cy="777240"/>
          </a:xfrm>
          <a:prstGeom prst="rect">
            <a:avLst/>
          </a:prstGeom>
          <a:solidFill>
            <a:srgbClr val="0F2040"/>
          </a:solidFill>
          <a:ln w="10160">
            <a:solidFill>
              <a:srgbClr val="004D40"/>
            </a:solidFill>
            <a:prstDash val="solid"/>
          </a:ln>
        </p:spPr>
      </p:sp>
      <p:sp>
        <p:nvSpPr>
          <p:cNvPr id="20" name="Text 18"/>
          <p:cNvSpPr/>
          <p:nvPr/>
        </p:nvSpPr>
        <p:spPr>
          <a:xfrm>
            <a:off x="6126480" y="3502152"/>
            <a:ext cx="1298448" cy="411480"/>
          </a:xfrm>
          <a:prstGeom prst="rect">
            <a:avLst/>
          </a:prstGeom>
          <a:noFill/>
          <a:ln/>
        </p:spPr>
        <p:txBody>
          <a:bodyPr wrap="square" rtlCol="0" anchor="ctr"/>
          <a:lstStyle/>
          <a:p>
            <a:pPr algn="ctr" indent="0" marL="0">
              <a:buNone/>
            </a:pPr>
            <a:r>
              <a:rPr lang="en-US" sz="2400" b="1" dirty="0">
                <a:solidFill>
                  <a:srgbClr val="00C9A7"/>
                </a:solidFill>
                <a:latin typeface="Calibri" pitchFamily="34" charset="0"/>
                <a:ea typeface="Calibri" pitchFamily="34" charset="-122"/>
                <a:cs typeface="Calibri" pitchFamily="34" charset="-120"/>
              </a:rPr>
              <a:t>4</a:t>
            </a:r>
            <a:endParaRPr lang="en-US" sz="2400" dirty="0"/>
          </a:p>
        </p:txBody>
      </p:sp>
      <p:sp>
        <p:nvSpPr>
          <p:cNvPr id="21" name="Text 19"/>
          <p:cNvSpPr/>
          <p:nvPr/>
        </p:nvSpPr>
        <p:spPr>
          <a:xfrm>
            <a:off x="6126480" y="3913632"/>
            <a:ext cx="1298448" cy="201168"/>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Dashboard Pages</a:t>
            </a:r>
            <a:endParaRPr lang="en-US" sz="900" dirty="0"/>
          </a:p>
        </p:txBody>
      </p:sp>
      <p:sp>
        <p:nvSpPr>
          <p:cNvPr id="22" name="Shape 20"/>
          <p:cNvSpPr/>
          <p:nvPr/>
        </p:nvSpPr>
        <p:spPr>
          <a:xfrm>
            <a:off x="7543800" y="3474720"/>
            <a:ext cx="1298448" cy="777240"/>
          </a:xfrm>
          <a:prstGeom prst="rect">
            <a:avLst/>
          </a:prstGeom>
          <a:solidFill>
            <a:srgbClr val="0F2040"/>
          </a:solidFill>
          <a:ln w="10160">
            <a:solidFill>
              <a:srgbClr val="004D40"/>
            </a:solidFill>
            <a:prstDash val="solid"/>
          </a:ln>
        </p:spPr>
      </p:sp>
      <p:sp>
        <p:nvSpPr>
          <p:cNvPr id="23" name="Text 21"/>
          <p:cNvSpPr/>
          <p:nvPr/>
        </p:nvSpPr>
        <p:spPr>
          <a:xfrm>
            <a:off x="7543800" y="3502152"/>
            <a:ext cx="1298448" cy="411480"/>
          </a:xfrm>
          <a:prstGeom prst="rect">
            <a:avLst/>
          </a:prstGeom>
          <a:noFill/>
          <a:ln/>
        </p:spPr>
        <p:txBody>
          <a:bodyPr wrap="square" rtlCol="0" anchor="ctr"/>
          <a:lstStyle/>
          <a:p>
            <a:pPr algn="ctr" indent="0" marL="0">
              <a:buNone/>
            </a:pPr>
            <a:r>
              <a:rPr lang="en-US" sz="2400" b="1" dirty="0">
                <a:solidFill>
                  <a:srgbClr val="00C9A7"/>
                </a:solidFill>
                <a:latin typeface="Calibri" pitchFamily="34" charset="0"/>
                <a:ea typeface="Calibri" pitchFamily="34" charset="-122"/>
                <a:cs typeface="Calibri" pitchFamily="34" charset="-120"/>
              </a:rPr>
              <a:t>21</a:t>
            </a:r>
            <a:endParaRPr lang="en-US" sz="2400" dirty="0"/>
          </a:p>
        </p:txBody>
      </p:sp>
      <p:sp>
        <p:nvSpPr>
          <p:cNvPr id="24" name="Text 22"/>
          <p:cNvSpPr/>
          <p:nvPr/>
        </p:nvSpPr>
        <p:spPr>
          <a:xfrm>
            <a:off x="7543800" y="3913632"/>
            <a:ext cx="1298448" cy="201168"/>
          </a:xfrm>
          <a:prstGeom prst="rect">
            <a:avLst/>
          </a:prstGeom>
          <a:noFill/>
          <a:ln/>
        </p:spPr>
        <p:txBody>
          <a:bodyPr wrap="square" rtlCol="0" anchor="ctr"/>
          <a:lstStyle/>
          <a:p>
            <a:pPr algn="ctr" indent="0" marL="0">
              <a:buNone/>
            </a:pPr>
            <a:r>
              <a:rPr lang="en-US" sz="900" dirty="0">
                <a:solidFill>
                  <a:srgbClr val="8EADC7"/>
                </a:solidFill>
                <a:latin typeface="Calibri" pitchFamily="34" charset="0"/>
                <a:ea typeface="Calibri" pitchFamily="34" charset="-122"/>
                <a:cs typeface="Calibri" pitchFamily="34" charset="-120"/>
              </a:rPr>
              <a:t>DAX Measures</a:t>
            </a:r>
            <a:endParaRPr lang="en-US" sz="900" dirty="0"/>
          </a:p>
        </p:txBody>
      </p:sp>
      <p:sp>
        <p:nvSpPr>
          <p:cNvPr id="25" name="Shape 23"/>
          <p:cNvSpPr/>
          <p:nvPr/>
        </p:nvSpPr>
        <p:spPr>
          <a:xfrm>
            <a:off x="0" y="4892040"/>
            <a:ext cx="9144000" cy="251460"/>
          </a:xfrm>
          <a:prstGeom prst="rect">
            <a:avLst/>
          </a:prstGeom>
          <a:solidFill>
            <a:srgbClr val="051020"/>
          </a:solidFill>
          <a:ln w="12700">
            <a:solidFill>
              <a:srgbClr val="051020"/>
            </a:solidFill>
            <a:prstDash val="solid"/>
          </a:ln>
        </p:spPr>
      </p:sp>
      <p:sp>
        <p:nvSpPr>
          <p:cNvPr id="26" name="Text 24"/>
          <p:cNvSpPr/>
          <p:nvPr/>
        </p:nvSpPr>
        <p:spPr>
          <a:xfrm>
            <a:off x="274320" y="4901184"/>
            <a:ext cx="8595360" cy="228600"/>
          </a:xfrm>
          <a:prstGeom prst="rect">
            <a:avLst/>
          </a:prstGeom>
          <a:noFill/>
          <a:ln/>
        </p:spPr>
        <p:txBody>
          <a:bodyPr wrap="square" rtlCol="0" anchor="ctr"/>
          <a:lstStyle/>
          <a:p>
            <a:pPr algn="ctr" indent="0" marL="0">
              <a:buNone/>
            </a:pPr>
            <a:r>
              <a:rPr lang="en-US" sz="750" spc="200" kern="0" dirty="0">
                <a:solidFill>
                  <a:srgbClr val="8EADC7"/>
                </a:solidFill>
                <a:latin typeface="Calibri" pitchFamily="34" charset="0"/>
                <a:ea typeface="Calibri" pitchFamily="34" charset="-122"/>
                <a:cs typeface="Calibri" pitchFamily="34" charset="-120"/>
              </a:rPr>
              <a:t>RUNWAYINSIGHTS  ·  AVIATION DATA REPORT  ·  INDIA AIRPORTS  ·  2023–2024</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RunwayInsights — Aviation Data Report</dc:title>
  <dc:subject>PptxGenJS Presentation</dc:subject>
  <dc:creator>PptxGenJS</dc:creator>
  <cp:lastModifiedBy>PptxGenJS</cp:lastModifiedBy>
  <cp:revision>1</cp:revision>
  <dcterms:created xsi:type="dcterms:W3CDTF">2026-04-16T11:05:39Z</dcterms:created>
  <dcterms:modified xsi:type="dcterms:W3CDTF">2026-04-16T11:05:39Z</dcterms:modified>
</cp:coreProperties>
</file>